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5523163-1eea-9b37-c2c7-d8d40777dd4f}">
          <p14:sldIdLst>
            <p14:sldId id="256"/>
          </p14:sldIdLst>
        </p14:section>
        <p14:section name="Summary" id="{f8c5ece6-f239-5f7a-d64c-e17b5d2698a4}">
          <p14:sldIdLst>
            <p14:sldId id="257"/>
          </p14:sldIdLst>
        </p14:section>
        <p14:section name="Problem" id="{e04f1e38-a494-c005-3471-7b57f7860a7a}">
          <p14:sldIdLst>
            <p14:sldId id="258"/>
            <p14:sldId id="259"/>
          </p14:sldIdLst>
        </p14:section>
        <p14:section name="Insight" id="{e08c5cea-b494-a784-388d-d24436242a50}">
          <p14:sldIdLst>
            <p14:sldId id="260"/>
          </p14:sldIdLst>
        </p14:section>
        <p14:section name="Solution" id="{a16ea3a3-4e36-6dbb-d119-7d2aaeee3507}">
          <p14:sldIdLst>
            <p14:sldId id="261"/>
          </p14:sldIdLst>
        </p14:section>
        <p14:section name="Innovation" id="{a269819f-4daa-8327-9cf4-fba942869327}">
          <p14:sldIdLst>
            <p14:sldId id="262"/>
          </p14:sldIdLst>
        </p14:section>
        <p14:section name="Product" id="{6a62c62c-9761-c6d2-3ce3-457c02fc2835}">
          <p14:sldIdLst>
            <p14:sldId id="263"/>
            <p14:sldId id="264"/>
          </p14:sldIdLst>
        </p14:section>
        <p14:section name="Impact" id="{fb3f355d-2f6f-91fc-a37b-75cd8d3432cc}">
          <p14:sldIdLst>
            <p14:sldId id="265"/>
            <p14:sldId id="266"/>
          </p14:sldIdLst>
        </p14:section>
        <p14:section name="Path" id="{cd171825-49a9-361a-1741-5640d7eb2d10}">
          <p14:sldIdLst>
            <p14:sldId id="267"/>
            <p14:sldId id="268"/>
            <p14:sldId id="269"/>
          </p14:sldIdLst>
        </p14:section>
        <p14:section name="Team" id="{18391878-70fb-804a-6bc3-95d39c76e8fd}">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title sentence out loud, then pause. In February 2011 the Madras High Court shut around 700 dyeing units in Tirupur, on a contempt petition from the farmers whose river they had been discharging into. Exports fell about a thousand crore in a quarter. The cluster rebuilt and now recycles 130 million litres a day, which worked, and raised operating costs 25 to 30 percent. Nobody has costed the fuel. Job-loss estimates for 2011 range from 15,000 by the exporters association to 200,000 in press reporting, so do not quote a single figure - say tens of thousands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judge reads only one slide, this is it. Problem, insight, solution, innovation, impact and evidence, each in three lines, with the ask at the foot. Everything that follows is corroboration.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points. The downstream victims were farmers, and they are the ones who went to court. Compliance worked but it is expensive, and these are small units. And the reason the cost is not managed is that the decision and the consequence live in different organisations.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reframes the problem. Everyone assumes the water problem is recovery. Recovery is done. The marginal litre in a closed loop comes from the recycle train at 120 to 150 rupees, not the borewell at 30 to 60. So avoiding demand is worth far more than recovering waste.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pitch turns on. The arithmetic is exact, it is mass conservation, and the product computes it live. Cut water twenty percent at constant salt and evaporator energy moves zero point zero. Cut salt twenty percent and it falls twenty. A water dashboard cannot see this. One caveat we state openly: below a crossover the membrane floor takes over and salt reduction stops paying, and the engine reports which constraint binds.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another monitoring dashboard. We sit at the moment of decision. Two decisions, both human-gated. The system has no control authority at all, which is deliberate: a tool that can stop a line will never be allowed near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version of a novelty claim. Every component is existing industry and we name them. What is new is the coupling: putting the evaporator consequence inside the scheduling objective, and enforcing constraints as feasibility. The next slide shows what that coupling is worth, measured by ablating our own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left to right, then land hard on Option C. This is the credibility moment: we show the plan that would have given us the best headline, and we refuse it on camera. Then the traceability point: every number opens its own derivation.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 is one slide to leave with the jury, this is it. Same queue, three plans, one allocation. The intuitive answer, reusing rinse water, still breaches. The counter-intuitive one, buying low-salt chemistry, is the only one that complies. We did not design this result; the forecast module produced it when we judged the projection against a real allocation instead of a whole-site daily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per-shift numbers are modest and we present them that way deliberately. A modest figure that survives scrutiny is worth more to us than an impressive one we cannot defend. Note freshwater falls 8.8% while cost falls 28.6% and carbon 30.2%, because basin draw tracks salt while cost and carbon also pick up the rinse-water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us from a demo. We ablate our own architecture and publish the parts that do not earn their place, including a layer that contributes nothing at one site and two variants that lie upward. A jury that sees a team marking its own homework honestly will trust the rest of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Commercial honesty. The hardest objection is that an MSME will not pay for a modelled saving, so the answer is shadow mode: four weeks of recommending while nobody acts, then charge against a measured baseline. And the effluent plant is the channel because its incentive is already aligned.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kills the doubt that the deck is the whole project. It runs, it is tested, and it is built to be attacked on camera. Zero measured coefficients is deliberate and test-enforced: better to show a zero than imply data we do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the hardest fair objection: you have no data. Correct. But watch what happens when we feed the model a number CPCB measured at a real unit and compare its output to what operators independently report. Twelve thousand gives exactly twenty percent, the floor of the band. Eighteen thousand three hundred and forty, CPCB's own measured inlet, gives thirty point six, the ceiling. The band is reproduced end to end and nothing was tuned to do it. Then be the first to say the limit out loud: this is validation, not measurement, and the ask on slide two is the two readings that would change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team, then the weakness, then the hook. Naming the weakness before the jury does is the strongest thing we can do here: it tells them the rest of the numbers were assembled by people who look for their own errors. Then the memory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0E2127"/>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1554480"/>
            <a:ext cx="10789920" cy="320040"/>
          </a:xfrm>
          <a:prstGeom prst="rect">
            <a:avLst/>
          </a:prstGeom>
          <a:noFill/>
          <a:ln/>
        </p:spPr>
        <p:txBody>
          <a:bodyPr wrap="square" rtlCol="0"/>
          <a:lstStyle>
            <a:lvl1pPr indent="0" marL="0">
              <a:buNone/>
              <a:defRPr lang="en-US" sz="1300" b="1" spc="200" kern="0" dirty="0">
                <a:solidFill>
                  <a:srgbClr val="B98A2E"/>
                </a:solidFill>
              </a:defRPr>
            </a:lvl1pPr>
          </a:lstStyle>
          <a:p>
            <a:pPr indent="0" marL="0">
              <a:buNone/>
            </a:pPr>
            <a:endParaRPr lang="en-US" sz="1300" dirty="0"/>
          </a:p>
        </p:txBody>
      </p:sp>
      <p:sp>
        <p:nvSpPr>
          <p:cNvPr id="3" name="Text 0"/>
          <p:cNvSpPr/>
          <p:nvPr>
            <p:ph idx="101" type="title" hasCustomPrompt="1"/>
          </p:nvPr>
        </p:nvSpPr>
        <p:spPr>
          <a:xfrm>
            <a:off x="685800" y="1965960"/>
            <a:ext cx="10789920" cy="1737360"/>
          </a:xfrm>
          <a:prstGeom prst="rect">
            <a:avLst/>
          </a:prstGeom>
          <a:noFill/>
          <a:ln/>
        </p:spPr>
        <p:txBody>
          <a:bodyPr wrap="square" rtlCol="0"/>
          <a:lstStyle>
            <a:lvl1pPr algn="l" indent="0" marL="0">
              <a:buNone/>
              <a:defRPr lang="en-US" sz="4200" b="1" dirty="0">
                <a:solidFill>
                  <a:srgbClr val="FFFFFF"/>
                </a:solidFill>
              </a:defRPr>
            </a:lvl1pPr>
          </a:lstStyle>
          <a:p>
            <a:pPr algn="l" indent="0" marL="0">
              <a:buNone/>
            </a:pPr>
            <a:endParaRPr lang="en-US" sz="4200" dirty="0"/>
          </a:p>
        </p:txBody>
      </p:sp>
      <p:sp>
        <p:nvSpPr>
          <p:cNvPr id="4" name="Text 0"/>
          <p:cNvSpPr/>
          <p:nvPr>
            <p:ph idx="102" type="body" hasCustomPrompt="1"/>
          </p:nvPr>
        </p:nvSpPr>
        <p:spPr>
          <a:xfrm>
            <a:off x="685800" y="3840480"/>
            <a:ext cx="8412480" cy="1463040"/>
          </a:xfrm>
          <a:prstGeom prst="rect">
            <a:avLst/>
          </a:prstGeom>
          <a:noFill/>
          <a:ln/>
        </p:spPr>
        <p:txBody>
          <a:bodyPr wrap="square" rtlCol="0"/>
          <a:lstStyle>
            <a:lvl1pPr indent="0" marL="0">
              <a:buNone/>
              <a:defRPr lang="en-US" sz="1600" dirty="0">
                <a:solidFill>
                  <a:srgbClr val="B7CBD0"/>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384048"/>
            <a:ext cx="10789920" cy="274320"/>
          </a:xfrm>
          <a:prstGeom prst="rect">
            <a:avLst/>
          </a:prstGeom>
          <a:noFill/>
          <a:ln/>
        </p:spPr>
        <p:txBody>
          <a:bodyPr wrap="square" rtlCol="0"/>
          <a:lstStyle>
            <a:lvl1pPr indent="0" marL="0">
              <a:buNone/>
              <a:defRPr lang="en-US" sz="1100" b="1" spc="200" kern="0" dirty="0">
                <a:solidFill>
                  <a:srgbClr val="1A6B7C"/>
                </a:solidFill>
              </a:defRPr>
            </a:lvl1pPr>
          </a:lstStyle>
          <a:p>
            <a:pPr indent="0" marL="0">
              <a:buNone/>
            </a:pPr>
            <a:endParaRPr lang="en-US" sz="1100" dirty="0"/>
          </a:p>
        </p:txBody>
      </p:sp>
      <p:sp>
        <p:nvSpPr>
          <p:cNvPr id="3" name="Text 0"/>
          <p:cNvSpPr/>
          <p:nvPr>
            <p:ph idx="101" type="title" hasCustomPrompt="1"/>
          </p:nvPr>
        </p:nvSpPr>
        <p:spPr>
          <a:xfrm>
            <a:off x="685800" y="658368"/>
            <a:ext cx="10789920" cy="932688"/>
          </a:xfrm>
          <a:prstGeom prst="rect">
            <a:avLst/>
          </a:prstGeom>
          <a:noFill/>
          <a:ln/>
        </p:spPr>
        <p:txBody>
          <a:bodyPr wrap="square" rtlCol="0"/>
          <a:lstStyle>
            <a:lvl1pPr algn="l" indent="0" marL="0">
              <a:buNone/>
              <a:defRPr lang="en-US" sz="3100" b="1" dirty="0">
                <a:solidFill>
                  <a:srgbClr val="0E2127"/>
                </a:solidFill>
              </a:defRPr>
            </a:lvl1pPr>
          </a:lstStyle>
          <a:p>
            <a:pPr algn="l" indent="0" marL="0">
              <a:buNone/>
            </a:pPr>
            <a:endParaRPr lang="en-US" sz="3100" dirty="0"/>
          </a:p>
        </p:txBody>
      </p:sp>
      <p:sp>
        <p:nvSpPr>
          <p:cNvPr id="4" name="Text 0"/>
          <p:cNvSpPr/>
          <p:nvPr>
            <p:ph idx="102" type="body" hasCustomPrompt="1"/>
          </p:nvPr>
        </p:nvSpPr>
        <p:spPr>
          <a:xfrm>
            <a:off x="685800" y="1664208"/>
            <a:ext cx="10332720" cy="548640"/>
          </a:xfrm>
          <a:prstGeom prst="rect">
            <a:avLst/>
          </a:prstGeom>
          <a:noFill/>
          <a:ln/>
        </p:spPr>
        <p:txBody>
          <a:bodyPr wrap="square" rtlCol="0"/>
          <a:lstStyle>
            <a:lvl1pPr algn="l" indent="0" marL="0">
              <a:buNone/>
              <a:defRPr lang="en-US" sz="1450" dirty="0">
                <a:solidFill>
                  <a:srgbClr val="44555A"/>
                </a:solidFill>
              </a:defRPr>
            </a:lvl1pPr>
          </a:lstStyle>
          <a:p>
            <a:pPr algn="l" indent="0" marL="0">
              <a:buNone/>
            </a:pPr>
            <a:endParaRPr lang="en-US" sz="1450" dirty="0"/>
          </a:p>
        </p:txBody>
      </p:sp>
      <p:sp>
        <p:nvSpPr>
          <p:cNvPr id="5" name="Text 0"/>
          <p:cNvSpPr/>
          <p:nvPr/>
        </p:nvSpPr>
        <p:spPr>
          <a:xfrm>
            <a:off x="685800" y="6446520"/>
            <a:ext cx="9144000" cy="237744"/>
          </a:xfrm>
          <a:prstGeom prst="rect">
            <a:avLst/>
          </a:prstGeom>
          <a:noFill/>
          <a:ln/>
        </p:spPr>
        <p:txBody>
          <a:bodyPr wrap="square" rtlCol="0" anchor="ctr"/>
          <a:lstStyle/>
          <a:p>
            <a:pPr indent="0" marL="0">
              <a:buNone/>
            </a:pPr>
            <a:r>
              <a:rPr lang="en-US" sz="900" dirty="0">
                <a:solidFill>
                  <a:srgbClr val="9AAAAE"/>
                </a:solidFill>
              </a:rPr>
              <a:t>ChangeLoop  |  SANKALP 2026  |  Modelled prototype, no metered data</a:t>
            </a:r>
            <a:endParaRPr lang="en-US" sz="900" dirty="0"/>
          </a:p>
        </p:txBody>
      </p:sp>
      <p:sp>
        <p:nvSpPr>
          <p:cNvPr id="6" name="Text 1"/>
          <p:cNvSpPr/>
          <p:nvPr>
            <p:ph idx="104" type="chart" hasCustomPrompt="1"/>
          </p:nvPr>
        </p:nvSpPr>
        <p:spPr>
          <a:xfrm>
            <a:off x="685800" y="2240280"/>
            <a:ext cx="10789920" cy="3931920"/>
          </a:xfrm>
          <a:prstGeom prst="rect">
            <a:avLst/>
          </a:prstGeom>
          <a:noFill/>
          <a:ln/>
        </p:spPr>
        <p:txBody>
          <a:bodyPr wrap="square" rtlCol="0"/>
          <a:lstStyle>
            <a:lvl1pPr indent="0" marL="0">
              <a:buNone/>
              <a:defRPr lang="en-US" dirty="0">
                <a:solidFill>
                  <a:srgbClr val="0E2127"/>
                </a:solidFill>
              </a:defRPr>
            </a:lvl1pPr>
          </a:lstStyle>
          <a:p>
            <a:pPr indent="0" marL="0">
              <a:buNone/>
            </a:pPr>
            <a:endParaRPr lang="en-US" dirty="0"/>
          </a:p>
        </p:txBody>
      </p:sp>
      <p:sp>
        <p:nvSpPr>
          <p:cNvPr id="25" name="Slide Number Placeholder 0"/>
          <p:cNvSpPr>
            <a:spLocks noGrp="1"/>
          </p:cNvSpPr>
          <p:nvPr>
            <p:ph type="sldNum" sz="quarter" idx="4294967295"/>
          </p:nvPr>
        </p:nvSpPr>
        <p:spPr>
          <a:xfrm>
            <a:off x="114757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AAAAE"/>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rgbClr val="0E2127"/>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384048"/>
            <a:ext cx="10789920" cy="274320"/>
          </a:xfrm>
          <a:prstGeom prst="rect">
            <a:avLst/>
          </a:prstGeom>
          <a:noFill/>
          <a:ln/>
        </p:spPr>
        <p:txBody>
          <a:bodyPr wrap="square" rtlCol="0"/>
          <a:lstStyle>
            <a:lvl1pPr indent="0" marL="0">
              <a:buNone/>
              <a:defRPr lang="en-US" sz="1100" b="1" spc="200" kern="0" dirty="0">
                <a:solidFill>
                  <a:srgbClr val="B98A2E"/>
                </a:solidFill>
              </a:defRPr>
            </a:lvl1pPr>
          </a:lstStyle>
          <a:p>
            <a:pPr indent="0" marL="0">
              <a:buNone/>
            </a:pPr>
            <a:endParaRPr lang="en-US" sz="1100" dirty="0"/>
          </a:p>
        </p:txBody>
      </p:sp>
      <p:sp>
        <p:nvSpPr>
          <p:cNvPr id="3" name="Text 0"/>
          <p:cNvSpPr/>
          <p:nvPr>
            <p:ph idx="101" type="title" hasCustomPrompt="1"/>
          </p:nvPr>
        </p:nvSpPr>
        <p:spPr>
          <a:xfrm>
            <a:off x="685800" y="658368"/>
            <a:ext cx="10789920" cy="932688"/>
          </a:xfrm>
          <a:prstGeom prst="rect">
            <a:avLst/>
          </a:prstGeom>
          <a:noFill/>
          <a:ln/>
        </p:spPr>
        <p:txBody>
          <a:bodyPr wrap="square" rtlCol="0"/>
          <a:lstStyle>
            <a:lvl1pPr algn="l" indent="0" marL="0">
              <a:buNone/>
              <a:defRPr lang="en-US" sz="3100" b="1" dirty="0">
                <a:solidFill>
                  <a:srgbClr val="FFFFFF"/>
                </a:solidFill>
              </a:defRPr>
            </a:lvl1pPr>
          </a:lstStyle>
          <a:p>
            <a:pPr algn="l" indent="0" marL="0">
              <a:buNone/>
            </a:pPr>
            <a:endParaRPr lang="en-US" sz="3100" dirty="0"/>
          </a:p>
        </p:txBody>
      </p:sp>
      <p:sp>
        <p:nvSpPr>
          <p:cNvPr id="4" name="Text 0"/>
          <p:cNvSpPr/>
          <p:nvPr>
            <p:ph idx="102" type="body" hasCustomPrompt="1"/>
          </p:nvPr>
        </p:nvSpPr>
        <p:spPr>
          <a:xfrm>
            <a:off x="685800" y="1664208"/>
            <a:ext cx="10332720" cy="548640"/>
          </a:xfrm>
          <a:prstGeom prst="rect">
            <a:avLst/>
          </a:prstGeom>
          <a:noFill/>
          <a:ln/>
        </p:spPr>
        <p:txBody>
          <a:bodyPr wrap="square" rtlCol="0"/>
          <a:lstStyle>
            <a:lvl1pPr algn="l" indent="0" marL="0">
              <a:buNone/>
              <a:defRPr lang="en-US" sz="1450" dirty="0">
                <a:solidFill>
                  <a:srgbClr val="B7CBD0"/>
                </a:solidFill>
              </a:defRPr>
            </a:lvl1pPr>
          </a:lstStyle>
          <a:p>
            <a:pPr algn="l" indent="0" marL="0">
              <a:buNone/>
            </a:pPr>
            <a:endParaRPr lang="en-US" sz="1450" dirty="0"/>
          </a:p>
        </p:txBody>
      </p:sp>
      <p:sp>
        <p:nvSpPr>
          <p:cNvPr id="5" name="Text 0"/>
          <p:cNvSpPr/>
          <p:nvPr/>
        </p:nvSpPr>
        <p:spPr>
          <a:xfrm>
            <a:off x="685800" y="6446520"/>
            <a:ext cx="7315200" cy="237744"/>
          </a:xfrm>
          <a:prstGeom prst="rect">
            <a:avLst/>
          </a:prstGeom>
          <a:noFill/>
          <a:ln/>
        </p:spPr>
        <p:txBody>
          <a:bodyPr wrap="square" rtlCol="0" anchor="ctr"/>
          <a:lstStyle/>
          <a:p>
            <a:pPr indent="0" marL="0">
              <a:buNone/>
            </a:pPr>
            <a:r>
              <a:rPr lang="en-US" sz="900" dirty="0">
                <a:solidFill>
                  <a:srgbClr val="6E858B"/>
                </a:solidFill>
              </a:rPr>
              <a:t>ChangeLoop  |  SANKALP 2026</a:t>
            </a:r>
            <a:endParaRPr lang="en-US" sz="900" dirty="0"/>
          </a:p>
        </p:txBody>
      </p:sp>
      <p:sp>
        <p:nvSpPr>
          <p:cNvPr id="25" name="Slide Number Placeholder 0"/>
          <p:cNvSpPr>
            <a:spLocks noGrp="1"/>
          </p:cNvSpPr>
          <p:nvPr>
            <p:ph type="sldNum" sz="quarter" idx="4294967295"/>
          </p:nvPr>
        </p:nvSpPr>
        <p:spPr>
          <a:xfrm>
            <a:off x="114757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E858B"/>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AAAAE"/>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wordmark"/>
          <p:cNvSpPr txBox="1"/>
          <p:nvPr/>
        </p:nvSpPr>
        <p:spPr>
          <a:xfrm>
            <a:off x="685800" y="777240"/>
            <a:ext cx="5486400" cy="457200"/>
          </a:xfrm>
          <a:prstGeom prst="rect">
            <a:avLst/>
          </a:prstGeom>
          <a:noFill/>
          <a:ln/>
        </p:spPr>
        <p:txBody>
          <a:bodyPr wrap="square" lIns="0" tIns="0" rIns="0" bIns="0" rtlCol="0" anchor="ctr"/>
          <a:lstStyle/>
          <a:p>
            <a:pPr indent="0" marL="0">
              <a:buNone/>
            </a:pPr>
            <a:r>
              <a:rPr lang="en-US" sz="2000" b="1" spc="400" kern="0" dirty="0">
                <a:solidFill>
                  <a:srgbClr val="FFFFFF"/>
                </a:solidFill>
                <a:latin typeface="Cambria" pitchFamily="34" charset="0"/>
                <a:ea typeface="Cambria" pitchFamily="34" charset="-122"/>
                <a:cs typeface="Cambria" pitchFamily="34" charset="-120"/>
              </a:rPr>
              <a:t>CHANGELOOP</a:t>
            </a:r>
            <a:endParaRPr lang="en-US" sz="2000" dirty="0"/>
          </a:p>
        </p:txBody>
      </p:sp>
      <p:sp>
        <p:nvSpPr>
          <p:cNvPr id="3" name="Text 0"/>
          <p:cNvSpPr/>
          <p:nvPr>
            <p:ph idx="100" type="body" hasCustomPrompt="1"/>
          </p:nvPr>
        </p:nvSpPr>
        <p:spPr>
          <a:xfrm>
            <a:off x="685800" y="1554480"/>
            <a:ext cx="10789920" cy="320040"/>
          </a:xfrm>
          <a:prstGeom prst="rect">
            <a:avLst/>
          </a:prstGeom>
          <a:noFill/>
          <a:ln/>
        </p:spPr>
        <p:txBody>
          <a:bodyPr wrap="square" rtlCol="0"/>
          <a:lstStyle/>
          <a:p>
            <a:pPr indent="0" marL="0">
              <a:buNone/>
            </a:pPr>
            <a:r>
              <a:rPr lang="en-US" sz="1300" b="1" spc="200" kern="0" dirty="0">
                <a:solidFill>
                  <a:srgbClr val="B98A2E"/>
                </a:solidFill>
              </a:rPr>
              <a:t>SANKALP 2026  ·  STUDENTS TRACK  ·  CLIMATE AND WATER</a:t>
            </a:r>
            <a:endParaRPr lang="en-US" sz="1300" dirty="0"/>
          </a:p>
        </p:txBody>
      </p:sp>
      <p:sp>
        <p:nvSpPr>
          <p:cNvPr id="4" name="title-hook"/>
          <p:cNvSpPr txBox="1"/>
          <p:nvPr/>
        </p:nvSpPr>
        <p:spPr>
          <a:xfrm>
            <a:off x="685800" y="1975104"/>
            <a:ext cx="10789920" cy="2340864"/>
          </a:xfrm>
          <a:prstGeom prst="rect">
            <a:avLst/>
          </a:prstGeom>
          <a:noFill/>
          <a:ln/>
        </p:spPr>
        <p:txBody>
          <a:bodyPr wrap="square" lIns="0" tIns="0" rIns="0" bIns="0" rtlCol="0" anchor="t"/>
          <a:lstStyle/>
          <a:p>
            <a:pPr algn="l" indent="0" marL="0">
              <a:lnSpc>
                <a:spcPts val="4400"/>
              </a:lnSpc>
              <a:buNone/>
            </a:pPr>
            <a:r>
              <a:rPr lang="en-US" sz="3600" b="1" dirty="0">
                <a:solidFill>
                  <a:srgbClr val="FFFFFF"/>
                </a:solidFill>
                <a:latin typeface="Cambria" pitchFamily="34" charset="0"/>
                <a:ea typeface="Cambria" pitchFamily="34" charset="-122"/>
                <a:cs typeface="Cambria" pitchFamily="34" charset="-120"/>
              </a:rPr>
              <a:t>In a zero-discharge dyehouse, the evaporator's fuel bill is set by how much salt goes into the dye bath — not by how much water comes out.</a:t>
            </a:r>
            <a:endParaRPr lang="en-US" sz="3600" dirty="0"/>
          </a:p>
        </p:txBody>
      </p:sp>
      <p:sp>
        <p:nvSpPr>
          <p:cNvPr id="5" name="Text 0"/>
          <p:cNvSpPr/>
          <p:nvPr>
            <p:ph idx="102" type="body" hasCustomPrompt="1"/>
          </p:nvPr>
        </p:nvSpPr>
        <p:spPr>
          <a:xfrm>
            <a:off x="685800" y="3840480"/>
            <a:ext cx="8412480" cy="1463040"/>
          </a:xfrm>
          <a:prstGeom prst="rect">
            <a:avLst/>
          </a:prstGeom>
          <a:noFill/>
          <a:ln/>
        </p:spPr>
        <p:txBody>
          <a:bodyPr wrap="square" rtlCol="0" anchor="t"/>
          <a:lstStyle/>
          <a:p>
            <a:pPr indent="0" marL="0">
              <a:buNone/>
            </a:pPr>
            <a:r>
              <a:rPr lang="en-US" sz="1600" b="1" dirty="0">
                <a:solidFill>
                  <a:srgbClr val="FFFFFF"/>
                </a:solidFill>
              </a:rPr>
              <a:t>A scheduling choice this morning sets how much fuel the evaporator burns tonight. </a:t>
            </a:r>
            <a:pPr indent="0" marL="0">
              <a:buNone/>
            </a:pPr>
            <a:r>
              <a:rPr lang="en-US" sz="1600" dirty="0">
                <a:solidFill>
                  <a:srgbClr val="B7CBD0"/>
                </a:solidFill>
              </a:rPr>
              <a:t>India already recycles its industrial water under Zero Liquid Discharge. Nobody has costed the energy it takes to keep doing so — and that cost is decided upstream, by a planner who never sees the evaporator.</a:t>
            </a:r>
            <a:endParaRPr lang="en-US" sz="1600" dirty="0"/>
          </a:p>
        </p:txBody>
      </p:sp>
      <p:sp>
        <p:nvSpPr>
          <p:cNvPr id="6" name="stat-value-a"/>
          <p:cNvSpPr txBox="1"/>
          <p:nvPr/>
        </p:nvSpPr>
        <p:spPr>
          <a:xfrm>
            <a:off x="685800" y="5257800"/>
            <a:ext cx="3200400" cy="713232"/>
          </a:xfrm>
          <a:prstGeom prst="rect">
            <a:avLst/>
          </a:prstGeom>
          <a:noFill/>
          <a:ln/>
        </p:spPr>
        <p:txBody>
          <a:bodyPr wrap="square" lIns="0" tIns="0" rIns="0" bIns="0" rtlCol="0" anchor="b"/>
          <a:lstStyle/>
          <a:p>
            <a:pPr algn="l" indent="0" marL="0">
              <a:buNone/>
            </a:pPr>
            <a:r>
              <a:rPr lang="en-US" sz="3000" b="1" dirty="0">
                <a:solidFill>
                  <a:srgbClr val="6EC4D6"/>
                </a:solidFill>
                <a:latin typeface="Cambria" pitchFamily="34" charset="0"/>
                <a:ea typeface="Cambria" pitchFamily="34" charset="-122"/>
                <a:cs typeface="Cambria" pitchFamily="34" charset="-120"/>
              </a:rPr>
              <a:t>130 million L/day</a:t>
            </a:r>
            <a:endParaRPr lang="en-US" sz="3000" dirty="0"/>
          </a:p>
        </p:txBody>
      </p:sp>
      <p:sp>
        <p:nvSpPr>
          <p:cNvPr id="7" name="stat-label-a"/>
          <p:cNvSpPr txBox="1"/>
          <p:nvPr/>
        </p:nvSpPr>
        <p:spPr>
          <a:xfrm>
            <a:off x="685800" y="5989320"/>
            <a:ext cx="3200400" cy="274320"/>
          </a:xfrm>
          <a:prstGeom prst="rect">
            <a:avLst/>
          </a:prstGeom>
          <a:noFill/>
          <a:ln/>
        </p:spPr>
        <p:txBody>
          <a:bodyPr wrap="square" lIns="0" tIns="0" rIns="0" bIns="0" rtlCol="0" anchor="ctr"/>
          <a:lstStyle/>
          <a:p>
            <a:pPr indent="0" marL="0">
              <a:buNone/>
            </a:pPr>
            <a:r>
              <a:rPr lang="en-US" sz="1000" b="1" spc="140" kern="0" dirty="0">
                <a:solidFill>
                  <a:srgbClr val="8FA7AD"/>
                </a:solidFill>
              </a:rPr>
              <a:t>ALREADY RECYCLED IN ONE CLUSTER</a:t>
            </a:r>
            <a:endParaRPr lang="en-US" sz="1000" dirty="0"/>
          </a:p>
        </p:txBody>
      </p:sp>
      <p:sp>
        <p:nvSpPr>
          <p:cNvPr id="8" name="stat-value-b"/>
          <p:cNvSpPr txBox="1"/>
          <p:nvPr/>
        </p:nvSpPr>
        <p:spPr>
          <a:xfrm>
            <a:off x="4251960" y="5257800"/>
            <a:ext cx="3200400" cy="713232"/>
          </a:xfrm>
          <a:prstGeom prst="rect">
            <a:avLst/>
          </a:prstGeom>
          <a:noFill/>
          <a:ln/>
        </p:spPr>
        <p:txBody>
          <a:bodyPr wrap="square" lIns="0" tIns="0" rIns="0" bIns="0" rtlCol="0" anchor="b"/>
          <a:lstStyle/>
          <a:p>
            <a:pPr algn="l" indent="0" marL="0">
              <a:buNone/>
            </a:pPr>
            <a:r>
              <a:rPr lang="en-US" sz="3000" b="1" dirty="0">
                <a:solidFill>
                  <a:srgbClr val="E0B45A"/>
                </a:solidFill>
                <a:latin typeface="Cambria" pitchFamily="34" charset="0"/>
                <a:ea typeface="Cambria" pitchFamily="34" charset="-122"/>
                <a:cs typeface="Cambria" pitchFamily="34" charset="-120"/>
              </a:rPr>
              <a:t>+25 to 30%</a:t>
            </a:r>
            <a:endParaRPr lang="en-US" sz="3000" dirty="0"/>
          </a:p>
        </p:txBody>
      </p:sp>
      <p:sp>
        <p:nvSpPr>
          <p:cNvPr id="9" name="stat-label-b"/>
          <p:cNvSpPr txBox="1"/>
          <p:nvPr/>
        </p:nvSpPr>
        <p:spPr>
          <a:xfrm>
            <a:off x="4251960" y="5989320"/>
            <a:ext cx="3200400" cy="274320"/>
          </a:xfrm>
          <a:prstGeom prst="rect">
            <a:avLst/>
          </a:prstGeom>
          <a:noFill/>
          <a:ln/>
        </p:spPr>
        <p:txBody>
          <a:bodyPr wrap="square" lIns="0" tIns="0" rIns="0" bIns="0" rtlCol="0" anchor="ctr"/>
          <a:lstStyle/>
          <a:p>
            <a:pPr indent="0" marL="0">
              <a:buNone/>
            </a:pPr>
            <a:r>
              <a:rPr lang="en-US" sz="1000" b="1" spc="140" kern="0" dirty="0">
                <a:solidFill>
                  <a:srgbClr val="8FA7AD"/>
                </a:solidFill>
              </a:rPr>
              <a:t>WHAT THAT COMPLIANCE COSTS</a:t>
            </a:r>
            <a:endParaRPr lang="en-US" sz="1000" dirty="0"/>
          </a:p>
        </p:txBody>
      </p:sp>
      <p:sp>
        <p:nvSpPr>
          <p:cNvPr id="10" name="stat-value-c"/>
          <p:cNvSpPr txBox="1"/>
          <p:nvPr/>
        </p:nvSpPr>
        <p:spPr>
          <a:xfrm>
            <a:off x="7818120" y="5257800"/>
            <a:ext cx="3657600" cy="713232"/>
          </a:xfrm>
          <a:prstGeom prst="rect">
            <a:avLst/>
          </a:prstGeom>
          <a:noFill/>
          <a:ln/>
        </p:spPr>
        <p:txBody>
          <a:bodyPr wrap="square" lIns="0" tIns="0" rIns="0" bIns="0" rtlCol="0" anchor="b"/>
          <a:lstStyle/>
          <a:p>
            <a:pPr algn="l" indent="0" marL="0">
              <a:buNone/>
            </a:pPr>
            <a:r>
              <a:rPr lang="en-US" sz="3000" b="1" dirty="0">
                <a:solidFill>
                  <a:srgbClr val="EF8373"/>
                </a:solidFill>
                <a:latin typeface="Cambria" pitchFamily="34" charset="0"/>
                <a:ea typeface="Cambria" pitchFamily="34" charset="-122"/>
                <a:cs typeface="Cambria" pitchFamily="34" charset="-120"/>
              </a:rPr>
              <a:t>700 units</a:t>
            </a:r>
            <a:endParaRPr lang="en-US" sz="3000" dirty="0"/>
          </a:p>
        </p:txBody>
      </p:sp>
      <p:sp>
        <p:nvSpPr>
          <p:cNvPr id="11" name="stat-label-c"/>
          <p:cNvSpPr txBox="1"/>
          <p:nvPr/>
        </p:nvSpPr>
        <p:spPr>
          <a:xfrm>
            <a:off x="7818120" y="5989320"/>
            <a:ext cx="3657600" cy="274320"/>
          </a:xfrm>
          <a:prstGeom prst="rect">
            <a:avLst/>
          </a:prstGeom>
          <a:noFill/>
          <a:ln/>
        </p:spPr>
        <p:txBody>
          <a:bodyPr wrap="square" lIns="0" tIns="0" rIns="0" bIns="0" rtlCol="0" anchor="ctr"/>
          <a:lstStyle/>
          <a:p>
            <a:pPr indent="0" marL="0">
              <a:buNone/>
            </a:pPr>
            <a:r>
              <a:rPr lang="en-US" sz="1000" b="1" spc="140" kern="0" dirty="0">
                <a:solidFill>
                  <a:srgbClr val="8FA7AD"/>
                </a:solidFill>
              </a:rPr>
              <a:t>SHUT BY COURT ORDER IN 2011</a:t>
            </a:r>
            <a:endParaRPr lang="en-US" sz="1000" dirty="0"/>
          </a:p>
        </p:txBody>
      </p:sp>
      <p:sp>
        <p:nvSpPr>
          <p:cNvPr id="13" name="Text 0"/>
          <p:cNvSpPr/>
          <p:nvPr>
            <p:ph idx="101" type="title" hasCustomPrompt="1"/>
          </p:nvPr>
        </p:nvSpPr>
        <p:spPr>
          <a:xfrm>
            <a:off x="685800" y="1965960"/>
            <a:ext cx="10789920" cy="1737360"/>
          </a:xfrm>
          <a:prstGeom prst="rect">
            <a:avLst/>
          </a:prstGeom>
          <a:noFill/>
          <a:ln/>
        </p:spPr>
        <p:txBody>
          <a:bodyPr wrap="square" rtlCol="0" anchor="t"/>
          <a:lstStyle/>
          <a:p>
            <a:pPr algn="l" indent="0" marL="0">
              <a:buNone/>
            </a:pPr>
            <a:endParaRPr lang="en-US" sz="4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384048"/>
            <a:ext cx="10789920" cy="274320"/>
          </a:xfrm>
          <a:prstGeom prst="rect">
            <a:avLst/>
          </a:prstGeom>
          <a:noFill/>
          <a:ln/>
        </p:spPr>
        <p:txBody>
          <a:bodyPr wrap="square" rtlCol="0"/>
          <a:lstStyle/>
          <a:p>
            <a:pPr indent="0" marL="0">
              <a:buNone/>
            </a:pPr>
            <a:r>
              <a:rPr lang="en-US" sz="1100" b="1" spc="200" kern="0" dirty="0">
                <a:solidFill>
                  <a:srgbClr val="1A6B7C"/>
                </a:solidFill>
              </a:rPr>
              <a:t>ON ONE PAGE</a:t>
            </a:r>
            <a:endParaRPr lang="en-US" sz="1100" dirty="0"/>
          </a:p>
        </p:txBody>
      </p:sp>
      <p:sp>
        <p:nvSpPr>
          <p:cNvPr id="3" name="Text 0"/>
          <p:cNvSpPr/>
          <p:nvPr>
            <p:ph idx="101" type="title" hasCustomPrompt="1"/>
          </p:nvPr>
        </p:nvSpPr>
        <p:spPr>
          <a:xfrm>
            <a:off x="685800" y="658368"/>
            <a:ext cx="10789920" cy="932688"/>
          </a:xfrm>
          <a:prstGeom prst="rect">
            <a:avLst/>
          </a:prstGeom>
          <a:noFill/>
          <a:ln/>
        </p:spPr>
        <p:txBody>
          <a:bodyPr wrap="square" rtlCol="0" anchor="t"/>
          <a:lstStyle/>
          <a:p>
            <a:pPr algn="l" indent="0" marL="0">
              <a:buNone/>
            </a:pPr>
            <a:r>
              <a:rPr lang="en-US" sz="3100" b="1" dirty="0">
                <a:solidFill>
                  <a:srgbClr val="0E2127"/>
                </a:solidFill>
              </a:rPr>
              <a:t>ChangeLoop in six boxes</a:t>
            </a:r>
            <a:endParaRPr lang="en-US" sz="3100" dirty="0"/>
          </a:p>
        </p:txBody>
      </p:sp>
      <p:sp>
        <p:nvSpPr>
          <p:cNvPr id="4" name="Text 0"/>
          <p:cNvSpPr/>
          <p:nvPr>
            <p:ph idx="102" type="body" hasCustomPrompt="1"/>
          </p:nvPr>
        </p:nvSpPr>
        <p:spPr>
          <a:xfrm>
            <a:off x="685800" y="1664208"/>
            <a:ext cx="10332720" cy="548640"/>
          </a:xfrm>
          <a:prstGeom prst="rect">
            <a:avLst/>
          </a:prstGeom>
          <a:noFill/>
          <a:ln/>
        </p:spPr>
        <p:txBody>
          <a:bodyPr wrap="square" rtlCol="0" anchor="t"/>
          <a:lstStyle/>
          <a:p>
            <a:pPr algn="l" indent="0" marL="0">
              <a:buNone/>
            </a:pPr>
            <a:r>
              <a:rPr lang="en-US" sz="1450" dirty="0">
                <a:solidFill>
                  <a:srgbClr val="44555A"/>
                </a:solidFill>
              </a:rPr>
              <a:t>Resource decision intelligence for Indian textile clusters operating under a court-mandated Zero Liquid Discharge regime.</a:t>
            </a:r>
            <a:endParaRPr lang="en-US" sz="1450" dirty="0"/>
          </a:p>
        </p:txBody>
      </p:sp>
      <p:sp>
        <p:nvSpPr>
          <p:cNvPr id="5" name="card-op0"/>
          <p:cNvSpPr/>
          <p:nvPr/>
        </p:nvSpPr>
        <p:spPr>
          <a:xfrm>
            <a:off x="685800" y="2286000"/>
            <a:ext cx="3419856" cy="1755648"/>
          </a:xfrm>
          <a:prstGeom prst="roundRect">
            <a:avLst>
              <a:gd name="adj" fmla="val 2083"/>
            </a:avLst>
          </a:prstGeom>
          <a:solidFill>
            <a:schemeClr val="bg2"/>
          </a:solidFill>
          <a:ln w="9525">
            <a:solidFill>
              <a:srgbClr val="DCE7E9"/>
            </a:solidFill>
            <a:prstDash val="solid"/>
          </a:ln>
        </p:spPr>
      </p:sp>
      <p:sp>
        <p:nvSpPr>
          <p:cNvPr id="6" name="opk-0"/>
          <p:cNvSpPr txBox="1"/>
          <p:nvPr/>
        </p:nvSpPr>
        <p:spPr>
          <a:xfrm>
            <a:off x="886968" y="2432304"/>
            <a:ext cx="3017520" cy="219456"/>
          </a:xfrm>
          <a:prstGeom prst="rect">
            <a:avLst/>
          </a:prstGeom>
          <a:noFill/>
          <a:ln/>
        </p:spPr>
        <p:txBody>
          <a:bodyPr wrap="square" lIns="0" tIns="0" rIns="0" bIns="0" rtlCol="0" anchor="ctr"/>
          <a:lstStyle/>
          <a:p>
            <a:pPr indent="0" marL="0">
              <a:buNone/>
            </a:pPr>
            <a:r>
              <a:rPr lang="en-US" sz="950" b="1" spc="150" kern="0" dirty="0">
                <a:solidFill>
                  <a:srgbClr val="B23A2B"/>
                </a:solidFill>
              </a:rPr>
              <a:t>PROBLEM</a:t>
            </a:r>
            <a:endParaRPr lang="en-US" sz="950" dirty="0"/>
          </a:p>
        </p:txBody>
      </p:sp>
      <p:sp>
        <p:nvSpPr>
          <p:cNvPr id="7" name="oph-0"/>
          <p:cNvSpPr txBox="1"/>
          <p:nvPr/>
        </p:nvSpPr>
        <p:spPr>
          <a:xfrm>
            <a:off x="886968" y="2651760"/>
            <a:ext cx="3017520" cy="512064"/>
          </a:xfrm>
          <a:prstGeom prst="rect">
            <a:avLst/>
          </a:prstGeom>
          <a:noFill/>
          <a:ln/>
        </p:spPr>
        <p:txBody>
          <a:bodyPr wrap="square" lIns="0" tIns="0" rIns="0" bIns="0" rtlCol="0" anchor="t"/>
          <a:lstStyle/>
          <a:p>
            <a:pPr indent="0" marL="0">
              <a:buNone/>
            </a:pPr>
            <a:r>
              <a:rPr lang="en-US" sz="1350" b="1" dirty="0">
                <a:solidFill>
                  <a:srgbClr val="0E2127"/>
                </a:solidFill>
                <a:latin typeface="Cambria" pitchFamily="34" charset="0"/>
                <a:ea typeface="Cambria" pitchFamily="34" charset="-122"/>
                <a:cs typeface="Cambria" pitchFamily="34" charset="-120"/>
              </a:rPr>
              <a:t>Compliance is solved. Its energy bill is not.</a:t>
            </a:r>
            <a:endParaRPr lang="en-US" sz="1350" dirty="0"/>
          </a:p>
        </p:txBody>
      </p:sp>
      <p:sp>
        <p:nvSpPr>
          <p:cNvPr id="8" name="opb-0"/>
          <p:cNvSpPr txBox="1"/>
          <p:nvPr/>
        </p:nvSpPr>
        <p:spPr>
          <a:xfrm>
            <a:off x="886968" y="3191256"/>
            <a:ext cx="3017520" cy="768096"/>
          </a:xfrm>
          <a:prstGeom prst="rect">
            <a:avLst/>
          </a:prstGeom>
          <a:noFill/>
          <a:ln/>
        </p:spPr>
        <p:txBody>
          <a:bodyPr wrap="square" lIns="0" tIns="0" rIns="0" bIns="0" rtlCol="0" anchor="t"/>
          <a:lstStyle/>
          <a:p>
            <a:pPr indent="0" marL="0">
              <a:buNone/>
            </a:pPr>
            <a:r>
              <a:rPr lang="en-US" sz="1050" dirty="0">
                <a:solidFill>
                  <a:srgbClr val="44555A"/>
                </a:solidFill>
              </a:rPr>
              <a:t>ZLD recycles the cluster’s water and raised operating costs 25 to 30 percent. Pollution-board data puts the charge at ₹150–220 per kilolitre against ₹45 for river water — and ₹375–450 at under-used plants.</a:t>
            </a:r>
            <a:endParaRPr lang="en-US" sz="1050" dirty="0"/>
          </a:p>
        </p:txBody>
      </p:sp>
      <p:sp>
        <p:nvSpPr>
          <p:cNvPr id="9" name="card-op1"/>
          <p:cNvSpPr/>
          <p:nvPr/>
        </p:nvSpPr>
        <p:spPr>
          <a:xfrm>
            <a:off x="4370832" y="2286000"/>
            <a:ext cx="3419856" cy="1755648"/>
          </a:xfrm>
          <a:prstGeom prst="roundRect">
            <a:avLst>
              <a:gd name="adj" fmla="val 2083"/>
            </a:avLst>
          </a:prstGeom>
          <a:solidFill>
            <a:schemeClr val="bg2"/>
          </a:solidFill>
          <a:ln w="9525">
            <a:solidFill>
              <a:srgbClr val="DCE7E9"/>
            </a:solidFill>
            <a:prstDash val="solid"/>
          </a:ln>
        </p:spPr>
      </p:sp>
      <p:sp>
        <p:nvSpPr>
          <p:cNvPr id="10" name="opk-1"/>
          <p:cNvSpPr txBox="1"/>
          <p:nvPr/>
        </p:nvSpPr>
        <p:spPr>
          <a:xfrm>
            <a:off x="4572000" y="2432304"/>
            <a:ext cx="3017520" cy="219456"/>
          </a:xfrm>
          <a:prstGeom prst="rect">
            <a:avLst/>
          </a:prstGeom>
          <a:noFill/>
          <a:ln/>
        </p:spPr>
        <p:txBody>
          <a:bodyPr wrap="square" lIns="0" tIns="0" rIns="0" bIns="0" rtlCol="0" anchor="ctr"/>
          <a:lstStyle/>
          <a:p>
            <a:pPr indent="0" marL="0">
              <a:buNone/>
            </a:pPr>
            <a:r>
              <a:rPr lang="en-US" sz="950" b="1" spc="150" kern="0" dirty="0">
                <a:solidFill>
                  <a:srgbClr val="14525F"/>
                </a:solidFill>
              </a:rPr>
              <a:t>INSIGHT</a:t>
            </a:r>
            <a:endParaRPr lang="en-US" sz="950" dirty="0"/>
          </a:p>
        </p:txBody>
      </p:sp>
      <p:sp>
        <p:nvSpPr>
          <p:cNvPr id="11" name="oph-1"/>
          <p:cNvSpPr txBox="1"/>
          <p:nvPr/>
        </p:nvSpPr>
        <p:spPr>
          <a:xfrm>
            <a:off x="4572000" y="2651760"/>
            <a:ext cx="3017520" cy="512064"/>
          </a:xfrm>
          <a:prstGeom prst="rect">
            <a:avLst/>
          </a:prstGeom>
          <a:noFill/>
          <a:ln/>
        </p:spPr>
        <p:txBody>
          <a:bodyPr wrap="square" lIns="0" tIns="0" rIns="0" bIns="0" rtlCol="0" anchor="t"/>
          <a:lstStyle/>
          <a:p>
            <a:pPr indent="0" marL="0">
              <a:buNone/>
            </a:pPr>
            <a:r>
              <a:rPr lang="en-US" sz="1350" b="1" dirty="0">
                <a:solidFill>
                  <a:srgbClr val="0E2127"/>
                </a:solidFill>
                <a:latin typeface="Cambria" pitchFamily="34" charset="0"/>
                <a:ea typeface="Cambria" pitchFamily="34" charset="-122"/>
                <a:cs typeface="Cambria" pitchFamily="34" charset="-120"/>
              </a:rPr>
              <a:t>In a closed loop, salt is water.</a:t>
            </a:r>
            <a:endParaRPr lang="en-US" sz="1350" dirty="0"/>
          </a:p>
        </p:txBody>
      </p:sp>
      <p:sp>
        <p:nvSpPr>
          <p:cNvPr id="12" name="opb-1"/>
          <p:cNvSpPr txBox="1"/>
          <p:nvPr/>
        </p:nvSpPr>
        <p:spPr>
          <a:xfrm>
            <a:off x="4572000" y="3191256"/>
            <a:ext cx="3017520" cy="768096"/>
          </a:xfrm>
          <a:prstGeom prst="rect">
            <a:avLst/>
          </a:prstGeom>
          <a:noFill/>
          <a:ln/>
        </p:spPr>
        <p:txBody>
          <a:bodyPr wrap="square" lIns="0" tIns="0" rIns="0" bIns="0" rtlCol="0" anchor="t"/>
          <a:lstStyle/>
          <a:p>
            <a:pPr indent="0" marL="0">
              <a:buNone/>
            </a:pPr>
            <a:r>
              <a:rPr lang="en-US" sz="1050" dirty="0">
                <a:solidFill>
                  <a:srgbClr val="44555A"/>
                </a:solidFill>
              </a:rPr>
              <a:t>Reject volume equals salt mass over the RO ceiling, so evaporator steam tracks salt, not water. Cut water 20 percent at constant salt and the energy moves 0.0 percent.</a:t>
            </a:r>
            <a:endParaRPr lang="en-US" sz="1050" dirty="0"/>
          </a:p>
        </p:txBody>
      </p:sp>
      <p:sp>
        <p:nvSpPr>
          <p:cNvPr id="13" name="card-op2"/>
          <p:cNvSpPr/>
          <p:nvPr/>
        </p:nvSpPr>
        <p:spPr>
          <a:xfrm>
            <a:off x="8055864" y="2286000"/>
            <a:ext cx="3419856" cy="1755648"/>
          </a:xfrm>
          <a:prstGeom prst="roundRect">
            <a:avLst>
              <a:gd name="adj" fmla="val 2083"/>
            </a:avLst>
          </a:prstGeom>
          <a:solidFill>
            <a:schemeClr val="bg2"/>
          </a:solidFill>
          <a:ln w="9525">
            <a:solidFill>
              <a:srgbClr val="DCE7E9"/>
            </a:solidFill>
            <a:prstDash val="solid"/>
          </a:ln>
        </p:spPr>
      </p:sp>
      <p:sp>
        <p:nvSpPr>
          <p:cNvPr id="14" name="opk-2"/>
          <p:cNvSpPr txBox="1"/>
          <p:nvPr/>
        </p:nvSpPr>
        <p:spPr>
          <a:xfrm>
            <a:off x="8257032" y="2432304"/>
            <a:ext cx="3017520" cy="219456"/>
          </a:xfrm>
          <a:prstGeom prst="rect">
            <a:avLst/>
          </a:prstGeom>
          <a:noFill/>
          <a:ln/>
        </p:spPr>
        <p:txBody>
          <a:bodyPr wrap="square" lIns="0" tIns="0" rIns="0" bIns="0" rtlCol="0" anchor="ctr"/>
          <a:lstStyle/>
          <a:p>
            <a:pPr indent="0" marL="0">
              <a:buNone/>
            </a:pPr>
            <a:r>
              <a:rPr lang="en-US" sz="950" b="1" spc="150" kern="0" dirty="0">
                <a:solidFill>
                  <a:srgbClr val="14525F"/>
                </a:solidFill>
              </a:rPr>
              <a:t>SOLUTION</a:t>
            </a:r>
            <a:endParaRPr lang="en-US" sz="950" dirty="0"/>
          </a:p>
        </p:txBody>
      </p:sp>
      <p:sp>
        <p:nvSpPr>
          <p:cNvPr id="15" name="oph-2"/>
          <p:cNvSpPr txBox="1"/>
          <p:nvPr/>
        </p:nvSpPr>
        <p:spPr>
          <a:xfrm>
            <a:off x="8257032" y="2651760"/>
            <a:ext cx="3017520" cy="512064"/>
          </a:xfrm>
          <a:prstGeom prst="rect">
            <a:avLst/>
          </a:prstGeom>
          <a:noFill/>
          <a:ln/>
        </p:spPr>
        <p:txBody>
          <a:bodyPr wrap="square" lIns="0" tIns="0" rIns="0" bIns="0" rtlCol="0" anchor="t"/>
          <a:lstStyle/>
          <a:p>
            <a:pPr indent="0" marL="0">
              <a:buNone/>
            </a:pPr>
            <a:r>
              <a:rPr lang="en-US" sz="1350" b="1" dirty="0">
                <a:solidFill>
                  <a:srgbClr val="0E2127"/>
                </a:solidFill>
                <a:latin typeface="Cambria" pitchFamily="34" charset="0"/>
                <a:ea typeface="Cambria" pitchFamily="34" charset="-122"/>
                <a:cs typeface="Cambria" pitchFamily="34" charset="-120"/>
              </a:rPr>
              <a:t>Price the evaporator into the schedule.</a:t>
            </a:r>
            <a:endParaRPr lang="en-US" sz="1350" dirty="0"/>
          </a:p>
        </p:txBody>
      </p:sp>
      <p:sp>
        <p:nvSpPr>
          <p:cNvPr id="16" name="opb-2"/>
          <p:cNvSpPr txBox="1"/>
          <p:nvPr/>
        </p:nvSpPr>
        <p:spPr>
          <a:xfrm>
            <a:off x="8257032" y="3191256"/>
            <a:ext cx="3017520" cy="768096"/>
          </a:xfrm>
          <a:prstGeom prst="rect">
            <a:avLst/>
          </a:prstGeom>
          <a:noFill/>
          <a:ln/>
        </p:spPr>
        <p:txBody>
          <a:bodyPr wrap="square" lIns="0" tIns="0" rIns="0" bIns="0" rtlCol="0" anchor="t"/>
          <a:lstStyle/>
          <a:p>
            <a:pPr indent="0" marL="0">
              <a:buNone/>
            </a:pPr>
            <a:r>
              <a:rPr lang="en-US" sz="1050" dirty="0">
                <a:solidFill>
                  <a:srgbClr val="44555A"/>
                </a:solidFill>
              </a:rPr>
              <a:t>Two human-gated decisions: which plan to run, and when wash-off is finished. 480 candidates scored on water, salt, steam, carbon, cost and ship dates at once.</a:t>
            </a:r>
            <a:endParaRPr lang="en-US" sz="1050" dirty="0"/>
          </a:p>
        </p:txBody>
      </p:sp>
      <p:sp>
        <p:nvSpPr>
          <p:cNvPr id="17" name="card-op3"/>
          <p:cNvSpPr/>
          <p:nvPr/>
        </p:nvSpPr>
        <p:spPr>
          <a:xfrm>
            <a:off x="685800" y="4279392"/>
            <a:ext cx="3419856" cy="1755648"/>
          </a:xfrm>
          <a:prstGeom prst="roundRect">
            <a:avLst>
              <a:gd name="adj" fmla="val 2083"/>
            </a:avLst>
          </a:prstGeom>
          <a:solidFill>
            <a:schemeClr val="bg2"/>
          </a:solidFill>
          <a:ln w="9525">
            <a:solidFill>
              <a:srgbClr val="DCE7E9"/>
            </a:solidFill>
            <a:prstDash val="solid"/>
          </a:ln>
        </p:spPr>
      </p:sp>
      <p:sp>
        <p:nvSpPr>
          <p:cNvPr id="18" name="opk-3"/>
          <p:cNvSpPr txBox="1"/>
          <p:nvPr/>
        </p:nvSpPr>
        <p:spPr>
          <a:xfrm>
            <a:off x="886968" y="4425696"/>
            <a:ext cx="3017520" cy="219456"/>
          </a:xfrm>
          <a:prstGeom prst="rect">
            <a:avLst/>
          </a:prstGeom>
          <a:noFill/>
          <a:ln/>
        </p:spPr>
        <p:txBody>
          <a:bodyPr wrap="square" lIns="0" tIns="0" rIns="0" bIns="0" rtlCol="0" anchor="ctr"/>
          <a:lstStyle/>
          <a:p>
            <a:pPr indent="0" marL="0">
              <a:buNone/>
            </a:pPr>
            <a:r>
              <a:rPr lang="en-US" sz="950" b="1" spc="150" kern="0" dirty="0">
                <a:solidFill>
                  <a:srgbClr val="B98A2E"/>
                </a:solidFill>
              </a:rPr>
              <a:t>INNOVATION</a:t>
            </a:r>
            <a:endParaRPr lang="en-US" sz="950" dirty="0"/>
          </a:p>
        </p:txBody>
      </p:sp>
      <p:sp>
        <p:nvSpPr>
          <p:cNvPr id="19" name="oph-3"/>
          <p:cNvSpPr txBox="1"/>
          <p:nvPr/>
        </p:nvSpPr>
        <p:spPr>
          <a:xfrm>
            <a:off x="886968" y="4645152"/>
            <a:ext cx="3017520" cy="512064"/>
          </a:xfrm>
          <a:prstGeom prst="rect">
            <a:avLst/>
          </a:prstGeom>
          <a:noFill/>
          <a:ln/>
        </p:spPr>
        <p:txBody>
          <a:bodyPr wrap="square" lIns="0" tIns="0" rIns="0" bIns="0" rtlCol="0" anchor="t"/>
          <a:lstStyle/>
          <a:p>
            <a:pPr indent="0" marL="0">
              <a:buNone/>
            </a:pPr>
            <a:r>
              <a:rPr lang="en-US" sz="1350" b="1" dirty="0">
                <a:solidFill>
                  <a:srgbClr val="0E2127"/>
                </a:solidFill>
                <a:latin typeface="Cambria" pitchFamily="34" charset="0"/>
                <a:ea typeface="Cambria" pitchFamily="34" charset="-122"/>
                <a:cs typeface="Cambria" pitchFamily="34" charset="-120"/>
              </a:rPr>
              <a:t>Two levers that pull apart.</a:t>
            </a:r>
            <a:endParaRPr lang="en-US" sz="1350" dirty="0"/>
          </a:p>
        </p:txBody>
      </p:sp>
      <p:sp>
        <p:nvSpPr>
          <p:cNvPr id="20" name="opb-3"/>
          <p:cNvSpPr txBox="1"/>
          <p:nvPr/>
        </p:nvSpPr>
        <p:spPr>
          <a:xfrm>
            <a:off x="886968" y="5184648"/>
            <a:ext cx="3017520" cy="768096"/>
          </a:xfrm>
          <a:prstGeom prst="rect">
            <a:avLst/>
          </a:prstGeom>
          <a:noFill/>
          <a:ln/>
        </p:spPr>
        <p:txBody>
          <a:bodyPr wrap="square" lIns="0" tIns="0" rIns="0" bIns="0" rtlCol="0" anchor="t"/>
          <a:lstStyle/>
          <a:p>
            <a:pPr indent="0" marL="0">
              <a:buNone/>
            </a:pPr>
            <a:r>
              <a:rPr lang="en-US" sz="1050" dirty="0">
                <a:solidFill>
                  <a:srgbClr val="44555A"/>
                </a:solidFill>
              </a:rPr>
              <a:t>Counter-current rinsing cuts water but not salt. Low-electrolyte chemistry cuts salt but not water. A water-only tool picks the wrong one with full confidence.</a:t>
            </a:r>
            <a:endParaRPr lang="en-US" sz="1050" dirty="0"/>
          </a:p>
        </p:txBody>
      </p:sp>
      <p:sp>
        <p:nvSpPr>
          <p:cNvPr id="21" name="card-op4"/>
          <p:cNvSpPr/>
          <p:nvPr/>
        </p:nvSpPr>
        <p:spPr>
          <a:xfrm>
            <a:off x="4370832" y="4279392"/>
            <a:ext cx="3419856" cy="1755648"/>
          </a:xfrm>
          <a:prstGeom prst="roundRect">
            <a:avLst>
              <a:gd name="adj" fmla="val 2083"/>
            </a:avLst>
          </a:prstGeom>
          <a:solidFill>
            <a:schemeClr val="bg2"/>
          </a:solidFill>
          <a:ln w="9525">
            <a:solidFill>
              <a:srgbClr val="DCE7E9"/>
            </a:solidFill>
            <a:prstDash val="solid"/>
          </a:ln>
        </p:spPr>
      </p:sp>
      <p:sp>
        <p:nvSpPr>
          <p:cNvPr id="22" name="opk-4"/>
          <p:cNvSpPr txBox="1"/>
          <p:nvPr/>
        </p:nvSpPr>
        <p:spPr>
          <a:xfrm>
            <a:off x="4572000" y="4425696"/>
            <a:ext cx="3017520" cy="219456"/>
          </a:xfrm>
          <a:prstGeom prst="rect">
            <a:avLst/>
          </a:prstGeom>
          <a:noFill/>
          <a:ln/>
        </p:spPr>
        <p:txBody>
          <a:bodyPr wrap="square" lIns="0" tIns="0" rIns="0" bIns="0" rtlCol="0" anchor="ctr"/>
          <a:lstStyle/>
          <a:p>
            <a:pPr indent="0" marL="0">
              <a:buNone/>
            </a:pPr>
            <a:r>
              <a:rPr lang="en-US" sz="950" b="1" spc="150" kern="0" dirty="0">
                <a:solidFill>
                  <a:srgbClr val="0D7A57"/>
                </a:solidFill>
              </a:rPr>
              <a:t>IMPACT</a:t>
            </a:r>
            <a:endParaRPr lang="en-US" sz="950" dirty="0"/>
          </a:p>
        </p:txBody>
      </p:sp>
      <p:sp>
        <p:nvSpPr>
          <p:cNvPr id="23" name="oph-4"/>
          <p:cNvSpPr txBox="1"/>
          <p:nvPr/>
        </p:nvSpPr>
        <p:spPr>
          <a:xfrm>
            <a:off x="4572000" y="4645152"/>
            <a:ext cx="3017520" cy="512064"/>
          </a:xfrm>
          <a:prstGeom prst="rect">
            <a:avLst/>
          </a:prstGeom>
          <a:noFill/>
          <a:ln/>
        </p:spPr>
        <p:txBody>
          <a:bodyPr wrap="square" lIns="0" tIns="0" rIns="0" bIns="0" rtlCol="0" anchor="t"/>
          <a:lstStyle/>
          <a:p>
            <a:pPr indent="0" marL="0">
              <a:buNone/>
            </a:pPr>
            <a:r>
              <a:rPr lang="en-US" sz="1350" b="1" dirty="0">
                <a:solidFill>
                  <a:srgbClr val="0E2127"/>
                </a:solidFill>
                <a:latin typeface="Cambria" pitchFamily="34" charset="0"/>
                <a:ea typeface="Cambria" pitchFamily="34" charset="-122"/>
                <a:cs typeface="Cambria" pitchFamily="34" charset="-120"/>
              </a:rPr>
              <a:t>The water lever moves the envelope by nothing.</a:t>
            </a:r>
            <a:endParaRPr lang="en-US" sz="1350" dirty="0"/>
          </a:p>
        </p:txBody>
      </p:sp>
      <p:sp>
        <p:nvSpPr>
          <p:cNvPr id="24" name="opb-4"/>
          <p:cNvSpPr txBox="1"/>
          <p:nvPr/>
        </p:nvSpPr>
        <p:spPr>
          <a:xfrm>
            <a:off x="4572000" y="5184648"/>
            <a:ext cx="3017520" cy="768096"/>
          </a:xfrm>
          <a:prstGeom prst="rect">
            <a:avLst/>
          </a:prstGeom>
          <a:noFill/>
          <a:ln/>
        </p:spPr>
        <p:txBody>
          <a:bodyPr wrap="square" lIns="0" tIns="0" rIns="0" bIns="0" rtlCol="0" anchor="t"/>
          <a:lstStyle/>
          <a:p>
            <a:pPr indent="0" marL="0">
              <a:buNone/>
            </a:pPr>
            <a:r>
              <a:rPr lang="en-US" sz="1050" dirty="0">
                <a:solidFill>
                  <a:srgbClr val="44555A"/>
                </a:solidFill>
              </a:rPr>
              <a:t>Doing nothing runs at 132.3 percent of a real machine-shift allowance. Counter-current rinsing runs at 132.3 percent too — identical. Only the salt lever gets inside, at 82.1 percent.</a:t>
            </a:r>
            <a:endParaRPr lang="en-US" sz="1050" dirty="0"/>
          </a:p>
        </p:txBody>
      </p:sp>
      <p:sp>
        <p:nvSpPr>
          <p:cNvPr id="25" name="card-op5"/>
          <p:cNvSpPr/>
          <p:nvPr/>
        </p:nvSpPr>
        <p:spPr>
          <a:xfrm>
            <a:off x="8055864" y="4279392"/>
            <a:ext cx="3419856" cy="1755648"/>
          </a:xfrm>
          <a:prstGeom prst="roundRect">
            <a:avLst>
              <a:gd name="adj" fmla="val 2083"/>
            </a:avLst>
          </a:prstGeom>
          <a:solidFill>
            <a:schemeClr val="bg2"/>
          </a:solidFill>
          <a:ln w="9525">
            <a:solidFill>
              <a:srgbClr val="DCE7E9"/>
            </a:solidFill>
            <a:prstDash val="solid"/>
          </a:ln>
        </p:spPr>
      </p:sp>
      <p:sp>
        <p:nvSpPr>
          <p:cNvPr id="26" name="opk-5"/>
          <p:cNvSpPr txBox="1"/>
          <p:nvPr/>
        </p:nvSpPr>
        <p:spPr>
          <a:xfrm>
            <a:off x="8257032" y="4425696"/>
            <a:ext cx="3017520" cy="219456"/>
          </a:xfrm>
          <a:prstGeom prst="rect">
            <a:avLst/>
          </a:prstGeom>
          <a:noFill/>
          <a:ln/>
        </p:spPr>
        <p:txBody>
          <a:bodyPr wrap="square" lIns="0" tIns="0" rIns="0" bIns="0" rtlCol="0" anchor="ctr"/>
          <a:lstStyle/>
          <a:p>
            <a:pPr indent="0" marL="0">
              <a:buNone/>
            </a:pPr>
            <a:r>
              <a:rPr lang="en-US" sz="950" b="1" spc="150" kern="0" dirty="0">
                <a:solidFill>
                  <a:srgbClr val="5B5470"/>
                </a:solidFill>
              </a:rPr>
              <a:t>EVIDENCE</a:t>
            </a:r>
            <a:endParaRPr lang="en-US" sz="950" dirty="0"/>
          </a:p>
        </p:txBody>
      </p:sp>
      <p:sp>
        <p:nvSpPr>
          <p:cNvPr id="27" name="oph-5"/>
          <p:cNvSpPr txBox="1"/>
          <p:nvPr/>
        </p:nvSpPr>
        <p:spPr>
          <a:xfrm>
            <a:off x="8257032" y="4645152"/>
            <a:ext cx="3017520" cy="512064"/>
          </a:xfrm>
          <a:prstGeom prst="rect">
            <a:avLst/>
          </a:prstGeom>
          <a:noFill/>
          <a:ln/>
        </p:spPr>
        <p:txBody>
          <a:bodyPr wrap="square" lIns="0" tIns="0" rIns="0" bIns="0" rtlCol="0" anchor="t"/>
          <a:lstStyle/>
          <a:p>
            <a:pPr indent="0" marL="0">
              <a:buNone/>
            </a:pPr>
            <a:r>
              <a:rPr lang="en-US" sz="1350" b="1" dirty="0">
                <a:solidFill>
                  <a:srgbClr val="0E2127"/>
                </a:solidFill>
                <a:latin typeface="Cambria" pitchFamily="34" charset="0"/>
                <a:ea typeface="Cambria" pitchFamily="34" charset="-122"/>
                <a:cs typeface="Cambria" pitchFamily="34" charset="-120"/>
              </a:rPr>
              <a:t>Checked against published plant data.</a:t>
            </a:r>
            <a:endParaRPr lang="en-US" sz="1350" dirty="0"/>
          </a:p>
        </p:txBody>
      </p:sp>
      <p:sp>
        <p:nvSpPr>
          <p:cNvPr id="28" name="opb-5"/>
          <p:cNvSpPr txBox="1"/>
          <p:nvPr/>
        </p:nvSpPr>
        <p:spPr>
          <a:xfrm>
            <a:off x="8257032" y="5184648"/>
            <a:ext cx="3017520" cy="768096"/>
          </a:xfrm>
          <a:prstGeom prst="rect">
            <a:avLst/>
          </a:prstGeom>
          <a:noFill/>
          <a:ln/>
        </p:spPr>
        <p:txBody>
          <a:bodyPr wrap="square" lIns="0" tIns="0" rIns="0" bIns="0" rtlCol="0" anchor="t"/>
          <a:lstStyle/>
          <a:p>
            <a:pPr indent="0" marL="0">
              <a:buNone/>
            </a:pPr>
            <a:r>
              <a:rPr lang="en-US" sz="1050" dirty="0">
                <a:solidFill>
                  <a:srgbClr val="44555A"/>
                </a:solidFill>
              </a:rPr>
              <a:t>Fed the 18,340 mg/L inlet CPCB measured at a Tirupur unit, the model predicts 30.6 percent reject — inside the 20–30 operators report. 21 of 25 coefficients sourced, zero measured.</a:t>
            </a:r>
            <a:endParaRPr lang="en-US" sz="1050" dirty="0"/>
          </a:p>
        </p:txBody>
      </p:sp>
      <p:sp>
        <p:nvSpPr>
          <p:cNvPr id="29" name="op-ask"/>
          <p:cNvSpPr txBox="1"/>
          <p:nvPr/>
        </p:nvSpPr>
        <p:spPr>
          <a:xfrm>
            <a:off x="685800" y="6071616"/>
            <a:ext cx="10789920" cy="402336"/>
          </a:xfrm>
          <a:prstGeom prst="rect">
            <a:avLst/>
          </a:prstGeom>
          <a:noFill/>
          <a:ln/>
        </p:spPr>
        <p:txBody>
          <a:bodyPr wrap="square" lIns="0" tIns="0" rIns="0" bIns="0" rtlCol="0" anchor="t"/>
          <a:lstStyle/>
          <a:p>
            <a:pPr indent="0" marL="0">
              <a:buNone/>
            </a:pPr>
            <a:r>
              <a:rPr lang="en-US" sz="1050" b="1" dirty="0">
                <a:solidFill>
                  <a:srgbClr val="B98A2E"/>
                </a:solidFill>
              </a:rPr>
              <a:t>The ask:  </a:t>
            </a:r>
            <a:pPr indent="0" marL="0">
              <a:buNone/>
            </a:pPr>
            <a:r>
              <a:rPr lang="en-US" sz="1050" dirty="0">
                <a:solidFill>
                  <a:srgbClr val="44555A"/>
                </a:solidFill>
              </a:rPr>
              <a:t>one dyeing unit or effluent plant willing to share two instrument readings — steam flow to the evaporator, and reject conductivity. Everything else is already sourced from CPCB, the CEA, TNERC and pollution-board data. Those two are all that separate a validated model from a measured one.</a:t>
            </a:r>
            <a:endParaRPr lang="en-US" sz="1050" dirty="0"/>
          </a:p>
        </p:txBody>
      </p:sp>
      <p:sp>
        <p:nvSpPr>
          <p:cNvPr id="31" name="Text 1"/>
          <p:cNvSpPr/>
          <p:nvPr>
            <p:ph idx="104" type="chart" hasCustomPrompt="1"/>
          </p:nvPr>
        </p:nvSpPr>
        <p:spPr>
          <a:xfrm>
            <a:off x="685800" y="2240280"/>
            <a:ext cx="10789920" cy="3931920"/>
          </a:xfrm>
          <a:prstGeom prst="rect">
            <a:avLst/>
          </a:prstGeom>
          <a:noFill/>
          <a:ln/>
        </p:spPr>
        <p:txBody>
          <a:bodyPr wrap="square" rtlCol="0"/>
          <a:lstStyle/>
          <a:p>
            <a:pPr indent="0" marL="0">
              <a:buNone/>
            </a:pPr>
            <a:endParaRPr lang="en-US" dirty="0"/>
          </a:p>
        </p:txBody>
      </p:sp>
      <p:sp>
        <p:nvSpPr>
          <p:cNvPr id="25" name="Slide Number Placeholder 0"/>
          <p:cNvSpPr>
            <a:spLocks noGrp="1"/>
          </p:cNvSpPr>
          <p:nvPr>
            <p:ph type="sldNum" sz="quarter" idx="4294967295"/>
          </p:nvPr>
        </p:nvSpPr>
        <p:spPr>
          <a:xfrm>
            <a:off x="114757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AAAAE"/>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384048"/>
            <a:ext cx="10789920" cy="274320"/>
          </a:xfrm>
          <a:prstGeom prst="rect">
            <a:avLst/>
          </a:prstGeom>
          <a:noFill/>
          <a:ln/>
        </p:spPr>
        <p:txBody>
          <a:bodyPr wrap="square" rtlCol="0"/>
          <a:lstStyle/>
          <a:p>
            <a:pPr indent="0" marL="0">
              <a:buNone/>
            </a:pPr>
            <a:r>
              <a:rPr lang="en-US" sz="1100" b="1" spc="200" kern="0" dirty="0">
                <a:solidFill>
                  <a:srgbClr val="1A6B7C"/>
                </a:solidFill>
              </a:rPr>
              <a:t>THE PROBLEM</a:t>
            </a:r>
            <a:endParaRPr lang="en-US" sz="1100" dirty="0"/>
          </a:p>
        </p:txBody>
      </p:sp>
      <p:sp>
        <p:nvSpPr>
          <p:cNvPr id="3" name="Text 0"/>
          <p:cNvSpPr/>
          <p:nvPr>
            <p:ph idx="101" type="title" hasCustomPrompt="1"/>
          </p:nvPr>
        </p:nvSpPr>
        <p:spPr>
          <a:xfrm>
            <a:off x="685800" y="658368"/>
            <a:ext cx="10789920" cy="932688"/>
          </a:xfrm>
          <a:prstGeom prst="rect">
            <a:avLst/>
          </a:prstGeom>
          <a:noFill/>
          <a:ln/>
        </p:spPr>
        <p:txBody>
          <a:bodyPr wrap="square" rtlCol="0" anchor="t"/>
          <a:lstStyle/>
          <a:p>
            <a:pPr algn="l" indent="0" marL="0">
              <a:buNone/>
            </a:pPr>
            <a:r>
              <a:rPr lang="en-US" sz="3100" b="1" dirty="0">
                <a:solidFill>
                  <a:srgbClr val="0E2127"/>
                </a:solidFill>
              </a:rPr>
              <a:t>A seasonal river and a bill nobody costed</a:t>
            </a:r>
            <a:endParaRPr lang="en-US" sz="3100" dirty="0"/>
          </a:p>
        </p:txBody>
      </p:sp>
      <p:sp>
        <p:nvSpPr>
          <p:cNvPr id="4" name="Text 0"/>
          <p:cNvSpPr/>
          <p:nvPr>
            <p:ph idx="102" type="body" hasCustomPrompt="1"/>
          </p:nvPr>
        </p:nvSpPr>
        <p:spPr>
          <a:xfrm>
            <a:off x="685800" y="1664208"/>
            <a:ext cx="10332720" cy="548640"/>
          </a:xfrm>
          <a:prstGeom prst="rect">
            <a:avLst/>
          </a:prstGeom>
          <a:noFill/>
          <a:ln/>
        </p:spPr>
        <p:txBody>
          <a:bodyPr wrap="square" rtlCol="0" anchor="t"/>
          <a:lstStyle/>
          <a:p>
            <a:pPr algn="l" indent="0" marL="0">
              <a:buNone/>
            </a:pPr>
            <a:r>
              <a:rPr lang="en-US" sz="1450" dirty="0">
                <a:solidFill>
                  <a:srgbClr val="44555A"/>
                </a:solidFill>
              </a:rPr>
              <a:t>The Noyyal has no dry-weather flow to dilute effluent, so discharge was ruled out entirely and Zero Liquid Discharge was imposed on the cluster.</a:t>
            </a:r>
            <a:endParaRPr lang="en-US" sz="1450" dirty="0"/>
          </a:p>
        </p:txBody>
      </p:sp>
      <p:sp>
        <p:nvSpPr>
          <p:cNvPr id="5" name="card-farmers"/>
          <p:cNvSpPr/>
          <p:nvPr/>
        </p:nvSpPr>
        <p:spPr>
          <a:xfrm>
            <a:off x="685800" y="2331720"/>
            <a:ext cx="3429000" cy="3246120"/>
          </a:xfrm>
          <a:prstGeom prst="roundRect">
            <a:avLst>
              <a:gd name="adj" fmla="val 1127"/>
            </a:avLst>
          </a:prstGeom>
          <a:solidFill>
            <a:schemeClr val="bg2"/>
          </a:solidFill>
          <a:ln w="9525">
            <a:solidFill>
              <a:srgbClr val="DCE7E9"/>
            </a:solidFill>
            <a:prstDash val="solid"/>
          </a:ln>
        </p:spPr>
      </p:sp>
      <p:sp>
        <p:nvSpPr>
          <p:cNvPr id="6" name="ct-farmers"/>
          <p:cNvSpPr txBox="1"/>
          <p:nvPr/>
        </p:nvSpPr>
        <p:spPr>
          <a:xfrm>
            <a:off x="941832" y="2606040"/>
            <a:ext cx="2916936" cy="713232"/>
          </a:xfrm>
          <a:prstGeom prst="rect">
            <a:avLst/>
          </a:prstGeom>
          <a:noFill/>
          <a:ln/>
        </p:spPr>
        <p:txBody>
          <a:bodyPr wrap="square" lIns="0" tIns="0" rIns="0" bIns="0" rtlCol="0" anchor="t"/>
          <a:lstStyle/>
          <a:p>
            <a:pPr indent="0" marL="0">
              <a:buNone/>
            </a:pPr>
            <a:r>
              <a:rPr lang="en-US" sz="1700" b="1" dirty="0">
                <a:solidFill>
                  <a:srgbClr val="0E2127"/>
                </a:solidFill>
                <a:latin typeface="Cambria" pitchFamily="34" charset="0"/>
                <a:ea typeface="Cambria" pitchFamily="34" charset="-122"/>
                <a:cs typeface="Cambria" pitchFamily="34" charset="-120"/>
              </a:rPr>
              <a:t>Farmers lost the water first</a:t>
            </a:r>
            <a:endParaRPr lang="en-US" sz="1700" dirty="0"/>
          </a:p>
        </p:txBody>
      </p:sp>
      <p:sp>
        <p:nvSpPr>
          <p:cNvPr id="7" name="cb-farmers"/>
          <p:cNvSpPr txBox="1"/>
          <p:nvPr/>
        </p:nvSpPr>
        <p:spPr>
          <a:xfrm>
            <a:off x="941832" y="3401568"/>
            <a:ext cx="2916936" cy="1920240"/>
          </a:xfrm>
          <a:prstGeom prst="rect">
            <a:avLst/>
          </a:prstGeom>
          <a:noFill/>
          <a:ln/>
        </p:spPr>
        <p:txBody>
          <a:bodyPr wrap="square" lIns="0" tIns="0" rIns="0" bIns="0" rtlCol="0" anchor="t"/>
          <a:lstStyle/>
          <a:p>
            <a:pPr indent="0" marL="0">
              <a:buNone/>
            </a:pPr>
            <a:r>
              <a:rPr lang="en-US" sz="1250" dirty="0">
                <a:solidFill>
                  <a:srgbClr val="44555A"/>
                </a:solidFill>
              </a:rPr>
              <a:t>The litigation was brought by the Noyyal River Ayacutdars Association — a farmers’ body. The Orathupalayam dam, built to irrigate about 20,000 hectares, became a repository of polluted water.</a:t>
            </a:r>
            <a:endParaRPr lang="en-US" sz="1250" dirty="0"/>
          </a:p>
        </p:txBody>
      </p:sp>
      <p:sp>
        <p:nvSpPr>
          <p:cNvPr id="8" name="card-cost"/>
          <p:cNvSpPr/>
          <p:nvPr/>
        </p:nvSpPr>
        <p:spPr>
          <a:xfrm>
            <a:off x="4434840" y="2331720"/>
            <a:ext cx="3429000" cy="3246120"/>
          </a:xfrm>
          <a:prstGeom prst="roundRect">
            <a:avLst>
              <a:gd name="adj" fmla="val 1127"/>
            </a:avLst>
          </a:prstGeom>
          <a:solidFill>
            <a:schemeClr val="bg2"/>
          </a:solidFill>
          <a:ln w="9525">
            <a:solidFill>
              <a:srgbClr val="DCE7E9"/>
            </a:solidFill>
            <a:prstDash val="solid"/>
          </a:ln>
        </p:spPr>
      </p:sp>
      <p:sp>
        <p:nvSpPr>
          <p:cNvPr id="9" name="ct-cost"/>
          <p:cNvSpPr txBox="1"/>
          <p:nvPr/>
        </p:nvSpPr>
        <p:spPr>
          <a:xfrm>
            <a:off x="4690872" y="2606040"/>
            <a:ext cx="2916936" cy="713232"/>
          </a:xfrm>
          <a:prstGeom prst="rect">
            <a:avLst/>
          </a:prstGeom>
          <a:noFill/>
          <a:ln/>
        </p:spPr>
        <p:txBody>
          <a:bodyPr wrap="square" lIns="0" tIns="0" rIns="0" bIns="0" rtlCol="0" anchor="t"/>
          <a:lstStyle/>
          <a:p>
            <a:pPr indent="0" marL="0">
              <a:buNone/>
            </a:pPr>
            <a:r>
              <a:rPr lang="en-US" sz="1700" b="1" dirty="0">
                <a:solidFill>
                  <a:srgbClr val="0E2127"/>
                </a:solidFill>
                <a:latin typeface="Cambria" pitchFamily="34" charset="0"/>
                <a:ea typeface="Cambria" pitchFamily="34" charset="-122"/>
                <a:cs typeface="Cambria" pitchFamily="34" charset="-120"/>
              </a:rPr>
              <a:t>Compliance became survival</a:t>
            </a:r>
            <a:endParaRPr lang="en-US" sz="1700" dirty="0"/>
          </a:p>
        </p:txBody>
      </p:sp>
      <p:sp>
        <p:nvSpPr>
          <p:cNvPr id="10" name="cb-cost"/>
          <p:cNvSpPr txBox="1"/>
          <p:nvPr/>
        </p:nvSpPr>
        <p:spPr>
          <a:xfrm>
            <a:off x="4690872" y="3401568"/>
            <a:ext cx="2916936" cy="1920240"/>
          </a:xfrm>
          <a:prstGeom prst="rect">
            <a:avLst/>
          </a:prstGeom>
          <a:noFill/>
          <a:ln/>
        </p:spPr>
        <p:txBody>
          <a:bodyPr wrap="square" lIns="0" tIns="0" rIns="0" bIns="0" rtlCol="0" anchor="t"/>
          <a:lstStyle/>
          <a:p>
            <a:pPr indent="0" marL="0">
              <a:buNone/>
            </a:pPr>
            <a:r>
              <a:rPr lang="en-US" sz="1250" dirty="0">
                <a:solidFill>
                  <a:srgbClr val="44555A"/>
                </a:solidFill>
              </a:rPr>
              <a:t>Zero Liquid Discharge now recycles most of the cluster’s water. It also raised unit operating costs 25 to 30 percent, in a cluster dominated by MSMEs that cannot absorb it.</a:t>
            </a:r>
            <a:endParaRPr lang="en-US" sz="1250" dirty="0"/>
          </a:p>
        </p:txBody>
      </p:sp>
      <p:sp>
        <p:nvSpPr>
          <p:cNvPr id="11" name="card-gap"/>
          <p:cNvSpPr/>
          <p:nvPr/>
        </p:nvSpPr>
        <p:spPr>
          <a:xfrm>
            <a:off x="8183880" y="2331720"/>
            <a:ext cx="3429000" cy="3246120"/>
          </a:xfrm>
          <a:prstGeom prst="roundRect">
            <a:avLst>
              <a:gd name="adj" fmla="val 1127"/>
            </a:avLst>
          </a:prstGeom>
          <a:solidFill>
            <a:schemeClr val="bg2"/>
          </a:solidFill>
          <a:ln w="9525">
            <a:solidFill>
              <a:srgbClr val="DCE7E9"/>
            </a:solidFill>
            <a:prstDash val="solid"/>
          </a:ln>
        </p:spPr>
      </p:sp>
      <p:sp>
        <p:nvSpPr>
          <p:cNvPr id="12" name="ct-gap"/>
          <p:cNvSpPr txBox="1"/>
          <p:nvPr/>
        </p:nvSpPr>
        <p:spPr>
          <a:xfrm>
            <a:off x="8439912" y="2606040"/>
            <a:ext cx="2916936" cy="713232"/>
          </a:xfrm>
          <a:prstGeom prst="rect">
            <a:avLst/>
          </a:prstGeom>
          <a:noFill/>
          <a:ln/>
        </p:spPr>
        <p:txBody>
          <a:bodyPr wrap="square" lIns="0" tIns="0" rIns="0" bIns="0" rtlCol="0" anchor="t"/>
          <a:lstStyle/>
          <a:p>
            <a:pPr indent="0" marL="0">
              <a:buNone/>
            </a:pPr>
            <a:r>
              <a:rPr lang="en-US" sz="1700" b="1" dirty="0">
                <a:solidFill>
                  <a:srgbClr val="0E2127"/>
                </a:solidFill>
                <a:latin typeface="Cambria" pitchFamily="34" charset="0"/>
                <a:ea typeface="Cambria" pitchFamily="34" charset="-122"/>
                <a:cs typeface="Cambria" pitchFamily="34" charset="-120"/>
              </a:rPr>
              <a:t>The gap is between systems</a:t>
            </a:r>
            <a:endParaRPr lang="en-US" sz="1700" dirty="0"/>
          </a:p>
        </p:txBody>
      </p:sp>
      <p:sp>
        <p:nvSpPr>
          <p:cNvPr id="13" name="cb-gap"/>
          <p:cNvSpPr txBox="1"/>
          <p:nvPr/>
        </p:nvSpPr>
        <p:spPr>
          <a:xfrm>
            <a:off x="8439912" y="3401568"/>
            <a:ext cx="2916936" cy="1920240"/>
          </a:xfrm>
          <a:prstGeom prst="rect">
            <a:avLst/>
          </a:prstGeom>
          <a:noFill/>
          <a:ln/>
        </p:spPr>
        <p:txBody>
          <a:bodyPr wrap="square" lIns="0" tIns="0" rIns="0" bIns="0" rtlCol="0" anchor="t"/>
          <a:lstStyle/>
          <a:p>
            <a:pPr indent="0" marL="0">
              <a:buNone/>
            </a:pPr>
            <a:r>
              <a:rPr lang="en-US" sz="1250" dirty="0">
                <a:solidFill>
                  <a:srgbClr val="44555A"/>
                </a:solidFill>
              </a:rPr>
              <a:t>The dyehouse ERP plans lots. The treatment plant treats whatever arrives. The regulator monitors the outfall. None of them talk, and often they are different companies.</a:t>
            </a:r>
            <a:endParaRPr lang="en-US" sz="1250" dirty="0"/>
          </a:p>
        </p:txBody>
      </p:sp>
      <p:sp>
        <p:nvSpPr>
          <p:cNvPr id="14" name="srcnote"/>
          <p:cNvSpPr txBox="1"/>
          <p:nvPr/>
        </p:nvSpPr>
        <p:spPr>
          <a:xfrm>
            <a:off x="685800" y="5806440"/>
            <a:ext cx="10058400" cy="274320"/>
          </a:xfrm>
          <a:prstGeom prst="rect">
            <a:avLst/>
          </a:prstGeom>
          <a:noFill/>
          <a:ln/>
        </p:spPr>
        <p:txBody>
          <a:bodyPr wrap="square" lIns="0" tIns="0" rIns="0" bIns="0" rtlCol="0" anchor="ctr"/>
          <a:lstStyle/>
          <a:p>
            <a:pPr indent="0" marL="0">
              <a:buNone/>
            </a:pPr>
            <a:r>
              <a:rPr lang="en-US" sz="1000" i="1" dirty="0">
                <a:solidFill>
                  <a:srgbClr val="7B8E93"/>
                </a:solidFill>
              </a:rPr>
              <a:t>Reported figures. Sources listed in the appendix and in the product’s own claim register.</a:t>
            </a:r>
            <a:endParaRPr lang="en-US" sz="1000" dirty="0"/>
          </a:p>
        </p:txBody>
      </p:sp>
      <p:sp>
        <p:nvSpPr>
          <p:cNvPr id="16" name="Text 1"/>
          <p:cNvSpPr/>
          <p:nvPr>
            <p:ph idx="104" type="chart" hasCustomPrompt="1"/>
          </p:nvPr>
        </p:nvSpPr>
        <p:spPr>
          <a:xfrm>
            <a:off x="685800" y="2240280"/>
            <a:ext cx="10789920" cy="3931920"/>
          </a:xfrm>
          <a:prstGeom prst="rect">
            <a:avLst/>
          </a:prstGeom>
          <a:noFill/>
          <a:ln/>
        </p:spPr>
        <p:txBody>
          <a:bodyPr wrap="square" rtlCol="0"/>
          <a:lstStyle/>
          <a:p>
            <a:pPr indent="0" marL="0">
              <a:buNone/>
            </a:pPr>
            <a:endParaRPr lang="en-US" dirty="0"/>
          </a:p>
        </p:txBody>
      </p:sp>
      <p:sp>
        <p:nvSpPr>
          <p:cNvPr id="25" name="Slide Number Placeholder 0"/>
          <p:cNvSpPr>
            <a:spLocks noGrp="1"/>
          </p:cNvSpPr>
          <p:nvPr>
            <p:ph type="sldNum" sz="quarter" idx="4294967295"/>
          </p:nvPr>
        </p:nvSpPr>
        <p:spPr>
          <a:xfrm>
            <a:off x="114757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AAAAE"/>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384048"/>
            <a:ext cx="10789920" cy="274320"/>
          </a:xfrm>
          <a:prstGeom prst="rect">
            <a:avLst/>
          </a:prstGeom>
          <a:noFill/>
          <a:ln/>
        </p:spPr>
        <p:txBody>
          <a:bodyPr wrap="square" rtlCol="0"/>
          <a:lstStyle/>
          <a:p>
            <a:pPr indent="0" marL="0">
              <a:buNone/>
            </a:pPr>
            <a:r>
              <a:rPr lang="en-US" sz="1100" b="1" spc="200" kern="0" dirty="0">
                <a:solidFill>
                  <a:srgbClr val="1A6B7C"/>
                </a:solidFill>
              </a:rPr>
              <a:t>WHERE THE REAL COST SITS</a:t>
            </a:r>
            <a:endParaRPr lang="en-US" sz="1100" dirty="0"/>
          </a:p>
        </p:txBody>
      </p:sp>
      <p:sp>
        <p:nvSpPr>
          <p:cNvPr id="3" name="Text 0"/>
          <p:cNvSpPr/>
          <p:nvPr>
            <p:ph idx="101" type="title" hasCustomPrompt="1"/>
          </p:nvPr>
        </p:nvSpPr>
        <p:spPr>
          <a:xfrm>
            <a:off x="685800" y="658368"/>
            <a:ext cx="10789920" cy="932688"/>
          </a:xfrm>
          <a:prstGeom prst="rect">
            <a:avLst/>
          </a:prstGeom>
          <a:noFill/>
          <a:ln/>
        </p:spPr>
        <p:txBody>
          <a:bodyPr wrap="square" rtlCol="0" anchor="t"/>
          <a:lstStyle/>
          <a:p>
            <a:pPr algn="l" indent="0" marL="0">
              <a:buNone/>
            </a:pPr>
            <a:r>
              <a:rPr lang="en-US" sz="3100" b="1" dirty="0">
                <a:solidFill>
                  <a:srgbClr val="0E2127"/>
                </a:solidFill>
              </a:rPr>
              <a:t>Recovery is solved. Paying for it is not</a:t>
            </a:r>
            <a:endParaRPr lang="en-US" sz="3100" dirty="0"/>
          </a:p>
        </p:txBody>
      </p:sp>
      <p:sp>
        <p:nvSpPr>
          <p:cNvPr id="4" name="Text 0"/>
          <p:cNvSpPr/>
          <p:nvPr>
            <p:ph idx="102" type="body" hasCustomPrompt="1"/>
          </p:nvPr>
        </p:nvSpPr>
        <p:spPr>
          <a:xfrm>
            <a:off x="685800" y="1664208"/>
            <a:ext cx="10332720" cy="548640"/>
          </a:xfrm>
          <a:prstGeom prst="rect">
            <a:avLst/>
          </a:prstGeom>
          <a:noFill/>
          <a:ln/>
        </p:spPr>
        <p:txBody>
          <a:bodyPr wrap="square" rtlCol="0" anchor="t"/>
          <a:lstStyle/>
          <a:p>
            <a:pPr algn="l" indent="0" marL="0">
              <a:buNone/>
            </a:pPr>
            <a:r>
              <a:rPr lang="en-US" sz="1450" dirty="0">
                <a:solidFill>
                  <a:srgbClr val="44555A"/>
                </a:solidFill>
              </a:rPr>
              <a:t>Recycled water costs two to five times the freshwater it replaces, because somebody had to boil the reject dry to make it.</a:t>
            </a:r>
            <a:endParaRPr lang="en-US" sz="1450" dirty="0"/>
          </a:p>
        </p:txBody>
      </p:sp>
      <p:graphicFrame>
        <p:nvGraphicFramePr>
          <p:cNvPr id="5" name="cost-table"/>
          <p:cNvGraphicFramePr>
            <a:graphicFrameLocks noGrp="1"/>
          </p:cNvGraphicFramePr>
          <p:nvPr>
            <p:extLst>
              <p:ext uri="{D42A27DB-BD31-4B8C-83A1-F6EECF244321}">
                <p14:modId xmlns:p14="http://schemas.microsoft.com/office/powerpoint/2010/main" val="1579011935"/>
              </p:ext>
            </p:extLst>
          </p:nvPr>
        </p:nvGraphicFramePr>
        <p:xfrm>
          <a:off x="685800" y="2286000"/>
          <a:ext cx="6675120" cy="914400"/>
        </p:xfrm>
        <a:graphic>
          <a:graphicData uri="http://schemas.openxmlformats.org/drawingml/2006/table">
            <a:tbl>
              <a:tblPr/>
              <a:tblGrid>
                <a:gridCol w="2834640"/>
                <a:gridCol w="1920240"/>
                <a:gridCol w="1920240"/>
              </a:tblGrid>
              <a:tr h="0">
                <a:tc>
                  <a:txBody>
                    <a:bodyPr/>
                    <a:lstStyle/>
                    <a:p>
                      <a:pPr algn="l" indent="0" marL="0">
                        <a:buNone/>
                      </a:pPr>
                      <a:r>
                        <a:rPr lang="en-US" sz="1000" b="1" spc="100" kern="0" dirty="0">
                          <a:solidFill>
                            <a:srgbClr val="6B8086"/>
                          </a:solidFill>
                          <a:latin typeface="Calibri" pitchFamily="34" charset="0"/>
                          <a:ea typeface="Calibri" pitchFamily="34" charset="-122"/>
                          <a:cs typeface="Calibri" pitchFamily="34" charset="-120"/>
                        </a:rPr>
                        <a:t>WHAT IT COSTS</a:t>
                      </a:r>
                      <a:endParaRPr lang="en-US" sz="1000" dirty="0">
                        <a:latin typeface="Calibri" charset="0"/>
                        <a:ea typeface="Calibri" charset="0"/>
                        <a:cs typeface="Calibri" charset="0"/>
                      </a:endParaRPr>
                    </a:p>
                  </a:txBody>
                  <a:tcPr marL="0" marR="76200" marT="76200" marB="762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2700" cap="flat" cmpd="sng" algn="ctr">
                      <a:solidFill>
                        <a:srgbClr val="C3D3D6"/>
                      </a:solidFill>
                      <a:prstDash val="solid"/>
                      <a:round/>
                      <a:headEnd type="none" w="med" len="med"/>
                      <a:tailEnd type="none" w="med" len="med"/>
                    </a:lnB>
                    <a:solidFill>
                      <a:srgbClr val="FFFFFF"/>
                    </a:solidFill>
                  </a:tcPr>
                </a:tc>
                <a:tc>
                  <a:txBody>
                    <a:bodyPr/>
                    <a:lstStyle/>
                    <a:p>
                      <a:pPr algn="r" indent="0" marL="0">
                        <a:buNone/>
                      </a:pPr>
                      <a:r>
                        <a:rPr lang="en-US" sz="1000" b="1" spc="100" kern="0" dirty="0">
                          <a:solidFill>
                            <a:srgbClr val="6B8086"/>
                          </a:solidFill>
                          <a:latin typeface="Calibri" pitchFamily="34" charset="0"/>
                          <a:ea typeface="Calibri" pitchFamily="34" charset="-122"/>
                          <a:cs typeface="Calibri" pitchFamily="34" charset="-120"/>
                        </a:rPr>
                        <a:t>FRESH</a:t>
                      </a:r>
                      <a:endParaRPr lang="en-US" sz="1000" dirty="0">
                        <a:latin typeface="Calibri" charset="0"/>
                        <a:ea typeface="Calibri" charset="0"/>
                        <a:cs typeface="Calibri" charset="0"/>
                      </a:endParaRPr>
                    </a:p>
                  </a:txBody>
                  <a:tcPr marL="0" marR="76200" marT="76200" marB="762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2700" cap="flat" cmpd="sng" algn="ctr">
                      <a:solidFill>
                        <a:srgbClr val="C3D3D6"/>
                      </a:solidFill>
                      <a:prstDash val="solid"/>
                      <a:round/>
                      <a:headEnd type="none" w="med" len="med"/>
                      <a:tailEnd type="none" w="med" len="med"/>
                    </a:lnB>
                    <a:solidFill>
                      <a:srgbClr val="FFFFFF"/>
                    </a:solidFill>
                  </a:tcPr>
                </a:tc>
                <a:tc>
                  <a:txBody>
                    <a:bodyPr/>
                    <a:lstStyle/>
                    <a:p>
                      <a:pPr algn="r" indent="0" marL="0">
                        <a:buNone/>
                      </a:pPr>
                      <a:r>
                        <a:rPr lang="en-US" sz="1000" b="1" spc="100" kern="0" dirty="0">
                          <a:solidFill>
                            <a:srgbClr val="6B8086"/>
                          </a:solidFill>
                          <a:latin typeface="Calibri" pitchFamily="34" charset="0"/>
                          <a:ea typeface="Calibri" pitchFamily="34" charset="-122"/>
                          <a:cs typeface="Calibri" pitchFamily="34" charset="-120"/>
                        </a:rPr>
                        <a:t>RECYCLED</a:t>
                      </a:r>
                      <a:endParaRPr lang="en-US" sz="1000" dirty="0">
                        <a:latin typeface="Calibri" charset="0"/>
                        <a:ea typeface="Calibri" charset="0"/>
                        <a:cs typeface="Calibri" charset="0"/>
                      </a:endParaRPr>
                    </a:p>
                  </a:txBody>
                  <a:tcPr marL="0" marR="76200" marT="76200" marB="762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2700" cap="flat" cmpd="sng" algn="ctr">
                      <a:solidFill>
                        <a:srgbClr val="C3D3D6"/>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0E2127"/>
                          </a:solidFill>
                          <a:latin typeface="Calibri" pitchFamily="34" charset="0"/>
                          <a:ea typeface="Calibri" pitchFamily="34" charset="-122"/>
                          <a:cs typeface="Calibri" pitchFamily="34" charset="-120"/>
                        </a:rPr>
                        <a:t>Water, per kilolitre</a:t>
                      </a:r>
                      <a:endParaRPr lang="en-US" sz="13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33474C"/>
                          </a:solidFill>
                          <a:latin typeface="Calibri" pitchFamily="34" charset="0"/>
                          <a:ea typeface="Calibri" pitchFamily="34" charset="-122"/>
                          <a:cs typeface="Calibri" pitchFamily="34" charset="-120"/>
                        </a:rPr>
                        <a:t>₹30 to 60</a:t>
                      </a:r>
                      <a:endParaRPr lang="en-US" sz="13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33474C"/>
                          </a:solidFill>
                          <a:latin typeface="Calibri" pitchFamily="34" charset="0"/>
                          <a:ea typeface="Calibri" pitchFamily="34" charset="-122"/>
                          <a:cs typeface="Calibri" pitchFamily="34" charset="-120"/>
                        </a:rPr>
                        <a:t>₹120 to 150</a:t>
                      </a:r>
                      <a:endParaRPr lang="en-US" sz="13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r>
              <a:tr h="0">
                <a:tc>
                  <a:txBody>
                    <a:bodyPr/>
                    <a:lstStyle/>
                    <a:p>
                      <a:pPr algn="l" indent="0" marL="0">
                        <a:buNone/>
                      </a:pPr>
                      <a:r>
                        <a:rPr lang="en-US" sz="1200" b="1" dirty="0">
                          <a:solidFill>
                            <a:srgbClr val="0E2127"/>
                          </a:solidFill>
                          <a:latin typeface="Calibri" pitchFamily="34" charset="0"/>
                          <a:ea typeface="Calibri" pitchFamily="34" charset="-122"/>
                          <a:cs typeface="Calibri" pitchFamily="34" charset="-120"/>
                        </a:rPr>
                        <a:t>Operating cost impact of ZLD</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3474C"/>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3474C"/>
                          </a:solidFill>
                          <a:latin typeface="Calibri" pitchFamily="34" charset="0"/>
                          <a:ea typeface="Calibri" pitchFamily="34" charset="-122"/>
                          <a:cs typeface="Calibri" pitchFamily="34" charset="-120"/>
                        </a:rPr>
                        <a:t>+25 to 30%</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r>
              <a:tr h="0">
                <a:tc>
                  <a:txBody>
                    <a:bodyPr/>
                    <a:lstStyle/>
                    <a:p>
                      <a:pPr algn="l" indent="0" marL="0">
                        <a:buNone/>
                      </a:pPr>
                      <a:r>
                        <a:rPr lang="en-US" sz="1200" b="1" dirty="0">
                          <a:solidFill>
                            <a:srgbClr val="0E2127"/>
                          </a:solidFill>
                          <a:latin typeface="Calibri" pitchFamily="34" charset="0"/>
                          <a:ea typeface="Calibri" pitchFamily="34" charset="-122"/>
                          <a:cs typeface="Calibri" pitchFamily="34" charset="-120"/>
                        </a:rPr>
                        <a:t>Cost of dyed fabric</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3474C"/>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3474C"/>
                          </a:solidFill>
                          <a:latin typeface="Calibri" pitchFamily="34" charset="0"/>
                          <a:ea typeface="Calibri" pitchFamily="34" charset="-122"/>
                          <a:cs typeface="Calibri" pitchFamily="34" charset="-120"/>
                        </a:rPr>
                        <a:t>+12 to 15%</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r>
              <a:tr h="0">
                <a:tc>
                  <a:txBody>
                    <a:bodyPr/>
                    <a:lstStyle/>
                    <a:p>
                      <a:pPr algn="l" indent="0" marL="0">
                        <a:buNone/>
                      </a:pPr>
                      <a:r>
                        <a:rPr lang="en-US" sz="1200" b="1" dirty="0">
                          <a:solidFill>
                            <a:srgbClr val="0D7A57"/>
                          </a:solidFill>
                          <a:latin typeface="Calibri" pitchFamily="34" charset="0"/>
                          <a:ea typeface="Calibri" pitchFamily="34" charset="-122"/>
                          <a:cs typeface="Calibri" pitchFamily="34" charset="-120"/>
                        </a:rPr>
                        <a:t>With salt and water recovery</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E9F4EF"/>
                    </a:solidFill>
                  </a:tcPr>
                </a:tc>
                <a:tc>
                  <a:txBody>
                    <a:bodyPr/>
                    <a:lstStyle/>
                    <a:p>
                      <a:pPr algn="r" indent="0" marL="0">
                        <a:buNone/>
                      </a:pPr>
                      <a:r>
                        <a:rPr lang="en-US" sz="1200" b="1" dirty="0">
                          <a:solidFill>
                            <a:srgbClr val="0D7A5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E9F4EF"/>
                    </a:solidFill>
                  </a:tcPr>
                </a:tc>
                <a:tc>
                  <a:txBody>
                    <a:bodyPr/>
                    <a:lstStyle/>
                    <a:p>
                      <a:pPr algn="r" indent="0" marL="0">
                        <a:buNone/>
                      </a:pPr>
                      <a:r>
                        <a:rPr lang="en-US" sz="1200" b="1" dirty="0">
                          <a:solidFill>
                            <a:srgbClr val="0D7A57"/>
                          </a:solidFill>
                          <a:latin typeface="Calibri" pitchFamily="34" charset="0"/>
                          <a:ea typeface="Calibri" pitchFamily="34" charset="-122"/>
                          <a:cs typeface="Calibri" pitchFamily="34" charset="-120"/>
                        </a:rPr>
                        <a:t>about +5%</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E9F4EF"/>
                    </a:solidFill>
                  </a:tcPr>
                </a:tc>
              </a:tr>
            </a:tbl>
          </a:graphicData>
        </a:graphic>
      </p:graphicFrame>
      <p:sp>
        <p:nvSpPr>
          <p:cNvPr id="6" name="card-lever"/>
          <p:cNvSpPr/>
          <p:nvPr/>
        </p:nvSpPr>
        <p:spPr>
          <a:xfrm>
            <a:off x="7818120" y="2286000"/>
            <a:ext cx="3657600" cy="3291840"/>
          </a:xfrm>
          <a:prstGeom prst="roundRect">
            <a:avLst>
              <a:gd name="adj" fmla="val 1111"/>
            </a:avLst>
          </a:prstGeom>
          <a:solidFill>
            <a:srgbClr val="F3EFE3"/>
          </a:solidFill>
          <a:ln w="9525">
            <a:solidFill>
              <a:srgbClr val="E0D4B4"/>
            </a:solidFill>
            <a:prstDash val="solid"/>
          </a:ln>
        </p:spPr>
      </p:sp>
      <p:sp>
        <p:nvSpPr>
          <p:cNvPr id="7" name="lever-h"/>
          <p:cNvSpPr txBox="1"/>
          <p:nvPr/>
        </p:nvSpPr>
        <p:spPr>
          <a:xfrm>
            <a:off x="8092440" y="2560320"/>
            <a:ext cx="3108960" cy="731520"/>
          </a:xfrm>
          <a:prstGeom prst="rect">
            <a:avLst/>
          </a:prstGeom>
          <a:noFill/>
          <a:ln/>
        </p:spPr>
        <p:txBody>
          <a:bodyPr wrap="square" lIns="0" tIns="0" rIns="0" bIns="0" rtlCol="0" anchor="t"/>
          <a:lstStyle/>
          <a:p>
            <a:pPr indent="0" marL="0">
              <a:buNone/>
            </a:pPr>
            <a:r>
              <a:rPr lang="en-US" sz="1700" b="1" dirty="0">
                <a:solidFill>
                  <a:srgbClr val="7A5A18"/>
                </a:solidFill>
                <a:latin typeface="Cambria" pitchFamily="34" charset="0"/>
                <a:ea typeface="Cambria" pitchFamily="34" charset="-122"/>
                <a:cs typeface="Cambria" pitchFamily="34" charset="-120"/>
              </a:rPr>
              <a:t>The industry already names the lever</a:t>
            </a:r>
            <a:endParaRPr lang="en-US" sz="1700" dirty="0"/>
          </a:p>
        </p:txBody>
      </p:sp>
      <p:sp>
        <p:nvSpPr>
          <p:cNvPr id="8" name="lever-b"/>
          <p:cNvSpPr txBox="1"/>
          <p:nvPr/>
        </p:nvSpPr>
        <p:spPr>
          <a:xfrm>
            <a:off x="8092440" y="3383280"/>
            <a:ext cx="3108960" cy="2011680"/>
          </a:xfrm>
          <a:prstGeom prst="rect">
            <a:avLst/>
          </a:prstGeom>
          <a:noFill/>
          <a:ln/>
        </p:spPr>
        <p:txBody>
          <a:bodyPr wrap="square" lIns="0" tIns="0" rIns="0" bIns="0" rtlCol="0" anchor="t"/>
          <a:lstStyle/>
          <a:p>
            <a:pPr indent="0" marL="0">
              <a:buNone/>
            </a:pPr>
            <a:r>
              <a:rPr lang="en-US" sz="1250" dirty="0">
                <a:solidFill>
                  <a:srgbClr val="5E4A1C"/>
                </a:solidFill>
              </a:rPr>
              <a:t>The reported route from a 12 to 15 percent fabric cost penalty down to about 5 percent is salt and water recovery.</a:t>
            </a:r>
            <a:endParaRPr lang="en-US" sz="1250" dirty="0"/>
          </a:p>
          <a:p>
            <a:pPr indent="0" marL="0">
              <a:buNone/>
            </a:pPr>
            <a:endParaRPr lang="en-US" sz="1250" dirty="0"/>
          </a:p>
          <a:p>
            <a:pPr indent="0" marL="0">
              <a:buNone/>
            </a:pPr>
            <a:r>
              <a:rPr lang="en-US" sz="1250" dirty="0">
                <a:solidFill>
                  <a:srgbClr val="5E4A1C"/>
                </a:solidFill>
              </a:rPr>
              <a:t>So the question is not whether salt matters. It is who decides how much salt enters the water in the first place — and nobody is doing that.</a:t>
            </a:r>
            <a:endParaRPr lang="en-US" sz="1250" dirty="0"/>
          </a:p>
        </p:txBody>
      </p:sp>
      <p:sp>
        <p:nvSpPr>
          <p:cNvPr id="9" name="concl3"/>
          <p:cNvSpPr txBox="1"/>
          <p:nvPr/>
        </p:nvSpPr>
        <p:spPr>
          <a:xfrm>
            <a:off x="685800" y="5760720"/>
            <a:ext cx="10332720" cy="365760"/>
          </a:xfrm>
          <a:prstGeom prst="rect">
            <a:avLst/>
          </a:prstGeom>
          <a:noFill/>
          <a:ln/>
        </p:spPr>
        <p:txBody>
          <a:bodyPr wrap="square" lIns="0" tIns="0" rIns="0" bIns="0" rtlCol="0" anchor="ctr"/>
          <a:lstStyle/>
          <a:p>
            <a:pPr indent="0" marL="0">
              <a:buNone/>
            </a:pPr>
            <a:r>
              <a:rPr lang="en-US" sz="1300" b="1" dirty="0">
                <a:solidFill>
                  <a:srgbClr val="14525F"/>
                </a:solidFill>
              </a:rPr>
              <a:t>Avoiding a litre of demand is worth more than recovering a litre of effluent. That is why ChangeLoop acts upstream.</a:t>
            </a:r>
            <a:endParaRPr lang="en-US" sz="1300" dirty="0"/>
          </a:p>
        </p:txBody>
      </p:sp>
      <p:sp>
        <p:nvSpPr>
          <p:cNvPr id="11" name="Text 1"/>
          <p:cNvSpPr/>
          <p:nvPr>
            <p:ph idx="104" type="chart" hasCustomPrompt="1"/>
          </p:nvPr>
        </p:nvSpPr>
        <p:spPr>
          <a:xfrm>
            <a:off x="685800" y="2240280"/>
            <a:ext cx="10789920" cy="3931920"/>
          </a:xfrm>
          <a:prstGeom prst="rect">
            <a:avLst/>
          </a:prstGeom>
          <a:noFill/>
          <a:ln/>
        </p:spPr>
        <p:txBody>
          <a:bodyPr wrap="square" rtlCol="0"/>
          <a:lstStyle/>
          <a:p>
            <a:pPr indent="0" marL="0">
              <a:buNone/>
            </a:pPr>
            <a:endParaRPr lang="en-US" dirty="0"/>
          </a:p>
        </p:txBody>
      </p:sp>
      <p:sp>
        <p:nvSpPr>
          <p:cNvPr id="25" name="Slide Number Placeholder 0"/>
          <p:cNvSpPr>
            <a:spLocks noGrp="1"/>
          </p:cNvSpPr>
          <p:nvPr>
            <p:ph type="sldNum" sz="quarter" idx="4294967295"/>
          </p:nvPr>
        </p:nvSpPr>
        <p:spPr>
          <a:xfrm>
            <a:off x="114757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AAAAE"/>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384048"/>
            <a:ext cx="10789920" cy="274320"/>
          </a:xfrm>
          <a:prstGeom prst="rect">
            <a:avLst/>
          </a:prstGeom>
          <a:noFill/>
          <a:ln/>
        </p:spPr>
        <p:txBody>
          <a:bodyPr wrap="square" rtlCol="0"/>
          <a:lstStyle/>
          <a:p>
            <a:pPr indent="0" marL="0">
              <a:buNone/>
            </a:pPr>
            <a:r>
              <a:rPr lang="en-US" sz="1100" b="1" spc="200" kern="0" dirty="0">
                <a:solidFill>
                  <a:srgbClr val="B98A2E"/>
                </a:solidFill>
              </a:rPr>
              <a:t>THE INSIGHT</a:t>
            </a:r>
            <a:endParaRPr lang="en-US" sz="1100" dirty="0"/>
          </a:p>
        </p:txBody>
      </p:sp>
      <p:sp>
        <p:nvSpPr>
          <p:cNvPr id="3" name="Text 0"/>
          <p:cNvSpPr/>
          <p:nvPr>
            <p:ph idx="101" type="title" hasCustomPrompt="1"/>
          </p:nvPr>
        </p:nvSpPr>
        <p:spPr>
          <a:xfrm>
            <a:off x="685800" y="658368"/>
            <a:ext cx="10789920" cy="932688"/>
          </a:xfrm>
          <a:prstGeom prst="rect">
            <a:avLst/>
          </a:prstGeom>
          <a:noFill/>
          <a:ln/>
        </p:spPr>
        <p:txBody>
          <a:bodyPr wrap="square" rtlCol="0" anchor="t"/>
          <a:lstStyle/>
          <a:p>
            <a:pPr algn="l" indent="0" marL="0">
              <a:buNone/>
            </a:pPr>
            <a:r>
              <a:rPr lang="en-US" sz="3100" b="1" dirty="0">
                <a:solidFill>
                  <a:srgbClr val="FFFFFF"/>
                </a:solidFill>
              </a:rPr>
              <a:t>In a zero-liquid-discharge plant, salt is water</a:t>
            </a:r>
            <a:endParaRPr lang="en-US" sz="3100" dirty="0"/>
          </a:p>
        </p:txBody>
      </p:sp>
      <p:sp>
        <p:nvSpPr>
          <p:cNvPr id="4" name="Text 0"/>
          <p:cNvSpPr/>
          <p:nvPr>
            <p:ph idx="102" type="body" hasCustomPrompt="1"/>
          </p:nvPr>
        </p:nvSpPr>
        <p:spPr>
          <a:xfrm>
            <a:off x="685800" y="1664208"/>
            <a:ext cx="10332720" cy="548640"/>
          </a:xfrm>
          <a:prstGeom prst="rect">
            <a:avLst/>
          </a:prstGeom>
          <a:noFill/>
          <a:ln/>
        </p:spPr>
        <p:txBody>
          <a:bodyPr wrap="square" rtlCol="0" anchor="t"/>
          <a:lstStyle/>
          <a:p>
            <a:pPr algn="l" indent="0" marL="0">
              <a:buNone/>
            </a:pPr>
            <a:r>
              <a:rPr lang="en-US" sz="1450" dirty="0">
                <a:solidFill>
                  <a:srgbClr val="B7CBD0"/>
                </a:solidFill>
              </a:rPr>
              <a:t>Salt is conserved. Reverse osmosis can only concentrate it to a ceiling before scaling stops it. So by mass conservation:</a:t>
            </a:r>
            <a:endParaRPr lang="en-US" sz="1450" dirty="0"/>
          </a:p>
        </p:txBody>
      </p:sp>
      <p:sp>
        <p:nvSpPr>
          <p:cNvPr id="5" name="card-formula"/>
          <p:cNvSpPr/>
          <p:nvPr/>
        </p:nvSpPr>
        <p:spPr>
          <a:xfrm>
            <a:off x="685800" y="2240280"/>
            <a:ext cx="5120640" cy="960120"/>
          </a:xfrm>
          <a:prstGeom prst="roundRect">
            <a:avLst>
              <a:gd name="adj" fmla="val 3810"/>
            </a:avLst>
          </a:prstGeom>
          <a:solidFill>
            <a:srgbClr val="16323A"/>
          </a:solidFill>
          <a:ln w="9525">
            <a:solidFill>
              <a:srgbClr val="2A5460"/>
            </a:solidFill>
            <a:prstDash val="solid"/>
          </a:ln>
        </p:spPr>
      </p:sp>
      <p:sp>
        <p:nvSpPr>
          <p:cNvPr id="6" name="formula-t"/>
          <p:cNvSpPr txBox="1"/>
          <p:nvPr/>
        </p:nvSpPr>
        <p:spPr>
          <a:xfrm>
            <a:off x="960120" y="2377440"/>
            <a:ext cx="4572000" cy="658368"/>
          </a:xfrm>
          <a:prstGeom prst="rect">
            <a:avLst/>
          </a:prstGeom>
          <a:noFill/>
          <a:ln/>
        </p:spPr>
        <p:txBody>
          <a:bodyPr wrap="square" lIns="0" tIns="0" rIns="0" bIns="0" rtlCol="0" anchor="ctr"/>
          <a:lstStyle/>
          <a:p>
            <a:pPr indent="0" marL="0">
              <a:buNone/>
            </a:pPr>
            <a:r>
              <a:rPr lang="en-US" sz="2200" b="1" dirty="0">
                <a:solidFill>
                  <a:srgbClr val="6EC4D6"/>
                </a:solidFill>
                <a:latin typeface="Courier New" pitchFamily="34" charset="0"/>
                <a:ea typeface="Courier New" pitchFamily="34" charset="-122"/>
                <a:cs typeface="Courier New" pitchFamily="34" charset="-120"/>
              </a:rPr>
              <a:t>V_reject  =  M_salt  /  C_reject_max</a:t>
            </a:r>
            <a:endParaRPr lang="en-US" sz="2200" dirty="0"/>
          </a:p>
        </p:txBody>
      </p:sp>
      <p:sp>
        <p:nvSpPr>
          <p:cNvPr id="7" name="formula-x"/>
          <p:cNvSpPr txBox="1"/>
          <p:nvPr/>
        </p:nvSpPr>
        <p:spPr>
          <a:xfrm>
            <a:off x="685800" y="3337560"/>
            <a:ext cx="5120640" cy="822960"/>
          </a:xfrm>
          <a:prstGeom prst="rect">
            <a:avLst/>
          </a:prstGeom>
          <a:noFill/>
          <a:ln/>
        </p:spPr>
        <p:txBody>
          <a:bodyPr wrap="square" lIns="0" tIns="0" rIns="0" bIns="0" rtlCol="0" anchor="t"/>
          <a:lstStyle/>
          <a:p>
            <a:pPr indent="0" marL="0">
              <a:buNone/>
            </a:pPr>
            <a:r>
              <a:rPr lang="en-US" sz="1400" dirty="0">
                <a:solidFill>
                  <a:srgbClr val="E3EDEF"/>
                </a:solidFill>
              </a:rPr>
              <a:t>Reject volume — and therefore evaporator steam, fuel and CO₂ — is set by SALT MASS, not by water volume.</a:t>
            </a:r>
            <a:endParaRPr lang="en-US" sz="1400" dirty="0"/>
          </a:p>
        </p:txBody>
      </p:sp>
      <p:sp>
        <p:nvSpPr>
          <p:cNvPr id="8" name="proof-k"/>
          <p:cNvSpPr txBox="1"/>
          <p:nvPr/>
        </p:nvSpPr>
        <p:spPr>
          <a:xfrm>
            <a:off x="6355080" y="2240280"/>
            <a:ext cx="5120640" cy="274320"/>
          </a:xfrm>
          <a:prstGeom prst="rect">
            <a:avLst/>
          </a:prstGeom>
          <a:noFill/>
          <a:ln/>
        </p:spPr>
        <p:txBody>
          <a:bodyPr wrap="square" lIns="0" tIns="0" rIns="0" bIns="0" rtlCol="0" anchor="ctr"/>
          <a:lstStyle/>
          <a:p>
            <a:pPr indent="0" marL="0">
              <a:buNone/>
            </a:pPr>
            <a:r>
              <a:rPr lang="en-US" sz="1000" b="1" spc="140" kern="0" dirty="0">
                <a:solidFill>
                  <a:srgbClr val="B98A2E"/>
                </a:solidFill>
              </a:rPr>
              <a:t>COMPUTED LIVE IN THE PRODUCT</a:t>
            </a:r>
            <a:endParaRPr lang="en-US" sz="1000" dirty="0"/>
          </a:p>
        </p:txBody>
      </p:sp>
      <p:sp>
        <p:nvSpPr>
          <p:cNvPr id="9" name="bl-0"/>
          <p:cNvSpPr txBox="1"/>
          <p:nvPr/>
        </p:nvSpPr>
        <p:spPr>
          <a:xfrm>
            <a:off x="6355080" y="2697480"/>
            <a:ext cx="3657600" cy="274320"/>
          </a:xfrm>
          <a:prstGeom prst="rect">
            <a:avLst/>
          </a:prstGeom>
          <a:noFill/>
          <a:ln/>
        </p:spPr>
        <p:txBody>
          <a:bodyPr wrap="square" lIns="0" tIns="0" rIns="0" bIns="0" rtlCol="0" anchor="ctr"/>
          <a:lstStyle/>
          <a:p>
            <a:pPr indent="0" marL="0">
              <a:buNone/>
            </a:pPr>
            <a:r>
              <a:rPr lang="en-US" sz="1250" dirty="0">
                <a:solidFill>
                  <a:srgbClr val="E3EDEF"/>
                </a:solidFill>
              </a:rPr>
              <a:t>Cut water 20%, salt unchanged</a:t>
            </a:r>
            <a:endParaRPr lang="en-US" sz="1250" dirty="0"/>
          </a:p>
        </p:txBody>
      </p:sp>
      <p:sp>
        <p:nvSpPr>
          <p:cNvPr id="10" name="bv-0"/>
          <p:cNvSpPr txBox="1"/>
          <p:nvPr/>
        </p:nvSpPr>
        <p:spPr>
          <a:xfrm>
            <a:off x="10104120" y="2642616"/>
            <a:ext cx="1371600" cy="365760"/>
          </a:xfrm>
          <a:prstGeom prst="rect">
            <a:avLst/>
          </a:prstGeom>
          <a:noFill/>
          <a:ln/>
        </p:spPr>
        <p:txBody>
          <a:bodyPr wrap="square" lIns="0" tIns="0" rIns="0" bIns="0" rtlCol="0" anchor="ctr"/>
          <a:lstStyle/>
          <a:p>
            <a:pPr algn="r" indent="0" marL="0">
              <a:buNone/>
            </a:pPr>
            <a:r>
              <a:rPr lang="en-US" sz="2000" b="1" dirty="0">
                <a:solidFill>
                  <a:srgbClr val="6E858B"/>
                </a:solidFill>
                <a:latin typeface="Cambria" pitchFamily="34" charset="0"/>
                <a:ea typeface="Cambria" pitchFamily="34" charset="-122"/>
                <a:cs typeface="Cambria" pitchFamily="34" charset="-120"/>
              </a:rPr>
              <a:t>0.0%</a:t>
            </a:r>
            <a:endParaRPr lang="en-US" sz="2000" dirty="0"/>
          </a:p>
        </p:txBody>
      </p:sp>
      <p:sp>
        <p:nvSpPr>
          <p:cNvPr id="11" name="bt-0"/>
          <p:cNvSpPr/>
          <p:nvPr/>
        </p:nvSpPr>
        <p:spPr>
          <a:xfrm>
            <a:off x="6355080" y="3044952"/>
            <a:ext cx="5120640" cy="155448"/>
          </a:xfrm>
          <a:prstGeom prst="rect">
            <a:avLst/>
          </a:prstGeom>
          <a:solidFill>
            <a:srgbClr val="16323A"/>
          </a:solidFill>
          <a:ln w="12700">
            <a:solidFill>
              <a:srgbClr val="16323A"/>
            </a:solidFill>
            <a:prstDash val="solid"/>
          </a:ln>
        </p:spPr>
      </p:sp>
      <p:sp>
        <p:nvSpPr>
          <p:cNvPr id="12" name="bf-0"/>
          <p:cNvSpPr/>
          <p:nvPr/>
        </p:nvSpPr>
        <p:spPr>
          <a:xfrm>
            <a:off x="6355080" y="3044952"/>
            <a:ext cx="102413" cy="155448"/>
          </a:xfrm>
          <a:prstGeom prst="rect">
            <a:avLst/>
          </a:prstGeom>
          <a:solidFill>
            <a:srgbClr val="6E858B"/>
          </a:solidFill>
          <a:ln w="12700">
            <a:solidFill>
              <a:srgbClr val="6E858B"/>
            </a:solidFill>
            <a:prstDash val="solid"/>
          </a:ln>
        </p:spPr>
      </p:sp>
      <p:sp>
        <p:nvSpPr>
          <p:cNvPr id="13" name="bn-0"/>
          <p:cNvSpPr txBox="1"/>
          <p:nvPr/>
        </p:nvSpPr>
        <p:spPr>
          <a:xfrm>
            <a:off x="6355080" y="3246120"/>
            <a:ext cx="5120640" cy="256032"/>
          </a:xfrm>
          <a:prstGeom prst="rect">
            <a:avLst/>
          </a:prstGeom>
          <a:noFill/>
          <a:ln/>
        </p:spPr>
        <p:txBody>
          <a:bodyPr wrap="square" lIns="0" tIns="0" rIns="0" bIns="0" rtlCol="0" anchor="ctr"/>
          <a:lstStyle/>
          <a:p>
            <a:pPr indent="0" marL="0">
              <a:buNone/>
            </a:pPr>
            <a:r>
              <a:rPr lang="en-US" sz="1100" i="1" dirty="0">
                <a:solidFill>
                  <a:srgbClr val="8FA7AD"/>
                </a:solidFill>
              </a:rPr>
              <a:t>evaporator energy does not move</a:t>
            </a:r>
            <a:endParaRPr lang="en-US" sz="1100" dirty="0"/>
          </a:p>
        </p:txBody>
      </p:sp>
      <p:sp>
        <p:nvSpPr>
          <p:cNvPr id="14" name="bl-1"/>
          <p:cNvSpPr txBox="1"/>
          <p:nvPr/>
        </p:nvSpPr>
        <p:spPr>
          <a:xfrm>
            <a:off x="6355080" y="4069080"/>
            <a:ext cx="3657600" cy="274320"/>
          </a:xfrm>
          <a:prstGeom prst="rect">
            <a:avLst/>
          </a:prstGeom>
          <a:noFill/>
          <a:ln/>
        </p:spPr>
        <p:txBody>
          <a:bodyPr wrap="square" lIns="0" tIns="0" rIns="0" bIns="0" rtlCol="0" anchor="ctr"/>
          <a:lstStyle/>
          <a:p>
            <a:pPr indent="0" marL="0">
              <a:buNone/>
            </a:pPr>
            <a:r>
              <a:rPr lang="en-US" sz="1250" dirty="0">
                <a:solidFill>
                  <a:srgbClr val="E3EDEF"/>
                </a:solidFill>
              </a:rPr>
              <a:t>Cut salt 20%, water unchanged</a:t>
            </a:r>
            <a:endParaRPr lang="en-US" sz="1250" dirty="0"/>
          </a:p>
        </p:txBody>
      </p:sp>
      <p:sp>
        <p:nvSpPr>
          <p:cNvPr id="15" name="bv-1"/>
          <p:cNvSpPr txBox="1"/>
          <p:nvPr/>
        </p:nvSpPr>
        <p:spPr>
          <a:xfrm>
            <a:off x="10104120" y="4014216"/>
            <a:ext cx="1371600" cy="365760"/>
          </a:xfrm>
          <a:prstGeom prst="rect">
            <a:avLst/>
          </a:prstGeom>
          <a:noFill/>
          <a:ln/>
        </p:spPr>
        <p:txBody>
          <a:bodyPr wrap="square" lIns="0" tIns="0" rIns="0" bIns="0" rtlCol="0" anchor="ctr"/>
          <a:lstStyle/>
          <a:p>
            <a:pPr algn="r" indent="0" marL="0">
              <a:buNone/>
            </a:pPr>
            <a:r>
              <a:rPr lang="en-US" sz="2000" b="1" dirty="0">
                <a:solidFill>
                  <a:srgbClr val="E0B45A"/>
                </a:solidFill>
                <a:latin typeface="Cambria" pitchFamily="34" charset="0"/>
                <a:ea typeface="Cambria" pitchFamily="34" charset="-122"/>
                <a:cs typeface="Cambria" pitchFamily="34" charset="-120"/>
              </a:rPr>
              <a:t>-20.0%</a:t>
            </a:r>
            <a:endParaRPr lang="en-US" sz="2000" dirty="0"/>
          </a:p>
        </p:txBody>
      </p:sp>
      <p:sp>
        <p:nvSpPr>
          <p:cNvPr id="16" name="bt-1"/>
          <p:cNvSpPr/>
          <p:nvPr/>
        </p:nvSpPr>
        <p:spPr>
          <a:xfrm>
            <a:off x="6355080" y="4416552"/>
            <a:ext cx="5120640" cy="155448"/>
          </a:xfrm>
          <a:prstGeom prst="rect">
            <a:avLst/>
          </a:prstGeom>
          <a:solidFill>
            <a:srgbClr val="16323A"/>
          </a:solidFill>
          <a:ln w="12700">
            <a:solidFill>
              <a:srgbClr val="16323A"/>
            </a:solidFill>
            <a:prstDash val="solid"/>
          </a:ln>
        </p:spPr>
      </p:sp>
      <p:sp>
        <p:nvSpPr>
          <p:cNvPr id="17" name="bf-1"/>
          <p:cNvSpPr/>
          <p:nvPr/>
        </p:nvSpPr>
        <p:spPr>
          <a:xfrm>
            <a:off x="6355080" y="4416552"/>
            <a:ext cx="5120640" cy="155448"/>
          </a:xfrm>
          <a:prstGeom prst="rect">
            <a:avLst/>
          </a:prstGeom>
          <a:solidFill>
            <a:srgbClr val="E0B45A"/>
          </a:solidFill>
          <a:ln w="12700">
            <a:solidFill>
              <a:srgbClr val="E0B45A"/>
            </a:solidFill>
            <a:prstDash val="solid"/>
          </a:ln>
        </p:spPr>
      </p:sp>
      <p:sp>
        <p:nvSpPr>
          <p:cNvPr id="18" name="bn-1"/>
          <p:cNvSpPr txBox="1"/>
          <p:nvPr/>
        </p:nvSpPr>
        <p:spPr>
          <a:xfrm>
            <a:off x="6355080" y="4617720"/>
            <a:ext cx="5120640" cy="256032"/>
          </a:xfrm>
          <a:prstGeom prst="rect">
            <a:avLst/>
          </a:prstGeom>
          <a:noFill/>
          <a:ln/>
        </p:spPr>
        <p:txBody>
          <a:bodyPr wrap="square" lIns="0" tIns="0" rIns="0" bIns="0" rtlCol="0" anchor="ctr"/>
          <a:lstStyle/>
          <a:p>
            <a:pPr indent="0" marL="0">
              <a:buNone/>
            </a:pPr>
            <a:r>
              <a:rPr lang="en-US" sz="1100" i="1" dirty="0">
                <a:solidFill>
                  <a:srgbClr val="8FA7AD"/>
                </a:solidFill>
              </a:rPr>
              <a:t>evaporator energy falls proportionally</a:t>
            </a:r>
            <a:endParaRPr lang="en-US" sz="1100" dirty="0"/>
          </a:p>
        </p:txBody>
      </p:sp>
      <p:sp>
        <p:nvSpPr>
          <p:cNvPr id="19" name="card-caveat"/>
          <p:cNvSpPr/>
          <p:nvPr/>
        </p:nvSpPr>
        <p:spPr>
          <a:xfrm>
            <a:off x="685800" y="4315968"/>
            <a:ext cx="5120640" cy="1371600"/>
          </a:xfrm>
          <a:prstGeom prst="roundRect">
            <a:avLst>
              <a:gd name="adj" fmla="val 2667"/>
            </a:avLst>
          </a:prstGeom>
          <a:solidFill>
            <a:srgbClr val="16323A"/>
          </a:solidFill>
          <a:ln w="9525">
            <a:solidFill>
              <a:srgbClr val="2A5460"/>
            </a:solidFill>
            <a:prstDash val="solid"/>
          </a:ln>
        </p:spPr>
      </p:sp>
      <p:sp>
        <p:nvSpPr>
          <p:cNvPr id="20" name="cav-h"/>
          <p:cNvSpPr txBox="1"/>
          <p:nvPr/>
        </p:nvSpPr>
        <p:spPr>
          <a:xfrm>
            <a:off x="960120" y="4480560"/>
            <a:ext cx="4572000" cy="274320"/>
          </a:xfrm>
          <a:prstGeom prst="rect">
            <a:avLst/>
          </a:prstGeom>
          <a:noFill/>
          <a:ln/>
        </p:spPr>
        <p:txBody>
          <a:bodyPr wrap="square" lIns="0" tIns="0" rIns="0" bIns="0" rtlCol="0" anchor="ctr"/>
          <a:lstStyle/>
          <a:p>
            <a:pPr indent="0" marL="0">
              <a:buNone/>
            </a:pPr>
            <a:r>
              <a:rPr lang="en-US" sz="1300" b="1" dirty="0">
                <a:solidFill>
                  <a:srgbClr val="E0B45A"/>
                </a:solidFill>
                <a:latin typeface="Cambria" pitchFamily="34" charset="0"/>
                <a:ea typeface="Cambria" pitchFamily="34" charset="-122"/>
                <a:cs typeface="Cambria" pitchFamily="34" charset="-120"/>
              </a:rPr>
              <a:t>And where it stops</a:t>
            </a:r>
            <a:endParaRPr lang="en-US" sz="1300" dirty="0"/>
          </a:p>
        </p:txBody>
      </p:sp>
      <p:sp>
        <p:nvSpPr>
          <p:cNvPr id="21" name="cav-b"/>
          <p:cNvSpPr txBox="1"/>
          <p:nvPr/>
        </p:nvSpPr>
        <p:spPr>
          <a:xfrm>
            <a:off x="960120" y="4791456"/>
            <a:ext cx="4572000" cy="822960"/>
          </a:xfrm>
          <a:prstGeom prst="rect">
            <a:avLst/>
          </a:prstGeom>
          <a:noFill/>
          <a:ln/>
        </p:spPr>
        <p:txBody>
          <a:bodyPr wrap="square" lIns="0" tIns="0" rIns="0" bIns="0" rtlCol="0" anchor="t"/>
          <a:lstStyle/>
          <a:p>
            <a:pPr indent="0" marL="0">
              <a:buNone/>
            </a:pPr>
            <a:r>
              <a:rPr lang="en-US" sz="1150" dirty="0">
                <a:solidFill>
                  <a:srgbClr val="B7CBD0"/>
                </a:solidFill>
              </a:rPr>
              <a:t>Below a crossover the membrane hydraulic floor takes over and cutting salt buys nothing further. A product claiming that cutting salt always wins would be wrong, so the engine reports which constraint binds on every stream.</a:t>
            </a:r>
            <a:endParaRPr lang="en-US" sz="1150" dirty="0"/>
          </a:p>
        </p:txBody>
      </p:sp>
      <p:sp>
        <p:nvSpPr>
          <p:cNvPr id="22" name="insight-concl"/>
          <p:cNvSpPr txBox="1"/>
          <p:nvPr/>
        </p:nvSpPr>
        <p:spPr>
          <a:xfrm>
            <a:off x="685800" y="5870448"/>
            <a:ext cx="10789920" cy="566928"/>
          </a:xfrm>
          <a:prstGeom prst="rect">
            <a:avLst/>
          </a:prstGeom>
          <a:noFill/>
          <a:ln/>
        </p:spPr>
        <p:txBody>
          <a:bodyPr wrap="square" lIns="0" tIns="0" rIns="0" bIns="0" rtlCol="0" anchor="t"/>
          <a:lstStyle/>
          <a:p>
            <a:pPr indent="0" marL="0">
              <a:buNone/>
            </a:pPr>
            <a:r>
              <a:rPr lang="en-US" sz="1400" b="1" dirty="0">
                <a:solidFill>
                  <a:srgbClr val="FFFFFF"/>
                </a:solidFill>
              </a:rPr>
              <a:t>Cutting water without cutting salt does not cut evaporator energy. Because the loop is closed, freshwater makeup equals exactly what was evaporated — so freshwater, evaporator load and carbon are the same number.</a:t>
            </a:r>
            <a:endParaRPr lang="en-US" sz="1400" dirty="0"/>
          </a:p>
        </p:txBody>
      </p:sp>
      <p:sp>
        <p:nvSpPr>
          <p:cNvPr id="25" name="Slide Number Placeholder 0"/>
          <p:cNvSpPr>
            <a:spLocks noGrp="1"/>
          </p:cNvSpPr>
          <p:nvPr>
            <p:ph type="sldNum" sz="quarter" idx="4294967295"/>
          </p:nvPr>
        </p:nvSpPr>
        <p:spPr>
          <a:xfrm>
            <a:off x="114757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E858B"/>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384048"/>
            <a:ext cx="10789920" cy="274320"/>
          </a:xfrm>
          <a:prstGeom prst="rect">
            <a:avLst/>
          </a:prstGeom>
          <a:noFill/>
          <a:ln/>
        </p:spPr>
        <p:txBody>
          <a:bodyPr wrap="square" rtlCol="0"/>
          <a:lstStyle/>
          <a:p>
            <a:pPr indent="0" marL="0">
              <a:buNone/>
            </a:pPr>
            <a:r>
              <a:rPr lang="en-US" sz="1100" b="1" spc="200" kern="0" dirty="0">
                <a:solidFill>
                  <a:srgbClr val="1A6B7C"/>
                </a:solidFill>
              </a:rPr>
              <a:t>THE SOLUTION</a:t>
            </a:r>
            <a:endParaRPr lang="en-US" sz="1100" dirty="0"/>
          </a:p>
        </p:txBody>
      </p:sp>
      <p:sp>
        <p:nvSpPr>
          <p:cNvPr id="3" name="Text 0"/>
          <p:cNvSpPr/>
          <p:nvPr>
            <p:ph idx="101" type="title" hasCustomPrompt="1"/>
          </p:nvPr>
        </p:nvSpPr>
        <p:spPr>
          <a:xfrm>
            <a:off x="685800" y="658368"/>
            <a:ext cx="10789920" cy="932688"/>
          </a:xfrm>
          <a:prstGeom prst="rect">
            <a:avLst/>
          </a:prstGeom>
          <a:noFill/>
          <a:ln/>
        </p:spPr>
        <p:txBody>
          <a:bodyPr wrap="square" rtlCol="0" anchor="t"/>
          <a:lstStyle/>
          <a:p>
            <a:pPr algn="l" indent="0" marL="0">
              <a:buNone/>
            </a:pPr>
            <a:r>
              <a:rPr lang="en-US" sz="3100" b="1" dirty="0">
                <a:solidFill>
                  <a:srgbClr val="0E2127"/>
                </a:solidFill>
              </a:rPr>
              <a:t>Tonight’s evaporator bill, priced this morning</a:t>
            </a:r>
            <a:endParaRPr lang="en-US" sz="3100" dirty="0"/>
          </a:p>
        </p:txBody>
      </p:sp>
      <p:sp>
        <p:nvSpPr>
          <p:cNvPr id="4" name="Text 0"/>
          <p:cNvSpPr/>
          <p:nvPr>
            <p:ph idx="102" type="body" hasCustomPrompt="1"/>
          </p:nvPr>
        </p:nvSpPr>
        <p:spPr>
          <a:xfrm>
            <a:off x="685800" y="1664208"/>
            <a:ext cx="10332720" cy="548640"/>
          </a:xfrm>
          <a:prstGeom prst="rect">
            <a:avLst/>
          </a:prstGeom>
          <a:noFill/>
          <a:ln/>
        </p:spPr>
        <p:txBody>
          <a:bodyPr wrap="square" rtlCol="0" anchor="t"/>
          <a:lstStyle/>
          <a:p>
            <a:pPr algn="l" indent="0" marL="0">
              <a:buNone/>
            </a:pPr>
            <a:r>
              <a:rPr lang="en-US" sz="1450" dirty="0">
                <a:solidFill>
                  <a:srgbClr val="44555A"/>
                </a:solidFill>
              </a:rPr>
              <a:t>A decision layer, not a dashboard. It scores every feasible plan on the whole downstream consequence.</a:t>
            </a:r>
            <a:endParaRPr lang="en-US" sz="1450" dirty="0"/>
          </a:p>
        </p:txBody>
      </p:sp>
      <p:sp>
        <p:nvSpPr>
          <p:cNvPr id="5" name="fv-fresh"/>
          <p:cNvSpPr/>
          <p:nvPr/>
        </p:nvSpPr>
        <p:spPr>
          <a:xfrm>
            <a:off x="1341015" y="3538728"/>
            <a:ext cx="152610" cy="1417320"/>
          </a:xfrm>
          <a:prstGeom prst="rect">
            <a:avLst/>
          </a:prstGeom>
          <a:solidFill>
            <a:srgbClr val="AFD2DA"/>
          </a:solidFill>
          <a:ln w="12700">
            <a:solidFill>
              <a:srgbClr val="AFD2DA"/>
            </a:solidFill>
            <a:prstDash val="solid"/>
          </a:ln>
        </p:spPr>
      </p:sp>
      <p:sp>
        <p:nvSpPr>
          <p:cNvPr id="6" name="fresh-lbl"/>
          <p:cNvSpPr txBox="1"/>
          <p:nvPr/>
        </p:nvSpPr>
        <p:spPr>
          <a:xfrm>
            <a:off x="713232" y="4992624"/>
            <a:ext cx="2743200" cy="256032"/>
          </a:xfrm>
          <a:prstGeom prst="rect">
            <a:avLst/>
          </a:prstGeom>
          <a:noFill/>
          <a:ln/>
        </p:spPr>
        <p:txBody>
          <a:bodyPr wrap="square" lIns="0" tIns="0" rIns="0" bIns="0" rtlCol="0" anchor="ctr"/>
          <a:lstStyle/>
          <a:p>
            <a:pPr indent="0" marL="0">
              <a:buNone/>
            </a:pPr>
            <a:r>
              <a:rPr lang="en-US" sz="1050" b="1" dirty="0">
                <a:solidFill>
                  <a:srgbClr val="14525F"/>
                </a:solidFill>
              </a:rPr>
              <a:t>10,863 L</a:t>
            </a:r>
            <a:pPr indent="0" marL="0">
              <a:buNone/>
            </a:pPr>
            <a:r>
              <a:rPr lang="en-US" sz="1050" dirty="0">
                <a:solidFill>
                  <a:srgbClr val="6B8086"/>
                </a:solidFill>
              </a:rPr>
              <a:t>  freshwater makeup</a:t>
            </a:r>
            <a:endParaRPr lang="en-US" sz="1050" dirty="0"/>
          </a:p>
        </p:txBody>
      </p:sp>
      <p:sp>
        <p:nvSpPr>
          <p:cNvPr id="7" name="fn-dye"/>
          <p:cNvSpPr/>
          <p:nvPr/>
        </p:nvSpPr>
        <p:spPr>
          <a:xfrm>
            <a:off x="685800" y="2926080"/>
            <a:ext cx="1783080" cy="768096"/>
          </a:xfrm>
          <a:prstGeom prst="roundRect">
            <a:avLst>
              <a:gd name="adj" fmla="val 3571"/>
            </a:avLst>
          </a:prstGeom>
          <a:solidFill>
            <a:srgbClr val="E3EFF2"/>
          </a:solidFill>
          <a:ln w="13970">
            <a:solidFill>
              <a:srgbClr val="9FC4CC"/>
            </a:solidFill>
            <a:prstDash val="solid"/>
          </a:ln>
        </p:spPr>
      </p:sp>
      <p:sp>
        <p:nvSpPr>
          <p:cNvPr id="8" name="fnt-dye"/>
          <p:cNvSpPr txBox="1"/>
          <p:nvPr/>
        </p:nvSpPr>
        <p:spPr>
          <a:xfrm>
            <a:off x="795528" y="2999232"/>
            <a:ext cx="1563624" cy="274320"/>
          </a:xfrm>
          <a:prstGeom prst="rect">
            <a:avLst/>
          </a:prstGeom>
          <a:noFill/>
          <a:ln/>
        </p:spPr>
        <p:txBody>
          <a:bodyPr wrap="square" lIns="0" tIns="0" rIns="0" bIns="0" rtlCol="0" anchor="ctr"/>
          <a:lstStyle/>
          <a:p>
            <a:pPr indent="0" marL="0">
              <a:buNone/>
            </a:pPr>
            <a:r>
              <a:rPr lang="en-US" sz="1150" b="1" dirty="0">
                <a:solidFill>
                  <a:srgbClr val="0E2127"/>
                </a:solidFill>
              </a:rPr>
              <a:t>Dyehouse</a:t>
            </a:r>
            <a:endParaRPr lang="en-US" sz="1150" dirty="0"/>
          </a:p>
        </p:txBody>
      </p:sp>
      <p:sp>
        <p:nvSpPr>
          <p:cNvPr id="9" name="fnv-dye"/>
          <p:cNvSpPr txBox="1"/>
          <p:nvPr/>
        </p:nvSpPr>
        <p:spPr>
          <a:xfrm>
            <a:off x="795528" y="3255264"/>
            <a:ext cx="1563624" cy="256032"/>
          </a:xfrm>
          <a:prstGeom prst="rect">
            <a:avLst/>
          </a:prstGeom>
          <a:noFill/>
          <a:ln/>
        </p:spPr>
        <p:txBody>
          <a:bodyPr wrap="square" lIns="0" tIns="0" rIns="0" bIns="0" rtlCol="0" anchor="ctr"/>
          <a:lstStyle/>
          <a:p>
            <a:pPr indent="0" marL="0">
              <a:buNone/>
            </a:pPr>
            <a:r>
              <a:rPr lang="en-US" sz="1100" b="1" dirty="0">
                <a:solidFill>
                  <a:srgbClr val="14525F"/>
                </a:solidFill>
                <a:latin typeface="Courier New" pitchFamily="34" charset="0"/>
                <a:ea typeface="Courier New" pitchFamily="34" charset="-122"/>
                <a:cs typeface="Courier New" pitchFamily="34" charset="-120"/>
              </a:rPr>
              <a:t>40,773</a:t>
            </a:r>
            <a:pPr indent="0" marL="0">
              <a:buNone/>
            </a:pPr>
            <a:r>
              <a:rPr lang="en-US" sz="1100" dirty="0">
                <a:solidFill>
                  <a:srgbClr val="6B8086"/>
                </a:solidFill>
                <a:latin typeface="Courier New" pitchFamily="34" charset="0"/>
                <a:ea typeface="Courier New" pitchFamily="34" charset="-122"/>
                <a:cs typeface="Courier New" pitchFamily="34" charset="-120"/>
              </a:rPr>
              <a:t>  L demand</a:t>
            </a:r>
            <a:endParaRPr lang="en-US" sz="1100" dirty="0"/>
          </a:p>
        </p:txBody>
      </p:sp>
      <p:sp>
        <p:nvSpPr>
          <p:cNvPr id="10" name="fb-demand"/>
          <p:cNvSpPr/>
          <p:nvPr/>
        </p:nvSpPr>
        <p:spPr>
          <a:xfrm>
            <a:off x="2468880" y="3092958"/>
            <a:ext cx="1600200" cy="434340"/>
          </a:xfrm>
          <a:prstGeom prst="rect">
            <a:avLst/>
          </a:prstGeom>
          <a:solidFill>
            <a:srgbClr val="2E8A9C"/>
          </a:solidFill>
          <a:ln w="12700">
            <a:solidFill>
              <a:srgbClr val="2E8A9C"/>
            </a:solidFill>
            <a:prstDash val="solid"/>
          </a:ln>
        </p:spPr>
      </p:sp>
      <p:sp>
        <p:nvSpPr>
          <p:cNvPr id="11" name="fn-ro"/>
          <p:cNvSpPr/>
          <p:nvPr/>
        </p:nvSpPr>
        <p:spPr>
          <a:xfrm>
            <a:off x="4069080" y="2926080"/>
            <a:ext cx="1371600" cy="768096"/>
          </a:xfrm>
          <a:prstGeom prst="roundRect">
            <a:avLst>
              <a:gd name="adj" fmla="val 3571"/>
            </a:avLst>
          </a:prstGeom>
          <a:solidFill>
            <a:srgbClr val="E3EFF2"/>
          </a:solidFill>
          <a:ln w="13970">
            <a:solidFill>
              <a:srgbClr val="9FC4CC"/>
            </a:solidFill>
            <a:prstDash val="solid"/>
          </a:ln>
        </p:spPr>
      </p:sp>
      <p:sp>
        <p:nvSpPr>
          <p:cNvPr id="12" name="fnt-ro"/>
          <p:cNvSpPr txBox="1"/>
          <p:nvPr/>
        </p:nvSpPr>
        <p:spPr>
          <a:xfrm>
            <a:off x="4178808" y="2999232"/>
            <a:ext cx="1152144" cy="274320"/>
          </a:xfrm>
          <a:prstGeom prst="rect">
            <a:avLst/>
          </a:prstGeom>
          <a:noFill/>
          <a:ln/>
        </p:spPr>
        <p:txBody>
          <a:bodyPr wrap="square" lIns="0" tIns="0" rIns="0" bIns="0" rtlCol="0" anchor="ctr"/>
          <a:lstStyle/>
          <a:p>
            <a:pPr indent="0" marL="0">
              <a:buNone/>
            </a:pPr>
            <a:r>
              <a:rPr lang="en-US" sz="1150" b="1" dirty="0">
                <a:solidFill>
                  <a:srgbClr val="0E2127"/>
                </a:solidFill>
              </a:rPr>
              <a:t>RO</a:t>
            </a:r>
            <a:endParaRPr lang="en-US" sz="1150" dirty="0"/>
          </a:p>
        </p:txBody>
      </p:sp>
      <p:sp>
        <p:nvSpPr>
          <p:cNvPr id="13" name="fnv-ro"/>
          <p:cNvSpPr txBox="1"/>
          <p:nvPr/>
        </p:nvSpPr>
        <p:spPr>
          <a:xfrm>
            <a:off x="4178808" y="3255264"/>
            <a:ext cx="1152144" cy="256032"/>
          </a:xfrm>
          <a:prstGeom prst="rect">
            <a:avLst/>
          </a:prstGeom>
          <a:noFill/>
          <a:ln/>
        </p:spPr>
        <p:txBody>
          <a:bodyPr wrap="square" lIns="0" tIns="0" rIns="0" bIns="0" rtlCol="0" anchor="ctr"/>
          <a:lstStyle/>
          <a:p>
            <a:pPr indent="0" marL="0">
              <a:buNone/>
            </a:pPr>
            <a:r>
              <a:rPr lang="en-US" sz="1100" b="1" dirty="0">
                <a:solidFill>
                  <a:srgbClr val="14525F"/>
                </a:solidFill>
                <a:latin typeface="Courier New" pitchFamily="34" charset="0"/>
                <a:ea typeface="Courier New" pitchFamily="34" charset="-122"/>
                <a:cs typeface="Courier New" pitchFamily="34" charset="-120"/>
              </a:rPr>
              <a:t>73.4%</a:t>
            </a:r>
            <a:pPr indent="0" marL="0">
              <a:buNone/>
            </a:pPr>
            <a:r>
              <a:rPr lang="en-US" sz="1100" dirty="0">
                <a:solidFill>
                  <a:srgbClr val="6B8086"/>
                </a:solidFill>
                <a:latin typeface="Courier New" pitchFamily="34" charset="0"/>
                <a:ea typeface="Courier New" pitchFamily="34" charset="-122"/>
                <a:cs typeface="Courier New" pitchFamily="34" charset="-120"/>
              </a:rPr>
              <a:t>  recovery</a:t>
            </a:r>
            <a:endParaRPr lang="en-US" sz="1100" dirty="0"/>
          </a:p>
        </p:txBody>
      </p:sp>
      <p:sp>
        <p:nvSpPr>
          <p:cNvPr id="14" name="fv-riser"/>
          <p:cNvSpPr/>
          <p:nvPr/>
        </p:nvSpPr>
        <p:spPr>
          <a:xfrm>
            <a:off x="5719572" y="2487168"/>
            <a:ext cx="45720" cy="1737360"/>
          </a:xfrm>
          <a:prstGeom prst="rect">
            <a:avLst/>
          </a:prstGeom>
          <a:solidFill>
            <a:srgbClr val="C6D4D7"/>
          </a:solidFill>
          <a:ln w="12700">
            <a:solidFill>
              <a:srgbClr val="C6D4D7"/>
            </a:solidFill>
            <a:prstDash val="solid"/>
          </a:ln>
        </p:spPr>
      </p:sp>
      <p:sp>
        <p:nvSpPr>
          <p:cNvPr id="15" name="fb-split"/>
          <p:cNvSpPr/>
          <p:nvPr/>
        </p:nvSpPr>
        <p:spPr>
          <a:xfrm>
            <a:off x="5440680" y="3100639"/>
            <a:ext cx="320040" cy="418978"/>
          </a:xfrm>
          <a:prstGeom prst="rect">
            <a:avLst/>
          </a:prstGeom>
          <a:solidFill>
            <a:srgbClr val="C6D4D7"/>
          </a:solidFill>
          <a:ln w="12700">
            <a:solidFill>
              <a:srgbClr val="C6D4D7"/>
            </a:solidFill>
            <a:prstDash val="solid"/>
          </a:ln>
        </p:spPr>
      </p:sp>
      <p:sp>
        <p:nvSpPr>
          <p:cNvPr id="16" name="fb-reuse"/>
          <p:cNvSpPr/>
          <p:nvPr/>
        </p:nvSpPr>
        <p:spPr>
          <a:xfrm>
            <a:off x="5742432" y="2321157"/>
            <a:ext cx="1709928" cy="332022"/>
          </a:xfrm>
          <a:prstGeom prst="rect">
            <a:avLst/>
          </a:prstGeom>
          <a:solidFill>
            <a:srgbClr val="2E8A54"/>
          </a:solidFill>
          <a:ln w="12700">
            <a:solidFill>
              <a:srgbClr val="2E8A54"/>
            </a:solidFill>
            <a:prstDash val="solid"/>
          </a:ln>
        </p:spPr>
      </p:sp>
      <p:sp>
        <p:nvSpPr>
          <p:cNvPr id="17" name="fn-reuse"/>
          <p:cNvSpPr/>
          <p:nvPr/>
        </p:nvSpPr>
        <p:spPr>
          <a:xfrm>
            <a:off x="7452360" y="2139696"/>
            <a:ext cx="1691640" cy="694944"/>
          </a:xfrm>
          <a:prstGeom prst="roundRect">
            <a:avLst>
              <a:gd name="adj" fmla="val 3947"/>
            </a:avLst>
          </a:prstGeom>
          <a:solidFill>
            <a:srgbClr val="FFFFFF"/>
          </a:solidFill>
          <a:ln w="9525">
            <a:solidFill>
              <a:srgbClr val="D3DFE1"/>
            </a:solidFill>
            <a:prstDash val="solid"/>
          </a:ln>
        </p:spPr>
      </p:sp>
      <p:sp>
        <p:nvSpPr>
          <p:cNvPr id="18" name="fnt-reuse"/>
          <p:cNvSpPr txBox="1"/>
          <p:nvPr/>
        </p:nvSpPr>
        <p:spPr>
          <a:xfrm>
            <a:off x="7562088" y="2212848"/>
            <a:ext cx="1472184" cy="274320"/>
          </a:xfrm>
          <a:prstGeom prst="rect">
            <a:avLst/>
          </a:prstGeom>
          <a:noFill/>
          <a:ln/>
        </p:spPr>
        <p:txBody>
          <a:bodyPr wrap="square" lIns="0" tIns="0" rIns="0" bIns="0" rtlCol="0" anchor="ctr"/>
          <a:lstStyle/>
          <a:p>
            <a:pPr indent="0" marL="0">
              <a:buNone/>
            </a:pPr>
            <a:r>
              <a:rPr lang="en-US" sz="1150" b="1" dirty="0">
                <a:solidFill>
                  <a:srgbClr val="0E2127"/>
                </a:solidFill>
              </a:rPr>
              <a:t>Permeate reused</a:t>
            </a:r>
            <a:endParaRPr lang="en-US" sz="1150" dirty="0"/>
          </a:p>
        </p:txBody>
      </p:sp>
      <p:sp>
        <p:nvSpPr>
          <p:cNvPr id="19" name="fnv-reuse"/>
          <p:cNvSpPr txBox="1"/>
          <p:nvPr/>
        </p:nvSpPr>
        <p:spPr>
          <a:xfrm>
            <a:off x="7562088" y="2468880"/>
            <a:ext cx="1472184" cy="256032"/>
          </a:xfrm>
          <a:prstGeom prst="rect">
            <a:avLst/>
          </a:prstGeom>
          <a:noFill/>
          <a:ln/>
        </p:spPr>
        <p:txBody>
          <a:bodyPr wrap="square" lIns="0" tIns="0" rIns="0" bIns="0" rtlCol="0" anchor="ctr"/>
          <a:lstStyle/>
          <a:p>
            <a:pPr indent="0" marL="0">
              <a:buNone/>
            </a:pPr>
            <a:r>
              <a:rPr lang="en-US" sz="1100" b="1" dirty="0">
                <a:solidFill>
                  <a:srgbClr val="14525F"/>
                </a:solidFill>
                <a:latin typeface="Courier New" pitchFamily="34" charset="0"/>
                <a:ea typeface="Courier New" pitchFamily="34" charset="-122"/>
                <a:cs typeface="Courier New" pitchFamily="34" charset="-120"/>
              </a:rPr>
              <a:t>29,910</a:t>
            </a:r>
            <a:pPr indent="0" marL="0">
              <a:buNone/>
            </a:pPr>
            <a:r>
              <a:rPr lang="en-US" sz="1100" dirty="0">
                <a:solidFill>
                  <a:srgbClr val="6B8086"/>
                </a:solidFill>
                <a:latin typeface="Courier New" pitchFamily="34" charset="0"/>
                <a:ea typeface="Courier New" pitchFamily="34" charset="-122"/>
                <a:cs typeface="Courier New" pitchFamily="34" charset="-120"/>
              </a:rPr>
              <a:t>  L</a:t>
            </a:r>
            <a:endParaRPr lang="en-US" sz="1100" dirty="0"/>
          </a:p>
        </p:txBody>
      </p:sp>
      <p:sp>
        <p:nvSpPr>
          <p:cNvPr id="20" name="fb-reject"/>
          <p:cNvSpPr/>
          <p:nvPr/>
        </p:nvSpPr>
        <p:spPr>
          <a:xfrm>
            <a:off x="5742432" y="4148223"/>
            <a:ext cx="1709928" cy="152610"/>
          </a:xfrm>
          <a:prstGeom prst="rect">
            <a:avLst/>
          </a:prstGeom>
          <a:solidFill>
            <a:srgbClr val="C08A2E"/>
          </a:solidFill>
          <a:ln w="12700">
            <a:solidFill>
              <a:srgbClr val="C08A2E"/>
            </a:solidFill>
            <a:prstDash val="solid"/>
          </a:ln>
        </p:spPr>
      </p:sp>
      <p:sp>
        <p:nvSpPr>
          <p:cNvPr id="21" name="fn-rej"/>
          <p:cNvSpPr/>
          <p:nvPr/>
        </p:nvSpPr>
        <p:spPr>
          <a:xfrm>
            <a:off x="7452360" y="3877056"/>
            <a:ext cx="1691640" cy="694944"/>
          </a:xfrm>
          <a:prstGeom prst="roundRect">
            <a:avLst>
              <a:gd name="adj" fmla="val 3947"/>
            </a:avLst>
          </a:prstGeom>
          <a:solidFill>
            <a:srgbClr val="FFFFFF"/>
          </a:solidFill>
          <a:ln w="9525">
            <a:solidFill>
              <a:srgbClr val="D3DFE1"/>
            </a:solidFill>
            <a:prstDash val="solid"/>
          </a:ln>
        </p:spPr>
      </p:sp>
      <p:sp>
        <p:nvSpPr>
          <p:cNvPr id="22" name="fnt-rej"/>
          <p:cNvSpPr txBox="1"/>
          <p:nvPr/>
        </p:nvSpPr>
        <p:spPr>
          <a:xfrm>
            <a:off x="7562088" y="3950208"/>
            <a:ext cx="1472184" cy="274320"/>
          </a:xfrm>
          <a:prstGeom prst="rect">
            <a:avLst/>
          </a:prstGeom>
          <a:noFill/>
          <a:ln/>
        </p:spPr>
        <p:txBody>
          <a:bodyPr wrap="square" lIns="0" tIns="0" rIns="0" bIns="0" rtlCol="0" anchor="ctr"/>
          <a:lstStyle/>
          <a:p>
            <a:pPr indent="0" marL="0">
              <a:buNone/>
            </a:pPr>
            <a:r>
              <a:rPr lang="en-US" sz="1150" b="1" dirty="0">
                <a:solidFill>
                  <a:srgbClr val="0E2127"/>
                </a:solidFill>
              </a:rPr>
              <a:t>Reject evaporated</a:t>
            </a:r>
            <a:endParaRPr lang="en-US" sz="1150" dirty="0"/>
          </a:p>
        </p:txBody>
      </p:sp>
      <p:sp>
        <p:nvSpPr>
          <p:cNvPr id="23" name="fnv-rej"/>
          <p:cNvSpPr txBox="1"/>
          <p:nvPr/>
        </p:nvSpPr>
        <p:spPr>
          <a:xfrm>
            <a:off x="7562088" y="4206240"/>
            <a:ext cx="1472184" cy="256032"/>
          </a:xfrm>
          <a:prstGeom prst="rect">
            <a:avLst/>
          </a:prstGeom>
          <a:noFill/>
          <a:ln/>
        </p:spPr>
        <p:txBody>
          <a:bodyPr wrap="square" lIns="0" tIns="0" rIns="0" bIns="0" rtlCol="0" anchor="ctr"/>
          <a:lstStyle/>
          <a:p>
            <a:pPr indent="0" marL="0">
              <a:buNone/>
            </a:pPr>
            <a:r>
              <a:rPr lang="en-US" sz="1100" b="1" dirty="0">
                <a:solidFill>
                  <a:srgbClr val="14525F"/>
                </a:solidFill>
                <a:latin typeface="Courier New" pitchFamily="34" charset="0"/>
                <a:ea typeface="Courier New" pitchFamily="34" charset="-122"/>
                <a:cs typeface="Courier New" pitchFamily="34" charset="-120"/>
              </a:rPr>
              <a:t>10,863</a:t>
            </a:r>
            <a:pPr indent="0" marL="0">
              <a:buNone/>
            </a:pPr>
            <a:r>
              <a:rPr lang="en-US" sz="1100" dirty="0">
                <a:solidFill>
                  <a:srgbClr val="6B8086"/>
                </a:solidFill>
                <a:latin typeface="Courier New" pitchFamily="34" charset="0"/>
                <a:ea typeface="Courier New" pitchFamily="34" charset="-122"/>
                <a:cs typeface="Courier New" pitchFamily="34" charset="-120"/>
              </a:rPr>
              <a:t>  L</a:t>
            </a:r>
            <a:endParaRPr lang="en-US" sz="1100" dirty="0"/>
          </a:p>
        </p:txBody>
      </p:sp>
      <p:sp>
        <p:nvSpPr>
          <p:cNvPr id="24" name="fb-vapour"/>
          <p:cNvSpPr/>
          <p:nvPr/>
        </p:nvSpPr>
        <p:spPr>
          <a:xfrm>
            <a:off x="9144000" y="4148223"/>
            <a:ext cx="502920" cy="152610"/>
          </a:xfrm>
          <a:prstGeom prst="rect">
            <a:avLst/>
          </a:prstGeom>
          <a:solidFill>
            <a:srgbClr val="C2410C"/>
          </a:solidFill>
          <a:ln w="12700">
            <a:solidFill>
              <a:srgbClr val="C2410C"/>
            </a:solidFill>
            <a:prstDash val="solid"/>
          </a:ln>
        </p:spPr>
      </p:sp>
      <p:sp>
        <p:nvSpPr>
          <p:cNvPr id="25" name="fn-co2"/>
          <p:cNvSpPr/>
          <p:nvPr/>
        </p:nvSpPr>
        <p:spPr>
          <a:xfrm>
            <a:off x="9646920" y="3877056"/>
            <a:ext cx="1645920" cy="694944"/>
          </a:xfrm>
          <a:prstGeom prst="roundRect">
            <a:avLst>
              <a:gd name="adj" fmla="val 3947"/>
            </a:avLst>
          </a:prstGeom>
          <a:solidFill>
            <a:srgbClr val="FFFFFF"/>
          </a:solidFill>
          <a:ln w="9525">
            <a:solidFill>
              <a:srgbClr val="D3DFE1"/>
            </a:solidFill>
            <a:prstDash val="solid"/>
          </a:ln>
        </p:spPr>
      </p:sp>
      <p:sp>
        <p:nvSpPr>
          <p:cNvPr id="26" name="fnt-co2"/>
          <p:cNvSpPr txBox="1"/>
          <p:nvPr/>
        </p:nvSpPr>
        <p:spPr>
          <a:xfrm>
            <a:off x="9756648" y="3950208"/>
            <a:ext cx="1426464" cy="274320"/>
          </a:xfrm>
          <a:prstGeom prst="rect">
            <a:avLst/>
          </a:prstGeom>
          <a:noFill/>
          <a:ln/>
        </p:spPr>
        <p:txBody>
          <a:bodyPr wrap="square" lIns="0" tIns="0" rIns="0" bIns="0" rtlCol="0" anchor="ctr"/>
          <a:lstStyle/>
          <a:p>
            <a:pPr indent="0" marL="0">
              <a:buNone/>
            </a:pPr>
            <a:r>
              <a:rPr lang="en-US" sz="1150" b="1" dirty="0">
                <a:solidFill>
                  <a:srgbClr val="0E2127"/>
                </a:solidFill>
              </a:rPr>
              <a:t>Steam and CO₂</a:t>
            </a:r>
            <a:endParaRPr lang="en-US" sz="1150" dirty="0"/>
          </a:p>
        </p:txBody>
      </p:sp>
      <p:sp>
        <p:nvSpPr>
          <p:cNvPr id="27" name="fnv-co2"/>
          <p:cNvSpPr txBox="1"/>
          <p:nvPr/>
        </p:nvSpPr>
        <p:spPr>
          <a:xfrm>
            <a:off x="9756648" y="4206240"/>
            <a:ext cx="1426464" cy="256032"/>
          </a:xfrm>
          <a:prstGeom prst="rect">
            <a:avLst/>
          </a:prstGeom>
          <a:noFill/>
          <a:ln/>
        </p:spPr>
        <p:txBody>
          <a:bodyPr wrap="square" lIns="0" tIns="0" rIns="0" bIns="0" rtlCol="0" anchor="ctr"/>
          <a:lstStyle/>
          <a:p>
            <a:pPr indent="0" marL="0">
              <a:buNone/>
            </a:pPr>
            <a:r>
              <a:rPr lang="en-US" sz="1100" b="1" dirty="0">
                <a:solidFill>
                  <a:srgbClr val="14525F"/>
                </a:solidFill>
                <a:latin typeface="Courier New" pitchFamily="34" charset="0"/>
                <a:ea typeface="Courier New" pitchFamily="34" charset="-122"/>
                <a:cs typeface="Courier New" pitchFamily="34" charset="-120"/>
              </a:rPr>
              <a:t>2,043</a:t>
            </a:r>
            <a:pPr indent="0" marL="0">
              <a:buNone/>
            </a:pPr>
            <a:r>
              <a:rPr lang="en-US" sz="1100" dirty="0">
                <a:solidFill>
                  <a:srgbClr val="6B8086"/>
                </a:solidFill>
                <a:latin typeface="Courier New" pitchFamily="34" charset="0"/>
                <a:ea typeface="Courier New" pitchFamily="34" charset="-122"/>
                <a:cs typeface="Courier New" pitchFamily="34" charset="-120"/>
              </a:rPr>
              <a:t>  kWh th</a:t>
            </a:r>
            <a:endParaRPr lang="en-US" sz="1100" dirty="0"/>
          </a:p>
        </p:txBody>
      </p:sp>
      <p:sp>
        <p:nvSpPr>
          <p:cNvPr id="28" name="loop-a"/>
          <p:cNvSpPr/>
          <p:nvPr/>
        </p:nvSpPr>
        <p:spPr>
          <a:xfrm>
            <a:off x="8275320" y="2139696"/>
            <a:ext cx="0" cy="146304"/>
          </a:xfrm>
          <a:prstGeom prst="line">
            <a:avLst/>
          </a:prstGeom>
          <a:noFill/>
          <a:ln w="12700">
            <a:solidFill>
              <a:srgbClr val="2E8A54"/>
            </a:solidFill>
            <a:prstDash val="dash"/>
          </a:ln>
        </p:spPr>
      </p:sp>
      <p:sp>
        <p:nvSpPr>
          <p:cNvPr id="29" name="loop-b"/>
          <p:cNvSpPr/>
          <p:nvPr/>
        </p:nvSpPr>
        <p:spPr>
          <a:xfrm>
            <a:off x="1572768" y="2286000"/>
            <a:ext cx="6702552" cy="0"/>
          </a:xfrm>
          <a:prstGeom prst="line">
            <a:avLst/>
          </a:prstGeom>
          <a:noFill/>
          <a:ln w="12700">
            <a:solidFill>
              <a:srgbClr val="2E8A54"/>
            </a:solidFill>
            <a:prstDash val="dash"/>
          </a:ln>
        </p:spPr>
      </p:sp>
      <p:sp>
        <p:nvSpPr>
          <p:cNvPr id="30" name="loop-c"/>
          <p:cNvSpPr/>
          <p:nvPr/>
        </p:nvSpPr>
        <p:spPr>
          <a:xfrm>
            <a:off x="1572768" y="2286000"/>
            <a:ext cx="0" cy="640080"/>
          </a:xfrm>
          <a:prstGeom prst="line">
            <a:avLst/>
          </a:prstGeom>
          <a:noFill/>
          <a:ln w="12700">
            <a:solidFill>
              <a:srgbClr val="2E8A54"/>
            </a:solidFill>
            <a:prstDash val="dash"/>
          </a:ln>
        </p:spPr>
      </p:sp>
      <p:sp>
        <p:nvSpPr>
          <p:cNvPr id="31" name="loop-lbl"/>
          <p:cNvSpPr txBox="1"/>
          <p:nvPr/>
        </p:nvSpPr>
        <p:spPr>
          <a:xfrm>
            <a:off x="3840480" y="2066544"/>
            <a:ext cx="2743200" cy="219456"/>
          </a:xfrm>
          <a:prstGeom prst="rect">
            <a:avLst/>
          </a:prstGeom>
          <a:noFill/>
          <a:ln/>
        </p:spPr>
        <p:txBody>
          <a:bodyPr wrap="square" lIns="0" tIns="0" rIns="0" bIns="0" rtlCol="0" anchor="ctr"/>
          <a:lstStyle/>
          <a:p>
            <a:pPr algn="ctr" indent="0" marL="0">
              <a:buNone/>
            </a:pPr>
            <a:r>
              <a:rPr lang="en-US" sz="1000" i="1" dirty="0">
                <a:solidFill>
                  <a:srgbClr val="2E8A54"/>
                </a:solidFill>
              </a:rPr>
              <a:t>returns to the process</a:t>
            </a:r>
            <a:endParaRPr lang="en-US" sz="1000" dirty="0"/>
          </a:p>
        </p:txBody>
      </p:sp>
      <p:sp>
        <p:nvSpPr>
          <p:cNvPr id="32" name="flow-cap"/>
          <p:cNvSpPr txBox="1"/>
          <p:nvPr/>
        </p:nvSpPr>
        <p:spPr>
          <a:xfrm>
            <a:off x="685800" y="5285232"/>
            <a:ext cx="10789920" cy="310896"/>
          </a:xfrm>
          <a:prstGeom prst="rect">
            <a:avLst/>
          </a:prstGeom>
          <a:noFill/>
          <a:ln/>
        </p:spPr>
        <p:txBody>
          <a:bodyPr wrap="square" lIns="0" tIns="0" rIns="0" bIns="0" rtlCol="0" anchor="ctr"/>
          <a:lstStyle/>
          <a:p>
            <a:pPr indent="0" marL="0">
              <a:buNone/>
            </a:pPr>
            <a:r>
              <a:rPr lang="en-US" sz="1150" i="1" dirty="0">
                <a:solidFill>
                  <a:srgbClr val="55676C"/>
                </a:solidFill>
              </a:rPr>
              <a:t>Band thickness is volume. The loop that returns is fat; the freshwater top-up is thin — and it is exactly as thick as what the evaporator destroyed.</a:t>
            </a:r>
            <a:endParaRPr lang="en-US" sz="1150" dirty="0"/>
          </a:p>
        </p:txBody>
      </p:sp>
      <p:sp>
        <p:nvSpPr>
          <p:cNvPr id="33" name="two-dec"/>
          <p:cNvSpPr txBox="1"/>
          <p:nvPr/>
        </p:nvSpPr>
        <p:spPr>
          <a:xfrm>
            <a:off x="685800" y="5650992"/>
            <a:ext cx="10789920" cy="310896"/>
          </a:xfrm>
          <a:prstGeom prst="rect">
            <a:avLst/>
          </a:prstGeom>
          <a:noFill/>
          <a:ln/>
        </p:spPr>
        <p:txBody>
          <a:bodyPr wrap="square" lIns="0" tIns="0" rIns="0" bIns="0" rtlCol="0" anchor="ctr"/>
          <a:lstStyle/>
          <a:p>
            <a:pPr indent="0" marL="0">
              <a:buNone/>
            </a:pPr>
            <a:r>
              <a:rPr lang="en-US" sz="1700" b="1" dirty="0">
                <a:solidFill>
                  <a:srgbClr val="0E2127"/>
                </a:solidFill>
                <a:latin typeface="Cambria" pitchFamily="34" charset="0"/>
                <a:ea typeface="Cambria" pitchFamily="34" charset="-122"/>
                <a:cs typeface="Cambria" pitchFamily="34" charset="-120"/>
              </a:rPr>
              <a:t>Two decisions, each gated by a named human</a:t>
            </a:r>
            <a:endParaRPr lang="en-US" sz="1700" dirty="0"/>
          </a:p>
        </p:txBody>
      </p:sp>
      <p:sp>
        <p:nvSpPr>
          <p:cNvPr id="34" name="rn-1"/>
          <p:cNvSpPr txBox="1"/>
          <p:nvPr/>
        </p:nvSpPr>
        <p:spPr>
          <a:xfrm>
            <a:off x="685800" y="5998464"/>
            <a:ext cx="384048" cy="274320"/>
          </a:xfrm>
          <a:prstGeom prst="rect">
            <a:avLst/>
          </a:prstGeom>
          <a:noFill/>
          <a:ln/>
        </p:spPr>
        <p:txBody>
          <a:bodyPr wrap="square" lIns="0" tIns="0" rIns="0" bIns="0" rtlCol="0" anchor="ctr"/>
          <a:lstStyle/>
          <a:p>
            <a:pPr indent="0" marL="0">
              <a:buNone/>
            </a:pPr>
            <a:r>
              <a:rPr lang="en-US" sz="1200" b="1" dirty="0">
                <a:solidFill>
                  <a:srgbClr val="B98A2E"/>
                </a:solidFill>
                <a:latin typeface="Cambria" pitchFamily="34" charset="0"/>
                <a:ea typeface="Cambria" pitchFamily="34" charset="-122"/>
                <a:cs typeface="Cambria" pitchFamily="34" charset="-120"/>
              </a:rPr>
              <a:t>01</a:t>
            </a:r>
            <a:endParaRPr lang="en-US" sz="1200" dirty="0"/>
          </a:p>
        </p:txBody>
      </p:sp>
      <p:sp>
        <p:nvSpPr>
          <p:cNvPr id="35" name="rt-1"/>
          <p:cNvSpPr txBox="1"/>
          <p:nvPr/>
        </p:nvSpPr>
        <p:spPr>
          <a:xfrm>
            <a:off x="1097280" y="5980176"/>
            <a:ext cx="4709160" cy="566928"/>
          </a:xfrm>
          <a:prstGeom prst="rect">
            <a:avLst/>
          </a:prstGeom>
          <a:noFill/>
          <a:ln/>
        </p:spPr>
        <p:txBody>
          <a:bodyPr wrap="square" lIns="0" tIns="0" rIns="0" bIns="0" rtlCol="0" anchor="t"/>
          <a:lstStyle/>
          <a:p>
            <a:pPr indent="0" marL="0">
              <a:buNone/>
            </a:pPr>
            <a:r>
              <a:rPr lang="en-US" sz="1300" b="1" dirty="0">
                <a:solidFill>
                  <a:srgbClr val="0E2127"/>
                </a:solidFill>
              </a:rPr>
              <a:t>Which plan to run.  </a:t>
            </a:r>
            <a:pPr indent="0" marL="0">
              <a:buNone/>
            </a:pPr>
            <a:r>
              <a:rPr lang="en-US" sz="1300" dirty="0">
                <a:solidFill>
                  <a:srgbClr val="44555A"/>
                </a:solidFill>
              </a:rPr>
              <a:t>Lot order plus process strategy, scored on every consequence at once.</a:t>
            </a:r>
            <a:endParaRPr lang="en-US" sz="1300" dirty="0"/>
          </a:p>
        </p:txBody>
      </p:sp>
      <p:sp>
        <p:nvSpPr>
          <p:cNvPr id="36" name="rn-2"/>
          <p:cNvSpPr txBox="1"/>
          <p:nvPr/>
        </p:nvSpPr>
        <p:spPr>
          <a:xfrm>
            <a:off x="6355080" y="5998464"/>
            <a:ext cx="384048" cy="274320"/>
          </a:xfrm>
          <a:prstGeom prst="rect">
            <a:avLst/>
          </a:prstGeom>
          <a:noFill/>
          <a:ln/>
        </p:spPr>
        <p:txBody>
          <a:bodyPr wrap="square" lIns="0" tIns="0" rIns="0" bIns="0" rtlCol="0" anchor="ctr"/>
          <a:lstStyle/>
          <a:p>
            <a:pPr indent="0" marL="0">
              <a:buNone/>
            </a:pPr>
            <a:r>
              <a:rPr lang="en-US" sz="1200" b="1" dirty="0">
                <a:solidFill>
                  <a:srgbClr val="B98A2E"/>
                </a:solidFill>
                <a:latin typeface="Cambria" pitchFamily="34" charset="0"/>
                <a:ea typeface="Cambria" pitchFamily="34" charset="-122"/>
                <a:cs typeface="Cambria" pitchFamily="34" charset="-120"/>
              </a:rPr>
              <a:t>02</a:t>
            </a:r>
            <a:endParaRPr lang="en-US" sz="1200" dirty="0"/>
          </a:p>
        </p:txBody>
      </p:sp>
      <p:sp>
        <p:nvSpPr>
          <p:cNvPr id="37" name="rt-2"/>
          <p:cNvSpPr txBox="1"/>
          <p:nvPr/>
        </p:nvSpPr>
        <p:spPr>
          <a:xfrm>
            <a:off x="6766560" y="5980176"/>
            <a:ext cx="4709160" cy="566928"/>
          </a:xfrm>
          <a:prstGeom prst="rect">
            <a:avLst/>
          </a:prstGeom>
          <a:noFill/>
          <a:ln/>
        </p:spPr>
        <p:txBody>
          <a:bodyPr wrap="square" lIns="0" tIns="0" rIns="0" bIns="0" rtlCol="0" anchor="t"/>
          <a:lstStyle/>
          <a:p>
            <a:pPr indent="0" marL="0">
              <a:buNone/>
            </a:pPr>
            <a:r>
              <a:rPr lang="en-US" sz="1300" b="1" dirty="0">
                <a:solidFill>
                  <a:srgbClr val="0E2127"/>
                </a:solidFill>
              </a:rPr>
              <a:t>When wash-off is finished.  </a:t>
            </a:r>
            <a:pPr indent="0" marL="0">
              <a:buNone/>
            </a:pPr>
            <a:r>
              <a:rPr lang="en-US" sz="1300" dirty="0">
                <a:solidFill>
                  <a:srgbClr val="44555A"/>
                </a:solidFill>
              </a:rPr>
              <a:t>Releasing early on unfixed dye forces a re-process that costs more than it saved.</a:t>
            </a:r>
            <a:endParaRPr lang="en-US" sz="1300" dirty="0"/>
          </a:p>
        </p:txBody>
      </p:sp>
      <p:sp>
        <p:nvSpPr>
          <p:cNvPr id="39" name="Text 1"/>
          <p:cNvSpPr/>
          <p:nvPr>
            <p:ph idx="104" type="chart" hasCustomPrompt="1"/>
          </p:nvPr>
        </p:nvSpPr>
        <p:spPr>
          <a:xfrm>
            <a:off x="685800" y="2240280"/>
            <a:ext cx="10789920" cy="3931920"/>
          </a:xfrm>
          <a:prstGeom prst="rect">
            <a:avLst/>
          </a:prstGeom>
          <a:noFill/>
          <a:ln/>
        </p:spPr>
        <p:txBody>
          <a:bodyPr wrap="square" rtlCol="0"/>
          <a:lstStyle/>
          <a:p>
            <a:pPr indent="0" marL="0">
              <a:buNone/>
            </a:pPr>
            <a:endParaRPr lang="en-US" dirty="0"/>
          </a:p>
        </p:txBody>
      </p:sp>
      <p:sp>
        <p:nvSpPr>
          <p:cNvPr id="25" name="Slide Number Placeholder 0"/>
          <p:cNvSpPr>
            <a:spLocks noGrp="1"/>
          </p:cNvSpPr>
          <p:nvPr>
            <p:ph type="sldNum" sz="quarter" idx="4294967295"/>
          </p:nvPr>
        </p:nvSpPr>
        <p:spPr>
          <a:xfrm>
            <a:off x="114757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AAAAE"/>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384048"/>
            <a:ext cx="10789920" cy="274320"/>
          </a:xfrm>
          <a:prstGeom prst="rect">
            <a:avLst/>
          </a:prstGeom>
          <a:noFill/>
          <a:ln/>
        </p:spPr>
        <p:txBody>
          <a:bodyPr wrap="square" rtlCol="0"/>
          <a:lstStyle/>
          <a:p>
            <a:pPr indent="0" marL="0">
              <a:buNone/>
            </a:pPr>
            <a:r>
              <a:rPr lang="en-US" sz="1100" b="1" spc="200" kern="0" dirty="0">
                <a:solidFill>
                  <a:srgbClr val="1A6B7C"/>
                </a:solidFill>
              </a:rPr>
              <a:t>THE INNOVATION</a:t>
            </a:r>
            <a:endParaRPr lang="en-US" sz="1100" dirty="0"/>
          </a:p>
        </p:txBody>
      </p:sp>
      <p:sp>
        <p:nvSpPr>
          <p:cNvPr id="3" name="Text 0"/>
          <p:cNvSpPr/>
          <p:nvPr>
            <p:ph idx="101" type="title" hasCustomPrompt="1"/>
          </p:nvPr>
        </p:nvSpPr>
        <p:spPr>
          <a:xfrm>
            <a:off x="685800" y="658368"/>
            <a:ext cx="10789920" cy="932688"/>
          </a:xfrm>
          <a:prstGeom prst="rect">
            <a:avLst/>
          </a:prstGeom>
          <a:noFill/>
          <a:ln/>
        </p:spPr>
        <p:txBody>
          <a:bodyPr wrap="square" rtlCol="0" anchor="t"/>
          <a:lstStyle/>
          <a:p>
            <a:pPr algn="l" indent="0" marL="0">
              <a:buNone/>
            </a:pPr>
            <a:r>
              <a:rPr lang="en-US" sz="3100" b="1" dirty="0">
                <a:solidFill>
                  <a:srgbClr val="0E2127"/>
                </a:solidFill>
              </a:rPr>
              <a:t>Two levers that pull in opposite directions</a:t>
            </a:r>
            <a:endParaRPr lang="en-US" sz="3100" dirty="0"/>
          </a:p>
        </p:txBody>
      </p:sp>
      <p:sp>
        <p:nvSpPr>
          <p:cNvPr id="4" name="Text 0"/>
          <p:cNvSpPr/>
          <p:nvPr>
            <p:ph idx="102" type="body" hasCustomPrompt="1"/>
          </p:nvPr>
        </p:nvSpPr>
        <p:spPr>
          <a:xfrm>
            <a:off x="685800" y="1664208"/>
            <a:ext cx="10332720" cy="548640"/>
          </a:xfrm>
          <a:prstGeom prst="rect">
            <a:avLst/>
          </a:prstGeom>
          <a:noFill/>
          <a:ln/>
        </p:spPr>
        <p:txBody>
          <a:bodyPr wrap="square" rtlCol="0" anchor="t"/>
          <a:lstStyle/>
          <a:p>
            <a:pPr algn="l" indent="0" marL="0">
              <a:buNone/>
            </a:pPr>
            <a:r>
              <a:rPr lang="en-US" sz="1450" dirty="0">
                <a:solidFill>
                  <a:srgbClr val="44555A"/>
                </a:solidFill>
              </a:rPr>
              <a:t>This is why a joint objective is required, and why a water-only tool picks the wrong lever with full confidence.</a:t>
            </a:r>
            <a:endParaRPr lang="en-US" sz="1450" dirty="0"/>
          </a:p>
        </p:txBody>
      </p:sp>
      <p:graphicFrame>
        <p:nvGraphicFramePr>
          <p:cNvPr id="8" name="levers"/>
          <p:cNvGraphicFramePr>
            <a:graphicFrameLocks noGrp="1"/>
          </p:cNvGraphicFramePr>
          <p:nvPr>
            <p:extLst>
              <p:ext uri="{D42A27DB-BD31-4B8C-83A1-F6EECF244321}">
                <p14:modId xmlns:p14="http://schemas.microsoft.com/office/powerpoint/2010/main" val="1579011935"/>
              </p:ext>
            </p:extLst>
          </p:nvPr>
        </p:nvGraphicFramePr>
        <p:xfrm>
          <a:off x="685800" y="2286000"/>
          <a:ext cx="10789920" cy="914400"/>
        </p:xfrm>
        <a:graphic>
          <a:graphicData uri="http://schemas.openxmlformats.org/drawingml/2006/table">
            <a:tbl>
              <a:tblPr/>
              <a:tblGrid>
                <a:gridCol w="3657600"/>
                <a:gridCol w="1828800"/>
                <a:gridCol w="1828800"/>
                <a:gridCol w="3474720"/>
              </a:tblGrid>
              <a:tr h="0">
                <a:tc>
                  <a:txBody>
                    <a:bodyPr/>
                    <a:lstStyle/>
                    <a:p>
                      <a:pPr algn="l" indent="0" marL="0">
                        <a:buNone/>
                      </a:pPr>
                      <a:r>
                        <a:rPr lang="en-US" sz="1000" b="1" spc="100" kern="0" dirty="0">
                          <a:solidFill>
                            <a:srgbClr val="6B8086"/>
                          </a:solidFill>
                          <a:latin typeface="Calibri" pitchFamily="34" charset="0"/>
                          <a:ea typeface="Calibri" pitchFamily="34" charset="-122"/>
                          <a:cs typeface="Calibri" pitchFamily="34" charset="-120"/>
                        </a:rPr>
                        <a:t>PROCESS LEVER</a:t>
                      </a:r>
                      <a:endParaRPr lang="en-US" sz="1000" dirty="0">
                        <a:latin typeface="Calibri" charset="0"/>
                        <a:ea typeface="Calibri" charset="0"/>
                        <a:cs typeface="Calibri" charset="0"/>
                      </a:endParaRPr>
                    </a:p>
                  </a:txBody>
                  <a:tcPr marL="0" marR="76200" marT="76200" marB="762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2700" cap="flat" cmpd="sng" algn="ctr">
                      <a:solidFill>
                        <a:srgbClr val="C3D3D6"/>
                      </a:solidFill>
                      <a:prstDash val="solid"/>
                      <a:round/>
                      <a:headEnd type="none" w="med" len="med"/>
                      <a:tailEnd type="none" w="med" len="med"/>
                    </a:lnB>
                    <a:solidFill>
                      <a:srgbClr val="FFFFFF"/>
                    </a:solidFill>
                  </a:tcPr>
                </a:tc>
                <a:tc>
                  <a:txBody>
                    <a:bodyPr/>
                    <a:lstStyle/>
                    <a:p>
                      <a:pPr algn="ctr" indent="0" marL="0">
                        <a:buNone/>
                      </a:pPr>
                      <a:r>
                        <a:rPr lang="en-US" sz="1000" b="1" spc="100" kern="0" dirty="0">
                          <a:solidFill>
                            <a:srgbClr val="6B8086"/>
                          </a:solidFill>
                          <a:latin typeface="Calibri" pitchFamily="34" charset="0"/>
                          <a:ea typeface="Calibri" pitchFamily="34" charset="-122"/>
                          <a:cs typeface="Calibri" pitchFamily="34" charset="-120"/>
                        </a:rPr>
                        <a:t>CUTS WATER</a:t>
                      </a:r>
                      <a:endParaRPr lang="en-US" sz="1000" dirty="0">
                        <a:latin typeface="Calibri" charset="0"/>
                        <a:ea typeface="Calibri" charset="0"/>
                        <a:cs typeface="Calibri" charset="0"/>
                      </a:endParaRPr>
                    </a:p>
                  </a:txBody>
                  <a:tcPr marL="0" marR="76200" marT="76200" marB="762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2700" cap="flat" cmpd="sng" algn="ctr">
                      <a:solidFill>
                        <a:srgbClr val="C3D3D6"/>
                      </a:solidFill>
                      <a:prstDash val="solid"/>
                      <a:round/>
                      <a:headEnd type="none" w="med" len="med"/>
                      <a:tailEnd type="none" w="med" len="med"/>
                    </a:lnB>
                    <a:solidFill>
                      <a:srgbClr val="FFFFFF"/>
                    </a:solidFill>
                  </a:tcPr>
                </a:tc>
                <a:tc>
                  <a:txBody>
                    <a:bodyPr/>
                    <a:lstStyle/>
                    <a:p>
                      <a:pPr algn="ctr" indent="0" marL="0">
                        <a:buNone/>
                      </a:pPr>
                      <a:r>
                        <a:rPr lang="en-US" sz="1000" b="1" spc="100" kern="0" dirty="0">
                          <a:solidFill>
                            <a:srgbClr val="6B8086"/>
                          </a:solidFill>
                          <a:latin typeface="Calibri" pitchFamily="34" charset="0"/>
                          <a:ea typeface="Calibri" pitchFamily="34" charset="-122"/>
                          <a:cs typeface="Calibri" pitchFamily="34" charset="-120"/>
                        </a:rPr>
                        <a:t>CUTS SALT</a:t>
                      </a:r>
                      <a:endParaRPr lang="en-US" sz="1000" dirty="0">
                        <a:latin typeface="Calibri" charset="0"/>
                        <a:ea typeface="Calibri" charset="0"/>
                        <a:cs typeface="Calibri" charset="0"/>
                      </a:endParaRPr>
                    </a:p>
                  </a:txBody>
                  <a:tcPr marL="0" marR="76200" marT="76200" marB="762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2700" cap="flat" cmpd="sng" algn="ctr">
                      <a:solidFill>
                        <a:srgbClr val="C3D3D6"/>
                      </a:solidFill>
                      <a:prstDash val="solid"/>
                      <a:round/>
                      <a:headEnd type="none" w="med" len="med"/>
                      <a:tailEnd type="none" w="med" len="med"/>
                    </a:lnB>
                    <a:solidFill>
                      <a:srgbClr val="FFFFFF"/>
                    </a:solidFill>
                  </a:tcPr>
                </a:tc>
                <a:tc>
                  <a:txBody>
                    <a:bodyPr/>
                    <a:lstStyle/>
                    <a:p>
                      <a:pPr algn="l" indent="0" marL="0">
                        <a:buNone/>
                      </a:pPr>
                      <a:r>
                        <a:rPr lang="en-US" sz="1000" b="1" spc="100" kern="0" dirty="0">
                          <a:solidFill>
                            <a:srgbClr val="6B8086"/>
                          </a:solidFill>
                          <a:latin typeface="Calibri" pitchFamily="34" charset="0"/>
                          <a:ea typeface="Calibri" pitchFamily="34" charset="-122"/>
                          <a:cs typeface="Calibri" pitchFamily="34" charset="-120"/>
                        </a:rPr>
                        <a:t>CUTS EVAPORATOR ENERGY</a:t>
                      </a:r>
                      <a:endParaRPr lang="en-US" sz="1000" dirty="0">
                        <a:latin typeface="Calibri" charset="0"/>
                        <a:ea typeface="Calibri" charset="0"/>
                        <a:cs typeface="Calibri" charset="0"/>
                      </a:endParaRPr>
                    </a:p>
                  </a:txBody>
                  <a:tcPr marL="0" marR="76200" marT="76200" marB="762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2700" cap="flat" cmpd="sng" algn="ctr">
                      <a:solidFill>
                        <a:srgbClr val="C3D3D6"/>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0E2127"/>
                          </a:solidFill>
                          <a:latin typeface="Calibri" pitchFamily="34" charset="0"/>
                          <a:ea typeface="Calibri" pitchFamily="34" charset="-122"/>
                          <a:cs typeface="Calibri" pitchFamily="34" charset="-120"/>
                        </a:rPr>
                        <a:t>Counter-current rinse cascade</a:t>
                      </a:r>
                      <a:endParaRPr lang="en-US" sz="13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474C"/>
                          </a:solidFill>
                          <a:latin typeface="Calibri" pitchFamily="34" charset="0"/>
                          <a:ea typeface="Calibri" pitchFamily="34" charset="-122"/>
                          <a:cs typeface="Calibri" pitchFamily="34" charset="-120"/>
                        </a:rPr>
                        <a:t>yes, ~35%</a:t>
                      </a:r>
                      <a:endParaRPr lang="en-US" sz="13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474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74C"/>
                          </a:solidFill>
                          <a:latin typeface="Calibri" pitchFamily="34" charset="0"/>
                          <a:ea typeface="Calibri" pitchFamily="34" charset="-122"/>
                          <a:cs typeface="Calibri" pitchFamily="34" charset="-120"/>
                        </a:rPr>
                        <a:t>barely — same salt, less water</a:t>
                      </a:r>
                      <a:endParaRPr lang="en-US" sz="13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0E2127"/>
                          </a:solidFill>
                          <a:latin typeface="Calibri" pitchFamily="34" charset="0"/>
                          <a:ea typeface="Calibri" pitchFamily="34" charset="-122"/>
                          <a:cs typeface="Calibri" pitchFamily="34" charset="-120"/>
                        </a:rPr>
                        <a:t>Low-electrolyte dye chemistry</a:t>
                      </a:r>
                      <a:endParaRPr lang="en-US" sz="13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E9F4EF"/>
                    </a:solidFill>
                  </a:tcPr>
                </a:tc>
                <a:tc>
                  <a:txBody>
                    <a:bodyPr/>
                    <a:lstStyle/>
                    <a:p>
                      <a:pPr algn="ctr" indent="0" marL="0">
                        <a:buNone/>
                      </a:pPr>
                      <a:r>
                        <a:rPr lang="en-US" sz="1300" dirty="0">
                          <a:solidFill>
                            <a:srgbClr val="33474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E9F4EF"/>
                    </a:solidFill>
                  </a:tcPr>
                </a:tc>
                <a:tc>
                  <a:txBody>
                    <a:bodyPr/>
                    <a:lstStyle/>
                    <a:p>
                      <a:pPr algn="ctr" indent="0" marL="0">
                        <a:buNone/>
                      </a:pPr>
                      <a:r>
                        <a:rPr lang="en-US" sz="1300" dirty="0">
                          <a:solidFill>
                            <a:srgbClr val="33474C"/>
                          </a:solidFill>
                          <a:latin typeface="Calibri" pitchFamily="34" charset="0"/>
                          <a:ea typeface="Calibri" pitchFamily="34" charset="-122"/>
                          <a:cs typeface="Calibri" pitchFamily="34" charset="-120"/>
                        </a:rPr>
                        <a:t>yes, ~45%</a:t>
                      </a:r>
                      <a:endParaRPr lang="en-US" sz="13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E9F4EF"/>
                    </a:solidFill>
                  </a:tcPr>
                </a:tc>
                <a:tc>
                  <a:txBody>
                    <a:bodyPr/>
                    <a:lstStyle/>
                    <a:p>
                      <a:pPr algn="l" indent="0" marL="0">
                        <a:buNone/>
                      </a:pPr>
                      <a:r>
                        <a:rPr lang="en-US" sz="1300" dirty="0">
                          <a:solidFill>
                            <a:srgbClr val="33474C"/>
                          </a:solidFill>
                          <a:latin typeface="Calibri" pitchFamily="34" charset="0"/>
                          <a:ea typeface="Calibri" pitchFamily="34" charset="-122"/>
                          <a:cs typeface="Calibri" pitchFamily="34" charset="-120"/>
                        </a:rPr>
                        <a:t>yes, proportionally</a:t>
                      </a:r>
                      <a:endParaRPr lang="en-US" sz="13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E9F4EF"/>
                    </a:solidFill>
                  </a:tcPr>
                </a:tc>
              </a:tr>
            </a:tbl>
          </a:graphicData>
        </a:graphic>
      </p:graphicFrame>
      <p:sp>
        <p:nvSpPr>
          <p:cNvPr id="6" name="claim-h"/>
          <p:cNvSpPr txBox="1"/>
          <p:nvPr/>
        </p:nvSpPr>
        <p:spPr>
          <a:xfrm>
            <a:off x="685800" y="3611880"/>
            <a:ext cx="5120640" cy="347472"/>
          </a:xfrm>
          <a:prstGeom prst="rect">
            <a:avLst/>
          </a:prstGeom>
          <a:noFill/>
          <a:ln/>
        </p:spPr>
        <p:txBody>
          <a:bodyPr wrap="square" lIns="0" tIns="0" rIns="0" bIns="0" rtlCol="0" anchor="ctr"/>
          <a:lstStyle/>
          <a:p>
            <a:pPr indent="0" marL="0">
              <a:buNone/>
            </a:pPr>
            <a:r>
              <a:rPr lang="en-US" sz="1700" b="1" dirty="0">
                <a:solidFill>
                  <a:srgbClr val="0E2127"/>
                </a:solidFill>
                <a:latin typeface="Cambria" pitchFamily="34" charset="0"/>
                <a:ea typeface="Cambria" pitchFamily="34" charset="-122"/>
                <a:cs typeface="Cambria" pitchFamily="34" charset="-120"/>
              </a:rPr>
              <a:t>What we claim, narrowly</a:t>
            </a:r>
            <a:endParaRPr lang="en-US" sz="1700" dirty="0"/>
          </a:p>
        </p:txBody>
      </p:sp>
      <p:sp>
        <p:nvSpPr>
          <p:cNvPr id="7" name="rn-1"/>
          <p:cNvSpPr txBox="1"/>
          <p:nvPr/>
        </p:nvSpPr>
        <p:spPr>
          <a:xfrm>
            <a:off x="685800" y="4069080"/>
            <a:ext cx="384048" cy="274320"/>
          </a:xfrm>
          <a:prstGeom prst="rect">
            <a:avLst/>
          </a:prstGeom>
          <a:noFill/>
          <a:ln/>
        </p:spPr>
        <p:txBody>
          <a:bodyPr wrap="square" lIns="0" tIns="0" rIns="0" bIns="0" rtlCol="0" anchor="ctr"/>
          <a:lstStyle/>
          <a:p>
            <a:pPr indent="0" marL="0">
              <a:buNone/>
            </a:pPr>
            <a:r>
              <a:rPr lang="en-US" sz="1200" b="1" dirty="0">
                <a:solidFill>
                  <a:srgbClr val="B98A2E"/>
                </a:solidFill>
                <a:latin typeface="Cambria" pitchFamily="34" charset="0"/>
                <a:ea typeface="Cambria" pitchFamily="34" charset="-122"/>
                <a:cs typeface="Cambria" pitchFamily="34" charset="-120"/>
              </a:rPr>
              <a:t>01</a:t>
            </a:r>
            <a:endParaRPr lang="en-US" sz="1200" dirty="0"/>
          </a:p>
        </p:txBody>
      </p:sp>
      <p:sp>
        <p:nvSpPr>
          <p:cNvPr id="8" name="rt-1"/>
          <p:cNvSpPr txBox="1"/>
          <p:nvPr/>
        </p:nvSpPr>
        <p:spPr>
          <a:xfrm>
            <a:off x="1097280" y="4050792"/>
            <a:ext cx="4709160" cy="566928"/>
          </a:xfrm>
          <a:prstGeom prst="rect">
            <a:avLst/>
          </a:prstGeom>
          <a:noFill/>
          <a:ln/>
        </p:spPr>
        <p:txBody>
          <a:bodyPr wrap="square" lIns="0" tIns="0" rIns="0" bIns="0" rtlCol="0" anchor="t"/>
          <a:lstStyle/>
          <a:p>
            <a:pPr indent="0" marL="0">
              <a:buNone/>
            </a:pPr>
            <a:r>
              <a:rPr lang="en-US" sz="1300" b="1" dirty="0">
                <a:solidFill>
                  <a:srgbClr val="0E2127"/>
                </a:solidFill>
              </a:rPr>
              <a:t>The downstream consequence inside the objective.  </a:t>
            </a:r>
            <a:pPr indent="0" marL="0">
              <a:buNone/>
            </a:pPr>
            <a:r>
              <a:rPr lang="en-US" sz="1300" dirty="0">
                <a:solidFill>
                  <a:srgbClr val="44555A"/>
                </a:solidFill>
              </a:rPr>
              <a:t>Evaporator steam, boiler carbon and treatment cost, scored per candidate plan.</a:t>
            </a:r>
            <a:endParaRPr lang="en-US" sz="1300" dirty="0"/>
          </a:p>
        </p:txBody>
      </p:sp>
      <p:sp>
        <p:nvSpPr>
          <p:cNvPr id="9" name="rn-2"/>
          <p:cNvSpPr txBox="1"/>
          <p:nvPr/>
        </p:nvSpPr>
        <p:spPr>
          <a:xfrm>
            <a:off x="685800" y="4754880"/>
            <a:ext cx="384048" cy="274320"/>
          </a:xfrm>
          <a:prstGeom prst="rect">
            <a:avLst/>
          </a:prstGeom>
          <a:noFill/>
          <a:ln/>
        </p:spPr>
        <p:txBody>
          <a:bodyPr wrap="square" lIns="0" tIns="0" rIns="0" bIns="0" rtlCol="0" anchor="ctr"/>
          <a:lstStyle/>
          <a:p>
            <a:pPr indent="0" marL="0">
              <a:buNone/>
            </a:pPr>
            <a:r>
              <a:rPr lang="en-US" sz="1200" b="1" dirty="0">
                <a:solidFill>
                  <a:srgbClr val="B98A2E"/>
                </a:solidFill>
                <a:latin typeface="Cambria" pitchFamily="34" charset="0"/>
                <a:ea typeface="Cambria" pitchFamily="34" charset="-122"/>
                <a:cs typeface="Cambria" pitchFamily="34" charset="-120"/>
              </a:rPr>
              <a:t>02</a:t>
            </a:r>
            <a:endParaRPr lang="en-US" sz="1200" dirty="0"/>
          </a:p>
        </p:txBody>
      </p:sp>
      <p:sp>
        <p:nvSpPr>
          <p:cNvPr id="10" name="rt-2"/>
          <p:cNvSpPr txBox="1"/>
          <p:nvPr/>
        </p:nvSpPr>
        <p:spPr>
          <a:xfrm>
            <a:off x="1097280" y="4736592"/>
            <a:ext cx="4709160" cy="566928"/>
          </a:xfrm>
          <a:prstGeom prst="rect">
            <a:avLst/>
          </a:prstGeom>
          <a:noFill/>
          <a:ln/>
        </p:spPr>
        <p:txBody>
          <a:bodyPr wrap="square" lIns="0" tIns="0" rIns="0" bIns="0" rtlCol="0" anchor="t"/>
          <a:lstStyle/>
          <a:p>
            <a:pPr indent="0" marL="0">
              <a:buNone/>
            </a:pPr>
            <a:r>
              <a:rPr lang="en-US" sz="1300" b="1" dirty="0">
                <a:solidFill>
                  <a:srgbClr val="0E2127"/>
                </a:solidFill>
              </a:rPr>
              <a:t>Salt-mass accounting as the energy driver.  </a:t>
            </a:r>
            <a:pPr indent="0" marL="0">
              <a:buNone/>
            </a:pPr>
            <a:r>
              <a:rPr lang="en-US" sz="1300" dirty="0">
                <a:solidFill>
                  <a:srgbClr val="44555A"/>
                </a:solidFill>
              </a:rPr>
              <a:t>Acting on it inverts the normal advice.</a:t>
            </a:r>
            <a:endParaRPr lang="en-US" sz="1300" dirty="0"/>
          </a:p>
        </p:txBody>
      </p:sp>
      <p:sp>
        <p:nvSpPr>
          <p:cNvPr id="11" name="rn-3"/>
          <p:cNvSpPr txBox="1"/>
          <p:nvPr/>
        </p:nvSpPr>
        <p:spPr>
          <a:xfrm>
            <a:off x="685800" y="5257800"/>
            <a:ext cx="384048" cy="274320"/>
          </a:xfrm>
          <a:prstGeom prst="rect">
            <a:avLst/>
          </a:prstGeom>
          <a:noFill/>
          <a:ln/>
        </p:spPr>
        <p:txBody>
          <a:bodyPr wrap="square" lIns="0" tIns="0" rIns="0" bIns="0" rtlCol="0" anchor="ctr"/>
          <a:lstStyle/>
          <a:p>
            <a:pPr indent="0" marL="0">
              <a:buNone/>
            </a:pPr>
            <a:r>
              <a:rPr lang="en-US" sz="1200" b="1" dirty="0">
                <a:solidFill>
                  <a:srgbClr val="B98A2E"/>
                </a:solidFill>
                <a:latin typeface="Cambria" pitchFamily="34" charset="0"/>
                <a:ea typeface="Cambria" pitchFamily="34" charset="-122"/>
                <a:cs typeface="Cambria" pitchFamily="34" charset="-120"/>
              </a:rPr>
              <a:t>03</a:t>
            </a:r>
            <a:endParaRPr lang="en-US" sz="1200" dirty="0"/>
          </a:p>
        </p:txBody>
      </p:sp>
      <p:sp>
        <p:nvSpPr>
          <p:cNvPr id="12" name="rt-3"/>
          <p:cNvSpPr txBox="1"/>
          <p:nvPr/>
        </p:nvSpPr>
        <p:spPr>
          <a:xfrm>
            <a:off x="1097280" y="5239512"/>
            <a:ext cx="4709160" cy="566928"/>
          </a:xfrm>
          <a:prstGeom prst="rect">
            <a:avLst/>
          </a:prstGeom>
          <a:noFill/>
          <a:ln/>
        </p:spPr>
        <p:txBody>
          <a:bodyPr wrap="square" lIns="0" tIns="0" rIns="0" bIns="0" rtlCol="0" anchor="t"/>
          <a:lstStyle/>
          <a:p>
            <a:pPr indent="0" marL="0">
              <a:buNone/>
            </a:pPr>
            <a:r>
              <a:rPr lang="en-US" sz="1300" b="1" dirty="0">
                <a:solidFill>
                  <a:srgbClr val="0E2127"/>
                </a:solidFill>
              </a:rPr>
              <a:t>Hard constraints as feasibility, not penalty.  </a:t>
            </a:r>
            <a:pPr indent="0" marL="0">
              <a:buNone/>
            </a:pPr>
            <a:r>
              <a:rPr lang="en-US" sz="1300" dirty="0">
                <a:solidFill>
                  <a:srgbClr val="44555A"/>
                </a:solidFill>
              </a:rPr>
              <a:t>A saving cannot buy its way out of a firm ship date.</a:t>
            </a:r>
            <a:endParaRPr lang="en-US" sz="1300" dirty="0"/>
          </a:p>
        </p:txBody>
      </p:sp>
      <p:sp>
        <p:nvSpPr>
          <p:cNvPr id="13" name="card-notclaim"/>
          <p:cNvSpPr/>
          <p:nvPr/>
        </p:nvSpPr>
        <p:spPr>
          <a:xfrm>
            <a:off x="6355080" y="3611880"/>
            <a:ext cx="5120640" cy="2194560"/>
          </a:xfrm>
          <a:prstGeom prst="roundRect">
            <a:avLst>
              <a:gd name="adj" fmla="val 1667"/>
            </a:avLst>
          </a:prstGeom>
          <a:solidFill>
            <a:srgbClr val="F6F3EA"/>
          </a:solidFill>
          <a:ln w="9525">
            <a:solidFill>
              <a:srgbClr val="E0D4B4"/>
            </a:solidFill>
            <a:prstDash val="solid"/>
          </a:ln>
        </p:spPr>
      </p:sp>
      <p:sp>
        <p:nvSpPr>
          <p:cNvPr id="14" name="nc-h"/>
          <p:cNvSpPr txBox="1"/>
          <p:nvPr/>
        </p:nvSpPr>
        <p:spPr>
          <a:xfrm>
            <a:off x="6629400" y="3822192"/>
            <a:ext cx="4572000" cy="347472"/>
          </a:xfrm>
          <a:prstGeom prst="rect">
            <a:avLst/>
          </a:prstGeom>
          <a:noFill/>
          <a:ln/>
        </p:spPr>
        <p:txBody>
          <a:bodyPr wrap="square" lIns="0" tIns="0" rIns="0" bIns="0" rtlCol="0" anchor="ctr"/>
          <a:lstStyle/>
          <a:p>
            <a:pPr indent="0" marL="0">
              <a:buNone/>
            </a:pPr>
            <a:r>
              <a:rPr lang="en-US" sz="1500" b="1" dirty="0">
                <a:solidFill>
                  <a:srgbClr val="7A5A18"/>
                </a:solidFill>
                <a:latin typeface="Cambria" pitchFamily="34" charset="0"/>
                <a:ea typeface="Cambria" pitchFamily="34" charset="-122"/>
                <a:cs typeface="Cambria" pitchFamily="34" charset="-120"/>
              </a:rPr>
              <a:t>What we explicitly do not claim</a:t>
            </a:r>
            <a:endParaRPr lang="en-US" sz="1500" dirty="0"/>
          </a:p>
        </p:txBody>
      </p:sp>
      <p:sp>
        <p:nvSpPr>
          <p:cNvPr id="15" name="nc-b"/>
          <p:cNvSpPr txBox="1"/>
          <p:nvPr/>
        </p:nvSpPr>
        <p:spPr>
          <a:xfrm>
            <a:off x="6629400" y="4224528"/>
            <a:ext cx="4572000" cy="1463040"/>
          </a:xfrm>
          <a:prstGeom prst="rect">
            <a:avLst/>
          </a:prstGeom>
          <a:noFill/>
          <a:ln/>
        </p:spPr>
        <p:txBody>
          <a:bodyPr wrap="square" lIns="0" tIns="0" rIns="0" bIns="0" rtlCol="0" anchor="t"/>
          <a:lstStyle/>
          <a:p>
            <a:pPr indent="0" marL="0">
              <a:buNone/>
            </a:pPr>
            <a:r>
              <a:rPr lang="en-US" sz="1200" dirty="0">
                <a:solidFill>
                  <a:srgbClr val="5E4A1C"/>
                </a:solidFill>
              </a:rPr>
              <a:t>Ascending shade sequencing is standard dyehouse practice. Counter-current rinsing is established best available technique. Low-electrolyte reactive dyes are a commercial product. Zero Liquid Discharge, reverse osmosis and multi-effect evaporation are all existing industry.
</a:t>
            </a:r>
            <a:pPr indent="0" marL="0">
              <a:buNone/>
            </a:pPr>
            <a:r>
              <a:rPr lang="en-US" sz="1200" b="1" dirty="0">
                <a:solidFill>
                  <a:srgbClr val="5E4A1C"/>
                </a:solidFill>
              </a:rPr>
              <a:t>None of these is our invention, and the product says so on screen.</a:t>
            </a:r>
            <a:endParaRPr lang="en-US" sz="1200" dirty="0"/>
          </a:p>
        </p:txBody>
      </p:sp>
      <p:sp>
        <p:nvSpPr>
          <p:cNvPr id="17" name="Text 1"/>
          <p:cNvSpPr/>
          <p:nvPr>
            <p:ph idx="104" type="chart" hasCustomPrompt="1"/>
          </p:nvPr>
        </p:nvSpPr>
        <p:spPr>
          <a:xfrm>
            <a:off x="685800" y="2240280"/>
            <a:ext cx="10789920" cy="3931920"/>
          </a:xfrm>
          <a:prstGeom prst="rect">
            <a:avLst/>
          </a:prstGeom>
          <a:noFill/>
          <a:ln/>
        </p:spPr>
        <p:txBody>
          <a:bodyPr wrap="square" rtlCol="0"/>
          <a:lstStyle/>
          <a:p>
            <a:pPr indent="0" marL="0">
              <a:buNone/>
            </a:pPr>
            <a:endParaRPr lang="en-US" dirty="0"/>
          </a:p>
        </p:txBody>
      </p:sp>
      <p:sp>
        <p:nvSpPr>
          <p:cNvPr id="25" name="Slide Number Placeholder 0"/>
          <p:cNvSpPr>
            <a:spLocks noGrp="1"/>
          </p:cNvSpPr>
          <p:nvPr>
            <p:ph type="sldNum" sz="quarter" idx="4294967295"/>
          </p:nvPr>
        </p:nvSpPr>
        <p:spPr>
          <a:xfrm>
            <a:off x="114757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AAAAE"/>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384048"/>
            <a:ext cx="10789920" cy="274320"/>
          </a:xfrm>
          <a:prstGeom prst="rect">
            <a:avLst/>
          </a:prstGeom>
          <a:noFill/>
          <a:ln/>
        </p:spPr>
        <p:txBody>
          <a:bodyPr wrap="square" rtlCol="0"/>
          <a:lstStyle/>
          <a:p>
            <a:pPr indent="0" marL="0">
              <a:buNone/>
            </a:pPr>
            <a:r>
              <a:rPr lang="en-US" sz="1100" b="1" spc="200" kern="0" dirty="0">
                <a:solidFill>
                  <a:srgbClr val="1A6B7C"/>
                </a:solidFill>
              </a:rPr>
              <a:t>THE PRODUCT, RUNNING</a:t>
            </a:r>
            <a:endParaRPr lang="en-US" sz="1100" dirty="0"/>
          </a:p>
        </p:txBody>
      </p:sp>
      <p:sp>
        <p:nvSpPr>
          <p:cNvPr id="3" name="Text 0"/>
          <p:cNvSpPr/>
          <p:nvPr>
            <p:ph idx="101" type="title" hasCustomPrompt="1"/>
          </p:nvPr>
        </p:nvSpPr>
        <p:spPr>
          <a:xfrm>
            <a:off x="685800" y="658368"/>
            <a:ext cx="10789920" cy="932688"/>
          </a:xfrm>
          <a:prstGeom prst="rect">
            <a:avLst/>
          </a:prstGeom>
          <a:noFill/>
          <a:ln/>
        </p:spPr>
        <p:txBody>
          <a:bodyPr wrap="square" rtlCol="0" anchor="t"/>
          <a:lstStyle/>
          <a:p>
            <a:pPr algn="l" indent="0" marL="0">
              <a:buNone/>
            </a:pPr>
            <a:r>
              <a:rPr lang="en-US" sz="3100" b="1" dirty="0">
                <a:solidFill>
                  <a:srgbClr val="0E2127"/>
                </a:solidFill>
              </a:rPr>
              <a:t>It refuses the plan that saves the most water</a:t>
            </a:r>
            <a:endParaRPr lang="en-US" sz="3100" dirty="0"/>
          </a:p>
        </p:txBody>
      </p:sp>
      <p:sp>
        <p:nvSpPr>
          <p:cNvPr id="4" name="Text 0"/>
          <p:cNvSpPr/>
          <p:nvPr>
            <p:ph idx="102" type="body" hasCustomPrompt="1"/>
          </p:nvPr>
        </p:nvSpPr>
        <p:spPr>
          <a:xfrm>
            <a:off x="685800" y="1664208"/>
            <a:ext cx="10332720" cy="548640"/>
          </a:xfrm>
          <a:prstGeom prst="rect">
            <a:avLst/>
          </a:prstGeom>
          <a:noFill/>
          <a:ln/>
        </p:spPr>
        <p:txBody>
          <a:bodyPr wrap="square" rtlCol="0" anchor="t"/>
          <a:lstStyle/>
          <a:p>
            <a:pPr algn="l" indent="0" marL="0">
              <a:buNone/>
            </a:pPr>
            <a:r>
              <a:rPr lang="en-US" sz="1450" dirty="0">
                <a:solidFill>
                  <a:srgbClr val="44555A"/>
                </a:solidFill>
              </a:rPr>
              <a:t>480 candidates enumerated exhaustively — 120 lot orders against 4 process strategies — so the optimum is proven, not approximated.</a:t>
            </a:r>
            <a:endParaRPr lang="en-US" sz="1450" dirty="0"/>
          </a:p>
        </p:txBody>
      </p:sp>
      <p:graphicFrame>
        <p:nvGraphicFramePr>
          <p:cNvPr id="9" name="options"/>
          <p:cNvGraphicFramePr>
            <a:graphicFrameLocks noGrp="1"/>
          </p:cNvGraphicFramePr>
          <p:nvPr>
            <p:extLst>
              <p:ext uri="{D42A27DB-BD31-4B8C-83A1-F6EECF244321}">
                <p14:modId xmlns:p14="http://schemas.microsoft.com/office/powerpoint/2010/main" val="1579011935"/>
              </p:ext>
            </p:extLst>
          </p:nvPr>
        </p:nvGraphicFramePr>
        <p:xfrm>
          <a:off x="685800" y="2286000"/>
          <a:ext cx="10789920" cy="914400"/>
        </p:xfrm>
        <a:graphic>
          <a:graphicData uri="http://schemas.openxmlformats.org/drawingml/2006/table">
            <a:tbl>
              <a:tblPr/>
              <a:tblGrid>
                <a:gridCol w="3017520"/>
                <a:gridCol w="1417320"/>
                <a:gridCol w="1188720"/>
                <a:gridCol w="1417320"/>
                <a:gridCol w="1188720"/>
                <a:gridCol w="1280160"/>
                <a:gridCol w="1280160"/>
              </a:tblGrid>
              <a:tr h="0">
                <a:tc>
                  <a:txBody>
                    <a:bodyPr/>
                    <a:lstStyle/>
                    <a:p>
                      <a:pPr algn="l" indent="0" marL="0">
                        <a:buNone/>
                      </a:pPr>
                      <a:r>
                        <a:rPr lang="en-US" sz="1000" b="1" spc="100" kern="0" dirty="0">
                          <a:solidFill>
                            <a:srgbClr val="6B8086"/>
                          </a:solidFill>
                          <a:latin typeface="Calibri" pitchFamily="34" charset="0"/>
                          <a:ea typeface="Calibri" pitchFamily="34" charset="-122"/>
                          <a:cs typeface="Calibri" pitchFamily="34" charset="-120"/>
                        </a:rPr>
                        <a:t>PLAN</a:t>
                      </a:r>
                      <a:endParaRPr lang="en-US" sz="1000" dirty="0">
                        <a:latin typeface="Calibri" charset="0"/>
                        <a:ea typeface="Calibri" charset="0"/>
                        <a:cs typeface="Calibri" charset="0"/>
                      </a:endParaRPr>
                    </a:p>
                  </a:txBody>
                  <a:tcPr marL="0" marR="76200" marT="76200" marB="762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2700" cap="flat" cmpd="sng" algn="ctr">
                      <a:solidFill>
                        <a:srgbClr val="C3D3D6"/>
                      </a:solidFill>
                      <a:prstDash val="solid"/>
                      <a:round/>
                      <a:headEnd type="none" w="med" len="med"/>
                      <a:tailEnd type="none" w="med" len="med"/>
                    </a:lnB>
                    <a:solidFill>
                      <a:srgbClr val="FFFFFF"/>
                    </a:solidFill>
                  </a:tcPr>
                </a:tc>
                <a:tc>
                  <a:txBody>
                    <a:bodyPr/>
                    <a:lstStyle/>
                    <a:p>
                      <a:pPr algn="r" indent="0" marL="0">
                        <a:buNone/>
                      </a:pPr>
                      <a:r>
                        <a:rPr lang="en-US" sz="1000" b="1" spc="100" kern="0" dirty="0">
                          <a:solidFill>
                            <a:srgbClr val="6B8086"/>
                          </a:solidFill>
                          <a:latin typeface="Calibri" pitchFamily="34" charset="0"/>
                          <a:ea typeface="Calibri" pitchFamily="34" charset="-122"/>
                          <a:cs typeface="Calibri" pitchFamily="34" charset="-120"/>
                        </a:rPr>
                        <a:t>FRESHWATER</a:t>
                      </a:r>
                      <a:endParaRPr lang="en-US" sz="1000" dirty="0">
                        <a:latin typeface="Calibri" charset="0"/>
                        <a:ea typeface="Calibri" charset="0"/>
                        <a:cs typeface="Calibri" charset="0"/>
                      </a:endParaRPr>
                    </a:p>
                  </a:txBody>
                  <a:tcPr marL="0" marR="76200" marT="76200" marB="762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2700" cap="flat" cmpd="sng" algn="ctr">
                      <a:solidFill>
                        <a:srgbClr val="C3D3D6"/>
                      </a:solidFill>
                      <a:prstDash val="solid"/>
                      <a:round/>
                      <a:headEnd type="none" w="med" len="med"/>
                      <a:tailEnd type="none" w="med" len="med"/>
                    </a:lnB>
                    <a:solidFill>
                      <a:srgbClr val="FFFFFF"/>
                    </a:solidFill>
                  </a:tcPr>
                </a:tc>
                <a:tc>
                  <a:txBody>
                    <a:bodyPr/>
                    <a:lstStyle/>
                    <a:p>
                      <a:pPr algn="r" indent="0" marL="0">
                        <a:buNone/>
                      </a:pPr>
                      <a:r>
                        <a:rPr lang="en-US" sz="1000" b="1" spc="100" kern="0" dirty="0">
                          <a:solidFill>
                            <a:srgbClr val="6B8086"/>
                          </a:solidFill>
                          <a:latin typeface="Calibri" pitchFamily="34" charset="0"/>
                          <a:ea typeface="Calibri" pitchFamily="34" charset="-122"/>
                          <a:cs typeface="Calibri" pitchFamily="34" charset="-120"/>
                        </a:rPr>
                        <a:t>SALT</a:t>
                      </a:r>
                      <a:endParaRPr lang="en-US" sz="1000" dirty="0">
                        <a:latin typeface="Calibri" charset="0"/>
                        <a:ea typeface="Calibri" charset="0"/>
                        <a:cs typeface="Calibri" charset="0"/>
                      </a:endParaRPr>
                    </a:p>
                  </a:txBody>
                  <a:tcPr marL="0" marR="76200" marT="76200" marB="762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2700" cap="flat" cmpd="sng" algn="ctr">
                      <a:solidFill>
                        <a:srgbClr val="C3D3D6"/>
                      </a:solidFill>
                      <a:prstDash val="solid"/>
                      <a:round/>
                      <a:headEnd type="none" w="med" len="med"/>
                      <a:tailEnd type="none" w="med" len="med"/>
                    </a:lnB>
                    <a:solidFill>
                      <a:srgbClr val="FFFFFF"/>
                    </a:solidFill>
                  </a:tcPr>
                </a:tc>
                <a:tc>
                  <a:txBody>
                    <a:bodyPr/>
                    <a:lstStyle/>
                    <a:p>
                      <a:pPr algn="r" indent="0" marL="0">
                        <a:buNone/>
                      </a:pPr>
                      <a:r>
                        <a:rPr lang="en-US" sz="1000" b="1" spc="100" kern="0" dirty="0">
                          <a:solidFill>
                            <a:srgbClr val="6B8086"/>
                          </a:solidFill>
                          <a:latin typeface="Calibri" pitchFamily="34" charset="0"/>
                          <a:ea typeface="Calibri" pitchFamily="34" charset="-122"/>
                          <a:cs typeface="Calibri" pitchFamily="34" charset="-120"/>
                        </a:rPr>
                        <a:t>EVAPORATOR</a:t>
                      </a:r>
                      <a:endParaRPr lang="en-US" sz="1000" dirty="0">
                        <a:latin typeface="Calibri" charset="0"/>
                        <a:ea typeface="Calibri" charset="0"/>
                        <a:cs typeface="Calibri" charset="0"/>
                      </a:endParaRPr>
                    </a:p>
                  </a:txBody>
                  <a:tcPr marL="0" marR="76200" marT="76200" marB="762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2700" cap="flat" cmpd="sng" algn="ctr">
                      <a:solidFill>
                        <a:srgbClr val="C3D3D6"/>
                      </a:solidFill>
                      <a:prstDash val="solid"/>
                      <a:round/>
                      <a:headEnd type="none" w="med" len="med"/>
                      <a:tailEnd type="none" w="med" len="med"/>
                    </a:lnB>
                    <a:solidFill>
                      <a:srgbClr val="FFFFFF"/>
                    </a:solidFill>
                  </a:tcPr>
                </a:tc>
                <a:tc>
                  <a:txBody>
                    <a:bodyPr/>
                    <a:lstStyle/>
                    <a:p>
                      <a:pPr algn="r" indent="0" marL="0">
                        <a:buNone/>
                      </a:pPr>
                      <a:r>
                        <a:rPr lang="en-US" sz="1000" b="1" spc="100" kern="0" dirty="0">
                          <a:solidFill>
                            <a:srgbClr val="6B8086"/>
                          </a:solidFill>
                          <a:latin typeface="Calibri" pitchFamily="34" charset="0"/>
                          <a:ea typeface="Calibri" pitchFamily="34" charset="-122"/>
                          <a:cs typeface="Calibri" pitchFamily="34" charset="-120"/>
                        </a:rPr>
                        <a:t>CO₂e</a:t>
                      </a:r>
                      <a:endParaRPr lang="en-US" sz="1000" dirty="0">
                        <a:latin typeface="Calibri" charset="0"/>
                        <a:ea typeface="Calibri" charset="0"/>
                        <a:cs typeface="Calibri" charset="0"/>
                      </a:endParaRPr>
                    </a:p>
                  </a:txBody>
                  <a:tcPr marL="0" marR="76200" marT="76200" marB="762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2700" cap="flat" cmpd="sng" algn="ctr">
                      <a:solidFill>
                        <a:srgbClr val="C3D3D6"/>
                      </a:solidFill>
                      <a:prstDash val="solid"/>
                      <a:round/>
                      <a:headEnd type="none" w="med" len="med"/>
                      <a:tailEnd type="none" w="med" len="med"/>
                    </a:lnB>
                    <a:solidFill>
                      <a:srgbClr val="FFFFFF"/>
                    </a:solidFill>
                  </a:tcPr>
                </a:tc>
                <a:tc>
                  <a:txBody>
                    <a:bodyPr/>
                    <a:lstStyle/>
                    <a:p>
                      <a:pPr algn="r" indent="0" marL="0">
                        <a:buNone/>
                      </a:pPr>
                      <a:r>
                        <a:rPr lang="en-US" sz="1000" b="1" spc="100" kern="0" dirty="0">
                          <a:solidFill>
                            <a:srgbClr val="6B8086"/>
                          </a:solidFill>
                          <a:latin typeface="Calibri" pitchFamily="34" charset="0"/>
                          <a:ea typeface="Calibri" pitchFamily="34" charset="-122"/>
                          <a:cs typeface="Calibri" pitchFamily="34" charset="-120"/>
                        </a:rPr>
                        <a:t>COST</a:t>
                      </a:r>
                      <a:endParaRPr lang="en-US" sz="1000" dirty="0">
                        <a:latin typeface="Calibri" charset="0"/>
                        <a:ea typeface="Calibri" charset="0"/>
                        <a:cs typeface="Calibri" charset="0"/>
                      </a:endParaRPr>
                    </a:p>
                  </a:txBody>
                  <a:tcPr marL="0" marR="76200" marT="76200" marB="762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2700" cap="flat" cmpd="sng" algn="ctr">
                      <a:solidFill>
                        <a:srgbClr val="C3D3D6"/>
                      </a:solidFill>
                      <a:prstDash val="solid"/>
                      <a:round/>
                      <a:headEnd type="none" w="med" len="med"/>
                      <a:tailEnd type="none" w="med" len="med"/>
                    </a:lnB>
                    <a:solidFill>
                      <a:srgbClr val="FFFFFF"/>
                    </a:solidFill>
                  </a:tcPr>
                </a:tc>
                <a:tc>
                  <a:txBody>
                    <a:bodyPr/>
                    <a:lstStyle/>
                    <a:p>
                      <a:pPr algn="r" indent="0" marL="0">
                        <a:buNone/>
                      </a:pPr>
                      <a:r>
                        <a:rPr lang="en-US" sz="1000" b="1" spc="100" kern="0" dirty="0">
                          <a:solidFill>
                            <a:srgbClr val="6B8086"/>
                          </a:solidFill>
                          <a:latin typeface="Calibri" pitchFamily="34" charset="0"/>
                          <a:ea typeface="Calibri" pitchFamily="34" charset="-122"/>
                          <a:cs typeface="Calibri" pitchFamily="34" charset="-120"/>
                        </a:rPr>
                        <a:t>LATE</a:t>
                      </a:r>
                      <a:endParaRPr lang="en-US" sz="1000" dirty="0">
                        <a:latin typeface="Calibri" charset="0"/>
                        <a:ea typeface="Calibri" charset="0"/>
                        <a:cs typeface="Calibri" charset="0"/>
                      </a:endParaRPr>
                    </a:p>
                  </a:txBody>
                  <a:tcPr marL="0" marR="76200" marT="76200" marB="762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2700" cap="flat" cmpd="sng" algn="ctr">
                      <a:solidFill>
                        <a:srgbClr val="C3D3D6"/>
                      </a:solidFill>
                      <a:prstDash val="solid"/>
                      <a:round/>
                      <a:headEnd type="none" w="med" len="med"/>
                      <a:tailEnd type="none" w="med" len="med"/>
                    </a:lnB>
                    <a:solidFill>
                      <a:srgbClr val="FFFFFF"/>
                    </a:solidFill>
                  </a:tcPr>
                </a:tc>
              </a:tr>
              <a:tr h="0">
                <a:tc>
                  <a:txBody>
                    <a:bodyPr/>
                    <a:lstStyle/>
                    <a:p>
                      <a:pPr algn="l" indent="0" marL="0">
                        <a:buNone/>
                      </a:pPr>
                      <a:r>
                        <a:rPr lang="en-US" sz="1200" b="1" dirty="0">
                          <a:solidFill>
                            <a:srgbClr val="0E2127"/>
                          </a:solidFill>
                          <a:latin typeface="Calibri" pitchFamily="34" charset="0"/>
                          <a:ea typeface="Calibri" pitchFamily="34" charset="-122"/>
                          <a:cs typeface="Calibri" pitchFamily="34" charset="-120"/>
                        </a:rPr>
                        <a:t>A  No intervention</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3474C"/>
                          </a:solidFill>
                          <a:latin typeface="Calibri" pitchFamily="34" charset="0"/>
                          <a:ea typeface="Calibri" pitchFamily="34" charset="-122"/>
                          <a:cs typeface="Calibri" pitchFamily="34" charset="-120"/>
                        </a:rPr>
                        <a:t>11,907 L</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3474C"/>
                          </a:solidFill>
                          <a:latin typeface="Calibri" pitchFamily="34" charset="0"/>
                          <a:ea typeface="Calibri" pitchFamily="34" charset="-122"/>
                          <a:cs typeface="Calibri" pitchFamily="34" charset="-120"/>
                        </a:rPr>
                        <a:t>714 kg</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3474C"/>
                          </a:solidFill>
                          <a:latin typeface="Calibri" pitchFamily="34" charset="0"/>
                          <a:ea typeface="Calibri" pitchFamily="34" charset="-122"/>
                          <a:cs typeface="Calibri" pitchFamily="34" charset="-120"/>
                        </a:rPr>
                        <a:t>2,239 kWh</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3474C"/>
                          </a:solidFill>
                          <a:latin typeface="Calibri" pitchFamily="34" charset="0"/>
                          <a:ea typeface="Calibri" pitchFamily="34" charset="-122"/>
                          <a:cs typeface="Calibri" pitchFamily="34" charset="-120"/>
                        </a:rPr>
                        <a:t>3,063 kg</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3474C"/>
                          </a:solidFill>
                          <a:latin typeface="Calibri" pitchFamily="34" charset="0"/>
                          <a:ea typeface="Calibri" pitchFamily="34" charset="-122"/>
                          <a:cs typeface="Calibri" pitchFamily="34" charset="-120"/>
                        </a:rPr>
                        <a:t>₹33,897</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3474C"/>
                          </a:solidFill>
                          <a:latin typeface="Calibri" pitchFamily="34" charset="0"/>
                          <a:ea typeface="Calibri" pitchFamily="34" charset="-122"/>
                          <a:cs typeface="Calibri" pitchFamily="34" charset="-120"/>
                        </a:rPr>
                        <a:t>0.0 h</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r>
              <a:tr h="0">
                <a:tc>
                  <a:txBody>
                    <a:bodyPr/>
                    <a:lstStyle/>
                    <a:p>
                      <a:pPr algn="l" indent="0" marL="0">
                        <a:buNone/>
                      </a:pPr>
                      <a:r>
                        <a:rPr lang="en-US" sz="1200" b="1" dirty="0">
                          <a:solidFill>
                            <a:srgbClr val="14525F"/>
                          </a:solidFill>
                          <a:latin typeface="Calibri" pitchFamily="34" charset="0"/>
                          <a:ea typeface="Calibri" pitchFamily="34" charset="-122"/>
                          <a:cs typeface="Calibri" pitchFamily="34" charset="-120"/>
                        </a:rPr>
                        <a:t>B  ChangeLoop, recommended</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E3EFF2"/>
                    </a:solidFill>
                  </a:tcPr>
                </a:tc>
                <a:tc>
                  <a:txBody>
                    <a:bodyPr/>
                    <a:lstStyle/>
                    <a:p>
                      <a:pPr algn="r" indent="0" marL="0">
                        <a:buNone/>
                      </a:pPr>
                      <a:r>
                        <a:rPr lang="en-US" sz="1200" b="1" dirty="0">
                          <a:solidFill>
                            <a:srgbClr val="14525F"/>
                          </a:solidFill>
                          <a:latin typeface="Calibri" pitchFamily="34" charset="0"/>
                          <a:ea typeface="Calibri" pitchFamily="34" charset="-122"/>
                          <a:cs typeface="Calibri" pitchFamily="34" charset="-120"/>
                        </a:rPr>
                        <a:t>11,187 L</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E3EFF2"/>
                    </a:solidFill>
                  </a:tcPr>
                </a:tc>
                <a:tc>
                  <a:txBody>
                    <a:bodyPr/>
                    <a:lstStyle/>
                    <a:p>
                      <a:pPr algn="r" indent="0" marL="0">
                        <a:buNone/>
                      </a:pPr>
                      <a:r>
                        <a:rPr lang="en-US" sz="1200" b="1" dirty="0">
                          <a:solidFill>
                            <a:srgbClr val="14525F"/>
                          </a:solidFill>
                          <a:latin typeface="Calibri" pitchFamily="34" charset="0"/>
                          <a:ea typeface="Calibri" pitchFamily="34" charset="-122"/>
                          <a:cs typeface="Calibri" pitchFamily="34" charset="-120"/>
                        </a:rPr>
                        <a:t>671 kg</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E3EFF2"/>
                    </a:solidFill>
                  </a:tcPr>
                </a:tc>
                <a:tc>
                  <a:txBody>
                    <a:bodyPr/>
                    <a:lstStyle/>
                    <a:p>
                      <a:pPr algn="r" indent="0" marL="0">
                        <a:buNone/>
                      </a:pPr>
                      <a:r>
                        <a:rPr lang="en-US" sz="1200" b="1" dirty="0">
                          <a:solidFill>
                            <a:srgbClr val="14525F"/>
                          </a:solidFill>
                          <a:latin typeface="Calibri" pitchFamily="34" charset="0"/>
                          <a:ea typeface="Calibri" pitchFamily="34" charset="-122"/>
                          <a:cs typeface="Calibri" pitchFamily="34" charset="-120"/>
                        </a:rPr>
                        <a:t>2,104 kWh</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E3EFF2"/>
                    </a:solidFill>
                  </a:tcPr>
                </a:tc>
                <a:tc>
                  <a:txBody>
                    <a:bodyPr/>
                    <a:lstStyle/>
                    <a:p>
                      <a:pPr algn="r" indent="0" marL="0">
                        <a:buNone/>
                      </a:pPr>
                      <a:r>
                        <a:rPr lang="en-US" sz="1200" b="1" dirty="0">
                          <a:solidFill>
                            <a:srgbClr val="14525F"/>
                          </a:solidFill>
                          <a:latin typeface="Calibri" pitchFamily="34" charset="0"/>
                          <a:ea typeface="Calibri" pitchFamily="34" charset="-122"/>
                          <a:cs typeface="Calibri" pitchFamily="34" charset="-120"/>
                        </a:rPr>
                        <a:t>2,305 kg</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E3EFF2"/>
                    </a:solidFill>
                  </a:tcPr>
                </a:tc>
                <a:tc>
                  <a:txBody>
                    <a:bodyPr/>
                    <a:lstStyle/>
                    <a:p>
                      <a:pPr algn="r" indent="0" marL="0">
                        <a:buNone/>
                      </a:pPr>
                      <a:r>
                        <a:rPr lang="en-US" sz="1200" b="1" dirty="0">
                          <a:solidFill>
                            <a:srgbClr val="14525F"/>
                          </a:solidFill>
                          <a:latin typeface="Calibri" pitchFamily="34" charset="0"/>
                          <a:ea typeface="Calibri" pitchFamily="34" charset="-122"/>
                          <a:cs typeface="Calibri" pitchFamily="34" charset="-120"/>
                        </a:rPr>
                        <a:t>₹26,038</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E3EFF2"/>
                    </a:solidFill>
                  </a:tcPr>
                </a:tc>
                <a:tc>
                  <a:txBody>
                    <a:bodyPr/>
                    <a:lstStyle/>
                    <a:p>
                      <a:pPr algn="r" indent="0" marL="0">
                        <a:buNone/>
                      </a:pPr>
                      <a:r>
                        <a:rPr lang="en-US" sz="1200" b="1" dirty="0">
                          <a:solidFill>
                            <a:srgbClr val="14525F"/>
                          </a:solidFill>
                          <a:latin typeface="Calibri" pitchFamily="34" charset="0"/>
                          <a:ea typeface="Calibri" pitchFamily="34" charset="-122"/>
                          <a:cs typeface="Calibri" pitchFamily="34" charset="-120"/>
                        </a:rPr>
                        <a:t>0.0 h</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E3EFF2"/>
                    </a:solidFill>
                  </a:tcPr>
                </a:tc>
              </a:tr>
              <a:tr h="0">
                <a:tc>
                  <a:txBody>
                    <a:bodyPr/>
                    <a:lstStyle/>
                    <a:p>
                      <a:pPr algn="l" indent="0" marL="0">
                        <a:buNone/>
                      </a:pPr>
                      <a:r>
                        <a:rPr lang="en-US" sz="1200" b="1" dirty="0">
                          <a:solidFill>
                            <a:srgbClr val="B23A2B"/>
                          </a:solidFill>
                          <a:latin typeface="Calibri" pitchFamily="34" charset="0"/>
                          <a:ea typeface="Calibri" pitchFamily="34" charset="-122"/>
                          <a:cs typeface="Calibri" pitchFamily="34" charset="-120"/>
                        </a:rPr>
                        <a:t>C  Freshwater minimum — REFUSED</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BEDEA"/>
                    </a:solidFill>
                  </a:tcPr>
                </a:tc>
                <a:tc>
                  <a:txBody>
                    <a:bodyPr/>
                    <a:lstStyle/>
                    <a:p>
                      <a:pPr algn="r" indent="0" marL="0">
                        <a:buNone/>
                      </a:pPr>
                      <a:r>
                        <a:rPr lang="en-US" sz="1200" dirty="0">
                          <a:solidFill>
                            <a:srgbClr val="B23A2B"/>
                          </a:solidFill>
                          <a:latin typeface="Calibri" pitchFamily="34" charset="0"/>
                          <a:ea typeface="Calibri" pitchFamily="34" charset="-122"/>
                          <a:cs typeface="Calibri" pitchFamily="34" charset="-120"/>
                        </a:rPr>
                        <a:t>5,889 L</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BEDEA"/>
                    </a:solidFill>
                  </a:tcPr>
                </a:tc>
                <a:tc>
                  <a:txBody>
                    <a:bodyPr/>
                    <a:lstStyle/>
                    <a:p>
                      <a:pPr algn="r" indent="0" marL="0">
                        <a:buNone/>
                      </a:pPr>
                      <a:r>
                        <a:rPr lang="en-US" sz="1200" dirty="0">
                          <a:solidFill>
                            <a:srgbClr val="B23A2B"/>
                          </a:solidFill>
                          <a:latin typeface="Calibri" pitchFamily="34" charset="0"/>
                          <a:ea typeface="Calibri" pitchFamily="34" charset="-122"/>
                          <a:cs typeface="Calibri" pitchFamily="34" charset="-120"/>
                        </a:rPr>
                        <a:t>353 kg</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BEDEA"/>
                    </a:solidFill>
                  </a:tcPr>
                </a:tc>
                <a:tc>
                  <a:txBody>
                    <a:bodyPr/>
                    <a:lstStyle/>
                    <a:p>
                      <a:pPr algn="r" indent="0" marL="0">
                        <a:buNone/>
                      </a:pPr>
                      <a:r>
                        <a:rPr lang="en-US" sz="1200" dirty="0">
                          <a:solidFill>
                            <a:srgbClr val="B23A2B"/>
                          </a:solidFill>
                          <a:latin typeface="Calibri" pitchFamily="34" charset="0"/>
                          <a:ea typeface="Calibri" pitchFamily="34" charset="-122"/>
                          <a:cs typeface="Calibri" pitchFamily="34" charset="-120"/>
                        </a:rPr>
                        <a:t>1,108 kWh</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BEDEA"/>
                    </a:solidFill>
                  </a:tcPr>
                </a:tc>
                <a:tc>
                  <a:txBody>
                    <a:bodyPr/>
                    <a:lstStyle/>
                    <a:p>
                      <a:pPr algn="r" indent="0" marL="0">
                        <a:buNone/>
                      </a:pPr>
                      <a:r>
                        <a:rPr lang="en-US" sz="1200" dirty="0">
                          <a:solidFill>
                            <a:srgbClr val="B23A2B"/>
                          </a:solidFill>
                          <a:latin typeface="Calibri" pitchFamily="34" charset="0"/>
                          <a:ea typeface="Calibri" pitchFamily="34" charset="-122"/>
                          <a:cs typeface="Calibri" pitchFamily="34" charset="-120"/>
                        </a:rPr>
                        <a:t>2,194 kg</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BEDEA"/>
                    </a:solidFill>
                  </a:tcPr>
                </a:tc>
                <a:tc>
                  <a:txBody>
                    <a:bodyPr/>
                    <a:lstStyle/>
                    <a:p>
                      <a:pPr algn="r" indent="0" marL="0">
                        <a:buNone/>
                      </a:pPr>
                      <a:r>
                        <a:rPr lang="en-US" sz="1200" dirty="0">
                          <a:solidFill>
                            <a:srgbClr val="B23A2B"/>
                          </a:solidFill>
                          <a:latin typeface="Calibri" pitchFamily="34" charset="0"/>
                          <a:ea typeface="Calibri" pitchFamily="34" charset="-122"/>
                          <a:cs typeface="Calibri" pitchFamily="34" charset="-120"/>
                        </a:rPr>
                        <a:t>₹32,781</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BEDEA"/>
                    </a:solidFill>
                  </a:tcPr>
                </a:tc>
                <a:tc>
                  <a:txBody>
                    <a:bodyPr/>
                    <a:lstStyle/>
                    <a:p>
                      <a:pPr algn="r" indent="0" marL="0">
                        <a:buNone/>
                      </a:pPr>
                      <a:r>
                        <a:rPr lang="en-US" sz="1200" dirty="0">
                          <a:solidFill>
                            <a:srgbClr val="B23A2B"/>
                          </a:solidFill>
                          <a:latin typeface="Calibri" pitchFamily="34" charset="0"/>
                          <a:ea typeface="Calibri" pitchFamily="34" charset="-122"/>
                          <a:cs typeface="Calibri" pitchFamily="34" charset="-120"/>
                        </a:rPr>
                        <a:t>2.6 h</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BEDEA"/>
                    </a:solidFill>
                  </a:tcPr>
                </a:tc>
              </a:tr>
            </a:tbl>
          </a:graphicData>
        </a:graphic>
      </p:graphicFrame>
      <p:sp>
        <p:nvSpPr>
          <p:cNvPr id="6" name="card-refuse"/>
          <p:cNvSpPr/>
          <p:nvPr/>
        </p:nvSpPr>
        <p:spPr>
          <a:xfrm>
            <a:off x="685800" y="3977640"/>
            <a:ext cx="5120640" cy="1828800"/>
          </a:xfrm>
          <a:prstGeom prst="roundRect">
            <a:avLst>
              <a:gd name="adj" fmla="val 2000"/>
            </a:avLst>
          </a:prstGeom>
          <a:solidFill>
            <a:srgbClr val="FBEDEA"/>
          </a:solidFill>
          <a:ln w="9525">
            <a:solidFill>
              <a:srgbClr val="E8C4BC"/>
            </a:solidFill>
            <a:prstDash val="solid"/>
          </a:ln>
        </p:spPr>
      </p:sp>
      <p:sp>
        <p:nvSpPr>
          <p:cNvPr id="7" name="ref-h"/>
          <p:cNvSpPr txBox="1"/>
          <p:nvPr/>
        </p:nvSpPr>
        <p:spPr>
          <a:xfrm>
            <a:off x="960120" y="4169664"/>
            <a:ext cx="4572000" cy="329184"/>
          </a:xfrm>
          <a:prstGeom prst="rect">
            <a:avLst/>
          </a:prstGeom>
          <a:noFill/>
          <a:ln/>
        </p:spPr>
        <p:txBody>
          <a:bodyPr wrap="square" lIns="0" tIns="0" rIns="0" bIns="0" rtlCol="0" anchor="ctr"/>
          <a:lstStyle/>
          <a:p>
            <a:pPr indent="0" marL="0">
              <a:buNone/>
            </a:pPr>
            <a:r>
              <a:rPr lang="en-US" sz="1500" b="1" dirty="0">
                <a:solidFill>
                  <a:srgbClr val="B23A2B"/>
                </a:solidFill>
                <a:latin typeface="Cambria" pitchFamily="34" charset="0"/>
                <a:ea typeface="Cambria" pitchFamily="34" charset="-122"/>
                <a:cs typeface="Cambria" pitchFamily="34" charset="-120"/>
              </a:rPr>
              <a:t>Why C is refused</a:t>
            </a:r>
            <a:endParaRPr lang="en-US" sz="1500" dirty="0"/>
          </a:p>
        </p:txBody>
      </p:sp>
      <p:sp>
        <p:nvSpPr>
          <p:cNvPr id="8" name="ref-b"/>
          <p:cNvSpPr txBox="1"/>
          <p:nvPr/>
        </p:nvSpPr>
        <p:spPr>
          <a:xfrm>
            <a:off x="960120" y="4535424"/>
            <a:ext cx="4572000" cy="1188720"/>
          </a:xfrm>
          <a:prstGeom prst="rect">
            <a:avLst/>
          </a:prstGeom>
          <a:noFill/>
          <a:ln/>
        </p:spPr>
        <p:txBody>
          <a:bodyPr wrap="square" lIns="0" tIns="0" rIns="0" bIns="0" rtlCol="0" anchor="t"/>
          <a:lstStyle/>
          <a:p>
            <a:pPr indent="0" marL="0">
              <a:buNone/>
            </a:pPr>
            <a:r>
              <a:rPr lang="en-US" sz="1250" dirty="0">
                <a:solidFill>
                  <a:srgbClr val="7A2B20"/>
                </a:solidFill>
              </a:rPr>
              <a:t>Option C saves almost half the freshwater and ChangeLoop will not recommend it, because it breaches a firm buyer ship date by 2.6 hours.</a:t>
            </a:r>
            <a:endParaRPr lang="en-US" sz="1250" dirty="0"/>
          </a:p>
          <a:p>
            <a:pPr indent="0" marL="0">
              <a:buNone/>
            </a:pPr>
            <a:endParaRPr lang="en-US" sz="1250" dirty="0"/>
          </a:p>
          <a:p>
            <a:pPr indent="0" marL="0">
              <a:buNone/>
            </a:pPr>
            <a:r>
              <a:rPr lang="en-US" sz="1250" dirty="0">
                <a:solidFill>
                  <a:srgbClr val="7A2B20"/>
                </a:solidFill>
              </a:rPr>
              <a:t>That refusal is the product working. A water tool that misses a shipment gets switched off in a week.</a:t>
            </a:r>
            <a:endParaRPr lang="en-US" sz="1250" dirty="0"/>
          </a:p>
        </p:txBody>
      </p:sp>
      <p:sp>
        <p:nvSpPr>
          <p:cNvPr id="9" name="trace-h"/>
          <p:cNvSpPr txBox="1"/>
          <p:nvPr/>
        </p:nvSpPr>
        <p:spPr>
          <a:xfrm>
            <a:off x="6355080" y="4023360"/>
            <a:ext cx="5120640" cy="329184"/>
          </a:xfrm>
          <a:prstGeom prst="rect">
            <a:avLst/>
          </a:prstGeom>
          <a:noFill/>
          <a:ln/>
        </p:spPr>
        <p:txBody>
          <a:bodyPr wrap="square" lIns="0" tIns="0" rIns="0" bIns="0" rtlCol="0" anchor="ctr"/>
          <a:lstStyle/>
          <a:p>
            <a:pPr indent="0" marL="0">
              <a:buNone/>
            </a:pPr>
            <a:r>
              <a:rPr lang="en-US" sz="1500" b="1" dirty="0">
                <a:solidFill>
                  <a:srgbClr val="0E2127"/>
                </a:solidFill>
                <a:latin typeface="Cambria" pitchFamily="34" charset="0"/>
                <a:ea typeface="Cambria" pitchFamily="34" charset="-122"/>
                <a:cs typeface="Cambria" pitchFamily="34" charset="-120"/>
              </a:rPr>
              <a:t>Every number on this slide is produced by the engine and traceable</a:t>
            </a:r>
            <a:endParaRPr lang="en-US" sz="1500" dirty="0"/>
          </a:p>
        </p:txBody>
      </p:sp>
      <p:sp>
        <p:nvSpPr>
          <p:cNvPr id="10" name="trace-b"/>
          <p:cNvSpPr txBox="1"/>
          <p:nvPr/>
        </p:nvSpPr>
        <p:spPr>
          <a:xfrm>
            <a:off x="6355080" y="4407408"/>
            <a:ext cx="5120640" cy="1371600"/>
          </a:xfrm>
          <a:prstGeom prst="rect">
            <a:avLst/>
          </a:prstGeom>
          <a:noFill/>
          <a:ln/>
        </p:spPr>
        <p:txBody>
          <a:bodyPr wrap="square" lIns="0" tIns="0" rIns="0" bIns="0" rtlCol="0" anchor="t"/>
          <a:lstStyle/>
          <a:p>
            <a:pPr indent="0" marL="0">
              <a:buNone/>
            </a:pPr>
            <a:r>
              <a:rPr lang="en-US" sz="1250" dirty="0">
                <a:solidFill>
                  <a:srgbClr val="44555A"/>
                </a:solidFill>
              </a:rPr>
              <a:t>Click any figure in the interface and it opens its formula, its upstream chain, and every coefficient with that coefficient’s unit, derivation and evidence class.
</a:t>
            </a:r>
            <a:pPr indent="0" marL="0">
              <a:buNone/>
            </a:pPr>
            <a:r>
              <a:rPr lang="en-US" sz="1250" b="1" dirty="0">
                <a:solidFill>
                  <a:srgbClr val="44555A"/>
                </a:solidFill>
              </a:rPr>
              <a:t>8 accounting invariants</a:t>
            </a:r>
            <a:pPr indent="0" marL="0">
              <a:buNone/>
            </a:pPr>
            <a:r>
              <a:rPr lang="en-US" sz="1250" dirty="0">
                <a:solidFill>
                  <a:srgbClr val="44555A"/>
                </a:solidFill>
              </a:rPr>
              <a:t> run on every read of the ledger — water balance, salt balance, no double counting, no credit for an unapproved decision. If one fails, the figure is not displayed.</a:t>
            </a:r>
            <a:endParaRPr lang="en-US" sz="1250" dirty="0"/>
          </a:p>
        </p:txBody>
      </p:sp>
      <p:sp>
        <p:nvSpPr>
          <p:cNvPr id="12" name="Text 1"/>
          <p:cNvSpPr/>
          <p:nvPr>
            <p:ph idx="104" type="chart" hasCustomPrompt="1"/>
          </p:nvPr>
        </p:nvSpPr>
        <p:spPr>
          <a:xfrm>
            <a:off x="685800" y="2240280"/>
            <a:ext cx="10789920" cy="3931920"/>
          </a:xfrm>
          <a:prstGeom prst="rect">
            <a:avLst/>
          </a:prstGeom>
          <a:noFill/>
          <a:ln/>
        </p:spPr>
        <p:txBody>
          <a:bodyPr wrap="square" rtlCol="0"/>
          <a:lstStyle/>
          <a:p>
            <a:pPr indent="0" marL="0">
              <a:buNone/>
            </a:pPr>
            <a:endParaRPr lang="en-US" dirty="0"/>
          </a:p>
        </p:txBody>
      </p:sp>
      <p:sp>
        <p:nvSpPr>
          <p:cNvPr id="25" name="Slide Number Placeholder 0"/>
          <p:cNvSpPr>
            <a:spLocks noGrp="1"/>
          </p:cNvSpPr>
          <p:nvPr>
            <p:ph type="sldNum" sz="quarter" idx="4294967295"/>
          </p:nvPr>
        </p:nvSpPr>
        <p:spPr>
          <a:xfrm>
            <a:off x="114757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AAAAE"/>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384048"/>
            <a:ext cx="10789920" cy="274320"/>
          </a:xfrm>
          <a:prstGeom prst="rect">
            <a:avLst/>
          </a:prstGeom>
          <a:noFill/>
          <a:ln/>
        </p:spPr>
        <p:txBody>
          <a:bodyPr wrap="square" rtlCol="0"/>
          <a:lstStyle/>
          <a:p>
            <a:pPr indent="0" marL="0">
              <a:buNone/>
            </a:pPr>
            <a:r>
              <a:rPr lang="en-US" sz="1100" b="1" spc="200" kern="0" dirty="0">
                <a:solidFill>
                  <a:srgbClr val="B98A2E"/>
                </a:solidFill>
              </a:rPr>
              <a:t>THE OPERATIONAL MANDATE</a:t>
            </a:r>
            <a:endParaRPr lang="en-US" sz="1100" dirty="0"/>
          </a:p>
        </p:txBody>
      </p:sp>
      <p:sp>
        <p:nvSpPr>
          <p:cNvPr id="3" name="Text 0"/>
          <p:cNvSpPr/>
          <p:nvPr>
            <p:ph idx="101" type="title" hasCustomPrompt="1"/>
          </p:nvPr>
        </p:nvSpPr>
        <p:spPr>
          <a:xfrm>
            <a:off x="685800" y="658368"/>
            <a:ext cx="10789920" cy="932688"/>
          </a:xfrm>
          <a:prstGeom prst="rect">
            <a:avLst/>
          </a:prstGeom>
          <a:noFill/>
          <a:ln/>
        </p:spPr>
        <p:txBody>
          <a:bodyPr wrap="square" rtlCol="0" anchor="t"/>
          <a:lstStyle/>
          <a:p>
            <a:pPr algn="l" indent="0" marL="0">
              <a:buNone/>
            </a:pPr>
            <a:r>
              <a:rPr lang="en-US" sz="3100" b="1" dirty="0">
                <a:solidFill>
                  <a:srgbClr val="FFFFFF"/>
                </a:solidFill>
              </a:rPr>
              <a:t>The water lever alone does not get you compliant</a:t>
            </a:r>
            <a:endParaRPr lang="en-US" sz="3100" dirty="0"/>
          </a:p>
        </p:txBody>
      </p:sp>
      <p:sp>
        <p:nvSpPr>
          <p:cNvPr id="4" name="Text 0"/>
          <p:cNvSpPr/>
          <p:nvPr>
            <p:ph idx="102" type="body" hasCustomPrompt="1"/>
          </p:nvPr>
        </p:nvSpPr>
        <p:spPr>
          <a:xfrm>
            <a:off x="685800" y="1664208"/>
            <a:ext cx="10332720" cy="548640"/>
          </a:xfrm>
          <a:prstGeom prst="rect">
            <a:avLst/>
          </a:prstGeom>
          <a:noFill/>
          <a:ln/>
        </p:spPr>
        <p:txBody>
          <a:bodyPr wrap="square" rtlCol="0" anchor="t"/>
          <a:lstStyle/>
          <a:p>
            <a:pPr algn="l" indent="0" marL="0">
              <a:buNone/>
            </a:pPr>
            <a:r>
              <a:rPr lang="en-US" sz="1450" dirty="0">
                <a:solidFill>
                  <a:srgbClr val="B7CBD0"/>
                </a:solidFill>
              </a:rPr>
              <a:t>Judged against a real per-machine-shift abstraction allocation: 72,000 L/day site allowance / (4 machines x 2 shifts) = 9,000 L per machine-shift</a:t>
            </a:r>
            <a:endParaRPr lang="en-US" sz="1450" dirty="0"/>
          </a:p>
        </p:txBody>
      </p:sp>
      <p:sp>
        <p:nvSpPr>
          <p:cNvPr id="5" name="er-0"/>
          <p:cNvSpPr txBox="1"/>
          <p:nvPr/>
        </p:nvSpPr>
        <p:spPr>
          <a:xfrm>
            <a:off x="685800" y="2377440"/>
            <a:ext cx="5486400" cy="310896"/>
          </a:xfrm>
          <a:prstGeom prst="rect">
            <a:avLst/>
          </a:prstGeom>
          <a:noFill/>
          <a:ln/>
        </p:spPr>
        <p:txBody>
          <a:bodyPr wrap="square" lIns="0" tIns="0" rIns="0" bIns="0" rtlCol="0" anchor="ctr"/>
          <a:lstStyle/>
          <a:p>
            <a:pPr indent="0" marL="0">
              <a:buNone/>
            </a:pPr>
            <a:r>
              <a:rPr lang="en-US" sz="1400" dirty="0">
                <a:solidFill>
                  <a:srgbClr val="D7E3E6"/>
                </a:solidFill>
              </a:rPr>
              <a:t>Do nothing</a:t>
            </a:r>
            <a:endParaRPr lang="en-US" sz="1400" dirty="0"/>
          </a:p>
        </p:txBody>
      </p:sp>
      <p:sp>
        <p:nvSpPr>
          <p:cNvPr id="6" name="ed-0"/>
          <p:cNvSpPr txBox="1"/>
          <p:nvPr/>
        </p:nvSpPr>
        <p:spPr>
          <a:xfrm>
            <a:off x="6263640" y="2340864"/>
            <a:ext cx="1371600" cy="365760"/>
          </a:xfrm>
          <a:prstGeom prst="rect">
            <a:avLst/>
          </a:prstGeom>
          <a:noFill/>
          <a:ln/>
        </p:spPr>
        <p:txBody>
          <a:bodyPr wrap="square" lIns="0" tIns="0" rIns="0" bIns="0" rtlCol="0" anchor="ctr"/>
          <a:lstStyle/>
          <a:p>
            <a:pPr algn="r" indent="0" marL="0">
              <a:buNone/>
            </a:pPr>
            <a:r>
              <a:rPr lang="en-US" sz="1500" dirty="0">
                <a:solidFill>
                  <a:srgbClr val="D7E3E6"/>
                </a:solidFill>
                <a:latin typeface="Courier New" pitchFamily="34" charset="0"/>
                <a:ea typeface="Courier New" pitchFamily="34" charset="-122"/>
                <a:cs typeface="Courier New" pitchFamily="34" charset="-120"/>
              </a:rPr>
              <a:t>11,907 L</a:t>
            </a:r>
            <a:endParaRPr lang="en-US" sz="1500" dirty="0"/>
          </a:p>
        </p:txBody>
      </p:sp>
      <p:sp>
        <p:nvSpPr>
          <p:cNvPr id="7" name="eu-0"/>
          <p:cNvSpPr txBox="1"/>
          <p:nvPr/>
        </p:nvSpPr>
        <p:spPr>
          <a:xfrm>
            <a:off x="7726680" y="2286000"/>
            <a:ext cx="1371600" cy="420624"/>
          </a:xfrm>
          <a:prstGeom prst="rect">
            <a:avLst/>
          </a:prstGeom>
          <a:noFill/>
          <a:ln/>
        </p:spPr>
        <p:txBody>
          <a:bodyPr wrap="square" lIns="0" tIns="0" rIns="0" bIns="0" rtlCol="0" anchor="ctr"/>
          <a:lstStyle/>
          <a:p>
            <a:pPr algn="r" indent="0" marL="0">
              <a:buNone/>
            </a:pPr>
            <a:r>
              <a:rPr lang="en-US" sz="2200" b="1" dirty="0">
                <a:solidFill>
                  <a:srgbClr val="EF8373"/>
                </a:solidFill>
                <a:latin typeface="Cambria" pitchFamily="34" charset="0"/>
                <a:ea typeface="Cambria" pitchFamily="34" charset="-122"/>
                <a:cs typeface="Cambria" pitchFamily="34" charset="-120"/>
              </a:rPr>
              <a:t>132.3%</a:t>
            </a:r>
            <a:endParaRPr lang="en-US" sz="2200" dirty="0"/>
          </a:p>
        </p:txBody>
      </p:sp>
      <p:sp>
        <p:nvSpPr>
          <p:cNvPr id="8" name="en-0"/>
          <p:cNvSpPr txBox="1"/>
          <p:nvPr/>
        </p:nvSpPr>
        <p:spPr>
          <a:xfrm>
            <a:off x="9189720" y="2359152"/>
            <a:ext cx="2286000" cy="365760"/>
          </a:xfrm>
          <a:prstGeom prst="rect">
            <a:avLst/>
          </a:prstGeom>
          <a:noFill/>
          <a:ln/>
        </p:spPr>
        <p:txBody>
          <a:bodyPr wrap="square" lIns="0" tIns="0" rIns="0" bIns="0" rtlCol="0" anchor="ctr"/>
          <a:lstStyle/>
          <a:p>
            <a:pPr indent="0" marL="0">
              <a:buNone/>
            </a:pPr>
            <a:r>
              <a:rPr lang="en-US" sz="1150" i="1" dirty="0">
                <a:solidFill>
                  <a:srgbClr val="EF8373"/>
                </a:solidFill>
              </a:rPr>
              <a:t>breaches at 14:00</a:t>
            </a:r>
            <a:endParaRPr lang="en-US" sz="1150" dirty="0"/>
          </a:p>
        </p:txBody>
      </p:sp>
      <p:sp>
        <p:nvSpPr>
          <p:cNvPr id="9" name="ebt-0"/>
          <p:cNvSpPr/>
          <p:nvPr/>
        </p:nvSpPr>
        <p:spPr>
          <a:xfrm>
            <a:off x="685800" y="2761488"/>
            <a:ext cx="5486400" cy="137160"/>
          </a:xfrm>
          <a:prstGeom prst="rect">
            <a:avLst/>
          </a:prstGeom>
          <a:solidFill>
            <a:srgbClr val="16323A"/>
          </a:solidFill>
          <a:ln w="12700">
            <a:solidFill>
              <a:srgbClr val="16323A"/>
            </a:solidFill>
            <a:prstDash val="solid"/>
          </a:ln>
        </p:spPr>
      </p:sp>
      <p:sp>
        <p:nvSpPr>
          <p:cNvPr id="10" name="ebf-0"/>
          <p:cNvSpPr/>
          <p:nvPr/>
        </p:nvSpPr>
        <p:spPr>
          <a:xfrm>
            <a:off x="685800" y="2761488"/>
            <a:ext cx="5005867" cy="137160"/>
          </a:xfrm>
          <a:prstGeom prst="rect">
            <a:avLst/>
          </a:prstGeom>
          <a:solidFill>
            <a:srgbClr val="EF8373"/>
          </a:solidFill>
          <a:ln w="12700">
            <a:solidFill>
              <a:srgbClr val="EF8373"/>
            </a:solidFill>
            <a:prstDash val="solid"/>
          </a:ln>
        </p:spPr>
      </p:sp>
      <p:sp>
        <p:nvSpPr>
          <p:cNvPr id="11" name="eba-0"/>
          <p:cNvSpPr/>
          <p:nvPr/>
        </p:nvSpPr>
        <p:spPr>
          <a:xfrm>
            <a:off x="4469524" y="2706624"/>
            <a:ext cx="22860" cy="246888"/>
          </a:xfrm>
          <a:prstGeom prst="rect">
            <a:avLst/>
          </a:prstGeom>
          <a:solidFill>
            <a:srgbClr val="FFFFFF"/>
          </a:solidFill>
          <a:ln w="12700">
            <a:solidFill>
              <a:srgbClr val="FFFFFF"/>
            </a:solidFill>
            <a:prstDash val="solid"/>
          </a:ln>
        </p:spPr>
      </p:sp>
      <p:sp>
        <p:nvSpPr>
          <p:cNvPr id="12" name="er-1"/>
          <p:cNvSpPr txBox="1"/>
          <p:nvPr/>
        </p:nvSpPr>
        <p:spPr>
          <a:xfrm>
            <a:off x="685800" y="3456432"/>
            <a:ext cx="5486400" cy="310896"/>
          </a:xfrm>
          <a:prstGeom prst="rect">
            <a:avLst/>
          </a:prstGeom>
          <a:noFill/>
          <a:ln/>
        </p:spPr>
        <p:txBody>
          <a:bodyPr wrap="square" lIns="0" tIns="0" rIns="0" bIns="0" rtlCol="0" anchor="ctr"/>
          <a:lstStyle/>
          <a:p>
            <a:pPr indent="0" marL="0">
              <a:buNone/>
            </a:pPr>
            <a:r>
              <a:rPr lang="en-US" sz="1400" dirty="0">
                <a:solidFill>
                  <a:srgbClr val="D7E3E6"/>
                </a:solidFill>
              </a:rPr>
              <a:t>Resequence + counter-current  (water lever)</a:t>
            </a:r>
            <a:endParaRPr lang="en-US" sz="1400" dirty="0"/>
          </a:p>
        </p:txBody>
      </p:sp>
      <p:sp>
        <p:nvSpPr>
          <p:cNvPr id="13" name="ed-1"/>
          <p:cNvSpPr txBox="1"/>
          <p:nvPr/>
        </p:nvSpPr>
        <p:spPr>
          <a:xfrm>
            <a:off x="6263640" y="3419856"/>
            <a:ext cx="1371600" cy="365760"/>
          </a:xfrm>
          <a:prstGeom prst="rect">
            <a:avLst/>
          </a:prstGeom>
          <a:noFill/>
          <a:ln/>
        </p:spPr>
        <p:txBody>
          <a:bodyPr wrap="square" lIns="0" tIns="0" rIns="0" bIns="0" rtlCol="0" anchor="ctr"/>
          <a:lstStyle/>
          <a:p>
            <a:pPr algn="r" indent="0" marL="0">
              <a:buNone/>
            </a:pPr>
            <a:r>
              <a:rPr lang="en-US" sz="1500" dirty="0">
                <a:solidFill>
                  <a:srgbClr val="D7E3E6"/>
                </a:solidFill>
                <a:latin typeface="Courier New" pitchFamily="34" charset="0"/>
                <a:ea typeface="Courier New" pitchFamily="34" charset="-122"/>
                <a:cs typeface="Courier New" pitchFamily="34" charset="-120"/>
              </a:rPr>
              <a:t>11,907 L</a:t>
            </a:r>
            <a:endParaRPr lang="en-US" sz="1500" dirty="0"/>
          </a:p>
        </p:txBody>
      </p:sp>
      <p:sp>
        <p:nvSpPr>
          <p:cNvPr id="14" name="eu-1"/>
          <p:cNvSpPr txBox="1"/>
          <p:nvPr/>
        </p:nvSpPr>
        <p:spPr>
          <a:xfrm>
            <a:off x="7726680" y="3364992"/>
            <a:ext cx="1371600" cy="420624"/>
          </a:xfrm>
          <a:prstGeom prst="rect">
            <a:avLst/>
          </a:prstGeom>
          <a:noFill/>
          <a:ln/>
        </p:spPr>
        <p:txBody>
          <a:bodyPr wrap="square" lIns="0" tIns="0" rIns="0" bIns="0" rtlCol="0" anchor="ctr"/>
          <a:lstStyle/>
          <a:p>
            <a:pPr algn="r" indent="0" marL="0">
              <a:buNone/>
            </a:pPr>
            <a:r>
              <a:rPr lang="en-US" sz="2200" b="1" dirty="0">
                <a:solidFill>
                  <a:srgbClr val="EF8373"/>
                </a:solidFill>
                <a:latin typeface="Cambria" pitchFamily="34" charset="0"/>
                <a:ea typeface="Cambria" pitchFamily="34" charset="-122"/>
                <a:cs typeface="Cambria" pitchFamily="34" charset="-120"/>
              </a:rPr>
              <a:t>132.3%</a:t>
            </a:r>
            <a:endParaRPr lang="en-US" sz="2200" dirty="0"/>
          </a:p>
        </p:txBody>
      </p:sp>
      <p:sp>
        <p:nvSpPr>
          <p:cNvPr id="15" name="en-1"/>
          <p:cNvSpPr txBox="1"/>
          <p:nvPr/>
        </p:nvSpPr>
        <p:spPr>
          <a:xfrm>
            <a:off x="9189720" y="3438144"/>
            <a:ext cx="2286000" cy="365760"/>
          </a:xfrm>
          <a:prstGeom prst="rect">
            <a:avLst/>
          </a:prstGeom>
          <a:noFill/>
          <a:ln/>
        </p:spPr>
        <p:txBody>
          <a:bodyPr wrap="square" lIns="0" tIns="0" rIns="0" bIns="0" rtlCol="0" anchor="ctr"/>
          <a:lstStyle/>
          <a:p>
            <a:pPr indent="0" marL="0">
              <a:buNone/>
            </a:pPr>
            <a:r>
              <a:rPr lang="en-US" sz="1150" i="1" dirty="0">
                <a:solidFill>
                  <a:srgbClr val="EF8373"/>
                </a:solidFill>
              </a:rPr>
              <a:t>still breaches at 14:00</a:t>
            </a:r>
            <a:endParaRPr lang="en-US" sz="1150" dirty="0"/>
          </a:p>
        </p:txBody>
      </p:sp>
      <p:sp>
        <p:nvSpPr>
          <p:cNvPr id="16" name="ebt-1"/>
          <p:cNvSpPr/>
          <p:nvPr/>
        </p:nvSpPr>
        <p:spPr>
          <a:xfrm>
            <a:off x="685800" y="3840480"/>
            <a:ext cx="5486400" cy="137160"/>
          </a:xfrm>
          <a:prstGeom prst="rect">
            <a:avLst/>
          </a:prstGeom>
          <a:solidFill>
            <a:srgbClr val="16323A"/>
          </a:solidFill>
          <a:ln w="12700">
            <a:solidFill>
              <a:srgbClr val="16323A"/>
            </a:solidFill>
            <a:prstDash val="solid"/>
          </a:ln>
        </p:spPr>
      </p:sp>
      <p:sp>
        <p:nvSpPr>
          <p:cNvPr id="17" name="ebf-1"/>
          <p:cNvSpPr/>
          <p:nvPr/>
        </p:nvSpPr>
        <p:spPr>
          <a:xfrm>
            <a:off x="685800" y="3840480"/>
            <a:ext cx="5005867" cy="137160"/>
          </a:xfrm>
          <a:prstGeom prst="rect">
            <a:avLst/>
          </a:prstGeom>
          <a:solidFill>
            <a:srgbClr val="EF8373"/>
          </a:solidFill>
          <a:ln w="12700">
            <a:solidFill>
              <a:srgbClr val="EF8373"/>
            </a:solidFill>
            <a:prstDash val="solid"/>
          </a:ln>
        </p:spPr>
      </p:sp>
      <p:sp>
        <p:nvSpPr>
          <p:cNvPr id="18" name="eba-1"/>
          <p:cNvSpPr/>
          <p:nvPr/>
        </p:nvSpPr>
        <p:spPr>
          <a:xfrm>
            <a:off x="4469524" y="3785616"/>
            <a:ext cx="22860" cy="246888"/>
          </a:xfrm>
          <a:prstGeom prst="rect">
            <a:avLst/>
          </a:prstGeom>
          <a:solidFill>
            <a:srgbClr val="FFFFFF"/>
          </a:solidFill>
          <a:ln w="12700">
            <a:solidFill>
              <a:srgbClr val="FFFFFF"/>
            </a:solidFill>
            <a:prstDash val="solid"/>
          </a:ln>
        </p:spPr>
      </p:sp>
      <p:sp>
        <p:nvSpPr>
          <p:cNvPr id="19" name="er-2"/>
          <p:cNvSpPr txBox="1"/>
          <p:nvPr/>
        </p:nvSpPr>
        <p:spPr>
          <a:xfrm>
            <a:off x="685800" y="4535424"/>
            <a:ext cx="5486400" cy="310896"/>
          </a:xfrm>
          <a:prstGeom prst="rect">
            <a:avLst/>
          </a:prstGeom>
          <a:noFill/>
          <a:ln/>
        </p:spPr>
        <p:txBody>
          <a:bodyPr wrap="square" lIns="0" tIns="0" rIns="0" bIns="0" rtlCol="0" anchor="ctr"/>
          <a:lstStyle/>
          <a:p>
            <a:pPr indent="0" marL="0">
              <a:buNone/>
            </a:pPr>
            <a:r>
              <a:rPr lang="en-US" sz="1400" b="1" dirty="0">
                <a:solidFill>
                  <a:srgbClr val="FFFFFF"/>
                </a:solidFill>
              </a:rPr>
              <a:t>Resequence + combined  (buys the salt lever)</a:t>
            </a:r>
            <a:endParaRPr lang="en-US" sz="1400" dirty="0"/>
          </a:p>
        </p:txBody>
      </p:sp>
      <p:sp>
        <p:nvSpPr>
          <p:cNvPr id="20" name="ed-2"/>
          <p:cNvSpPr txBox="1"/>
          <p:nvPr/>
        </p:nvSpPr>
        <p:spPr>
          <a:xfrm>
            <a:off x="6263640" y="4498848"/>
            <a:ext cx="1371600" cy="365760"/>
          </a:xfrm>
          <a:prstGeom prst="rect">
            <a:avLst/>
          </a:prstGeom>
          <a:noFill/>
          <a:ln/>
        </p:spPr>
        <p:txBody>
          <a:bodyPr wrap="square" lIns="0" tIns="0" rIns="0" bIns="0" rtlCol="0" anchor="ctr"/>
          <a:lstStyle/>
          <a:p>
            <a:pPr algn="r" indent="0" marL="0">
              <a:buNone/>
            </a:pPr>
            <a:r>
              <a:rPr lang="en-US" sz="1500" dirty="0">
                <a:solidFill>
                  <a:srgbClr val="D7E3E6"/>
                </a:solidFill>
                <a:latin typeface="Courier New" pitchFamily="34" charset="0"/>
                <a:ea typeface="Courier New" pitchFamily="34" charset="-122"/>
                <a:cs typeface="Courier New" pitchFamily="34" charset="-120"/>
              </a:rPr>
              <a:t>7,387 L</a:t>
            </a:r>
            <a:endParaRPr lang="en-US" sz="1500" dirty="0"/>
          </a:p>
        </p:txBody>
      </p:sp>
      <p:sp>
        <p:nvSpPr>
          <p:cNvPr id="21" name="eu-2"/>
          <p:cNvSpPr txBox="1"/>
          <p:nvPr/>
        </p:nvSpPr>
        <p:spPr>
          <a:xfrm>
            <a:off x="7726680" y="4443984"/>
            <a:ext cx="1371600" cy="420624"/>
          </a:xfrm>
          <a:prstGeom prst="rect">
            <a:avLst/>
          </a:prstGeom>
          <a:noFill/>
          <a:ln/>
        </p:spPr>
        <p:txBody>
          <a:bodyPr wrap="square" lIns="0" tIns="0" rIns="0" bIns="0" rtlCol="0" anchor="ctr"/>
          <a:lstStyle/>
          <a:p>
            <a:pPr algn="r" indent="0" marL="0">
              <a:buNone/>
            </a:pPr>
            <a:r>
              <a:rPr lang="en-US" sz="2200" b="1" dirty="0">
                <a:solidFill>
                  <a:srgbClr val="4ECF9E"/>
                </a:solidFill>
                <a:latin typeface="Cambria" pitchFamily="34" charset="0"/>
                <a:ea typeface="Cambria" pitchFamily="34" charset="-122"/>
                <a:cs typeface="Cambria" pitchFamily="34" charset="-120"/>
              </a:rPr>
              <a:t>82.1%</a:t>
            </a:r>
            <a:endParaRPr lang="en-US" sz="2200" dirty="0"/>
          </a:p>
        </p:txBody>
      </p:sp>
      <p:sp>
        <p:nvSpPr>
          <p:cNvPr id="22" name="en-2"/>
          <p:cNvSpPr txBox="1"/>
          <p:nvPr/>
        </p:nvSpPr>
        <p:spPr>
          <a:xfrm>
            <a:off x="9189720" y="4517136"/>
            <a:ext cx="2286000" cy="365760"/>
          </a:xfrm>
          <a:prstGeom prst="rect">
            <a:avLst/>
          </a:prstGeom>
          <a:noFill/>
          <a:ln/>
        </p:spPr>
        <p:txBody>
          <a:bodyPr wrap="square" lIns="0" tIns="0" rIns="0" bIns="0" rtlCol="0" anchor="ctr"/>
          <a:lstStyle/>
          <a:p>
            <a:pPr indent="0" marL="0">
              <a:buNone/>
            </a:pPr>
            <a:r>
              <a:rPr lang="en-US" sz="1150" i="1" dirty="0">
                <a:solidFill>
                  <a:srgbClr val="4ECF9E"/>
                </a:solidFill>
              </a:rPr>
              <a:t>inside the allocation</a:t>
            </a:r>
            <a:endParaRPr lang="en-US" sz="1150" dirty="0"/>
          </a:p>
        </p:txBody>
      </p:sp>
      <p:sp>
        <p:nvSpPr>
          <p:cNvPr id="23" name="ebt-2"/>
          <p:cNvSpPr/>
          <p:nvPr/>
        </p:nvSpPr>
        <p:spPr>
          <a:xfrm>
            <a:off x="685800" y="4919472"/>
            <a:ext cx="5486400" cy="137160"/>
          </a:xfrm>
          <a:prstGeom prst="rect">
            <a:avLst/>
          </a:prstGeom>
          <a:solidFill>
            <a:srgbClr val="16323A"/>
          </a:solidFill>
          <a:ln w="12700">
            <a:solidFill>
              <a:srgbClr val="16323A"/>
            </a:solidFill>
            <a:prstDash val="solid"/>
          </a:ln>
        </p:spPr>
      </p:sp>
      <p:sp>
        <p:nvSpPr>
          <p:cNvPr id="24" name="ebf-2"/>
          <p:cNvSpPr/>
          <p:nvPr/>
        </p:nvSpPr>
        <p:spPr>
          <a:xfrm>
            <a:off x="685800" y="4919472"/>
            <a:ext cx="3106438" cy="137160"/>
          </a:xfrm>
          <a:prstGeom prst="rect">
            <a:avLst/>
          </a:prstGeom>
          <a:solidFill>
            <a:srgbClr val="4ECF9E"/>
          </a:solidFill>
          <a:ln w="12700">
            <a:solidFill>
              <a:srgbClr val="4ECF9E"/>
            </a:solidFill>
            <a:prstDash val="solid"/>
          </a:ln>
        </p:spPr>
      </p:sp>
      <p:sp>
        <p:nvSpPr>
          <p:cNvPr id="25" name="eba-2"/>
          <p:cNvSpPr/>
          <p:nvPr/>
        </p:nvSpPr>
        <p:spPr>
          <a:xfrm>
            <a:off x="4469524" y="4864608"/>
            <a:ext cx="22860" cy="246888"/>
          </a:xfrm>
          <a:prstGeom prst="rect">
            <a:avLst/>
          </a:prstGeom>
          <a:solidFill>
            <a:srgbClr val="FFFFFF"/>
          </a:solidFill>
          <a:ln w="12700">
            <a:solidFill>
              <a:srgbClr val="FFFFFF"/>
            </a:solidFill>
            <a:prstDash val="solid"/>
          </a:ln>
        </p:spPr>
      </p:sp>
      <p:sp>
        <p:nvSpPr>
          <p:cNvPr id="26" name="alloc-lbl"/>
          <p:cNvSpPr txBox="1"/>
          <p:nvPr/>
        </p:nvSpPr>
        <p:spPr>
          <a:xfrm>
            <a:off x="4058044" y="2066544"/>
            <a:ext cx="914400" cy="237744"/>
          </a:xfrm>
          <a:prstGeom prst="rect">
            <a:avLst/>
          </a:prstGeom>
          <a:noFill/>
          <a:ln/>
        </p:spPr>
        <p:txBody>
          <a:bodyPr wrap="square" lIns="0" tIns="0" rIns="0" bIns="0" rtlCol="0" anchor="ctr"/>
          <a:lstStyle/>
          <a:p>
            <a:pPr algn="ctr" indent="0" marL="0">
              <a:buNone/>
            </a:pPr>
            <a:r>
              <a:rPr lang="en-US" sz="950" dirty="0">
                <a:solidFill>
                  <a:srgbClr val="FFFFFF"/>
                </a:solidFill>
              </a:rPr>
              <a:t>allocation</a:t>
            </a:r>
            <a:endParaRPr lang="en-US" sz="950" dirty="0"/>
          </a:p>
        </p:txBody>
      </p:sp>
      <p:sp>
        <p:nvSpPr>
          <p:cNvPr id="27" name="mandate-concl"/>
          <p:cNvSpPr txBox="1"/>
          <p:nvPr/>
        </p:nvSpPr>
        <p:spPr>
          <a:xfrm>
            <a:off x="685800" y="5577840"/>
            <a:ext cx="10789920" cy="685800"/>
          </a:xfrm>
          <a:prstGeom prst="rect">
            <a:avLst/>
          </a:prstGeom>
          <a:noFill/>
          <a:ln/>
        </p:spPr>
        <p:txBody>
          <a:bodyPr wrap="square" lIns="0" tIns="0" rIns="0" bIns="0" rtlCol="0" anchor="t"/>
          <a:lstStyle/>
          <a:p>
            <a:pPr indent="0" marL="0">
              <a:buNone/>
            </a:pPr>
            <a:r>
              <a:rPr lang="en-US" sz="1400" b="1" dirty="0">
                <a:solidFill>
                  <a:srgbClr val="FFFFFF"/>
                </a:solidFill>
              </a:rPr>
              <a:t>Resequencing and reusing rinse water cuts 720 litres and still misses the allocation by a quarter. Only cutting the salt gets the shift inside it. This is the thesis as an operating instruction — and it fell out of the model, not out of a slide.</a:t>
            </a:r>
            <a:endParaRPr lang="en-US" sz="1400" dirty="0"/>
          </a:p>
        </p:txBody>
      </p:sp>
      <p:sp>
        <p:nvSpPr>
          <p:cNvPr id="25" name="Slide Number Placeholder 0"/>
          <p:cNvSpPr>
            <a:spLocks noGrp="1"/>
          </p:cNvSpPr>
          <p:nvPr>
            <p:ph type="sldNum" sz="quarter" idx="4294967295"/>
          </p:nvPr>
        </p:nvSpPr>
        <p:spPr>
          <a:xfrm>
            <a:off x="114757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E858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384048"/>
            <a:ext cx="10789920" cy="274320"/>
          </a:xfrm>
          <a:prstGeom prst="rect">
            <a:avLst/>
          </a:prstGeom>
          <a:noFill/>
          <a:ln/>
        </p:spPr>
        <p:txBody>
          <a:bodyPr wrap="square" rtlCol="0"/>
          <a:lstStyle/>
          <a:p>
            <a:pPr indent="0" marL="0">
              <a:buNone/>
            </a:pPr>
            <a:r>
              <a:rPr lang="en-US" sz="1100" b="1" spc="200" kern="0" dirty="0">
                <a:solidFill>
                  <a:srgbClr val="1A6B7C"/>
                </a:solidFill>
              </a:rPr>
              <a:t>THE IMPACT</a:t>
            </a:r>
            <a:endParaRPr lang="en-US" sz="1100" dirty="0"/>
          </a:p>
        </p:txBody>
      </p:sp>
      <p:sp>
        <p:nvSpPr>
          <p:cNvPr id="3" name="Text 0"/>
          <p:cNvSpPr/>
          <p:nvPr>
            <p:ph idx="101" type="title" hasCustomPrompt="1"/>
          </p:nvPr>
        </p:nvSpPr>
        <p:spPr>
          <a:xfrm>
            <a:off x="685800" y="658368"/>
            <a:ext cx="10789920" cy="932688"/>
          </a:xfrm>
          <a:prstGeom prst="rect">
            <a:avLst/>
          </a:prstGeom>
          <a:noFill/>
          <a:ln/>
        </p:spPr>
        <p:txBody>
          <a:bodyPr wrap="square" rtlCol="0" anchor="t"/>
          <a:lstStyle/>
          <a:p>
            <a:pPr algn="l" indent="0" marL="0">
              <a:buNone/>
            </a:pPr>
            <a:r>
              <a:rPr lang="en-US" sz="3100" b="1" dirty="0">
                <a:solidFill>
                  <a:srgbClr val="0E2127"/>
                </a:solidFill>
              </a:rPr>
              <a:t>Modest, internally consistent, and traceable</a:t>
            </a:r>
            <a:endParaRPr lang="en-US" sz="3100" dirty="0"/>
          </a:p>
        </p:txBody>
      </p:sp>
      <p:sp>
        <p:nvSpPr>
          <p:cNvPr id="4" name="Text 0"/>
          <p:cNvSpPr/>
          <p:nvPr>
            <p:ph idx="102" type="body" hasCustomPrompt="1"/>
          </p:nvPr>
        </p:nvSpPr>
        <p:spPr>
          <a:xfrm>
            <a:off x="685800" y="1664208"/>
            <a:ext cx="10332720" cy="548640"/>
          </a:xfrm>
          <a:prstGeom prst="rect">
            <a:avLst/>
          </a:prstGeom>
          <a:noFill/>
          <a:ln/>
        </p:spPr>
        <p:txBody>
          <a:bodyPr wrap="square" rtlCol="0" anchor="t"/>
          <a:lstStyle/>
          <a:p>
            <a:pPr algn="l" indent="0" marL="0">
              <a:buNone/>
            </a:pPr>
            <a:r>
              <a:rPr lang="en-US" sz="1450" dirty="0">
                <a:solidFill>
                  <a:srgbClr val="44555A"/>
                </a:solidFill>
              </a:rPr>
              <a:t>One shift, one machine, five lots. Everything here is MODELLED — nothing in the prototype is metered, and a test enforces that.</a:t>
            </a:r>
            <a:endParaRPr lang="en-US" sz="1450" dirty="0"/>
          </a:p>
        </p:txBody>
      </p:sp>
      <p:sp>
        <p:nvSpPr>
          <p:cNvPr id="5" name="stat-value-i1"/>
          <p:cNvSpPr txBox="1"/>
          <p:nvPr/>
        </p:nvSpPr>
        <p:spPr>
          <a:xfrm>
            <a:off x="685800" y="2331720"/>
            <a:ext cx="2468880" cy="713232"/>
          </a:xfrm>
          <a:prstGeom prst="rect">
            <a:avLst/>
          </a:prstGeom>
          <a:noFill/>
          <a:ln/>
        </p:spPr>
        <p:txBody>
          <a:bodyPr wrap="square" lIns="0" tIns="0" rIns="0" bIns="0" rtlCol="0" anchor="b"/>
          <a:lstStyle/>
          <a:p>
            <a:pPr algn="l" indent="0" marL="0">
              <a:buNone/>
            </a:pPr>
            <a:r>
              <a:rPr lang="en-US" sz="3400" b="1" dirty="0">
                <a:solidFill>
                  <a:schemeClr val="accent1"/>
                </a:solidFill>
                <a:latin typeface="Cambria" pitchFamily="34" charset="0"/>
                <a:ea typeface="Cambria" pitchFamily="34" charset="-122"/>
                <a:cs typeface="Cambria" pitchFamily="34" charset="-120"/>
              </a:rPr>
              <a:t>1,044 L</a:t>
            </a:r>
            <a:endParaRPr lang="en-US" sz="3400" dirty="0"/>
          </a:p>
        </p:txBody>
      </p:sp>
      <p:sp>
        <p:nvSpPr>
          <p:cNvPr id="6" name="stat-label-i1"/>
          <p:cNvSpPr txBox="1"/>
          <p:nvPr/>
        </p:nvSpPr>
        <p:spPr>
          <a:xfrm>
            <a:off x="685800" y="3063240"/>
            <a:ext cx="2468880" cy="274320"/>
          </a:xfrm>
          <a:prstGeom prst="rect">
            <a:avLst/>
          </a:prstGeom>
          <a:noFill/>
          <a:ln/>
        </p:spPr>
        <p:txBody>
          <a:bodyPr wrap="square" lIns="0" tIns="0" rIns="0" bIns="0" rtlCol="0" anchor="ctr"/>
          <a:lstStyle/>
          <a:p>
            <a:pPr indent="0" marL="0">
              <a:buNone/>
            </a:pPr>
            <a:r>
              <a:rPr lang="en-US" sz="1000" b="1" spc="140" kern="0" dirty="0">
                <a:solidFill>
                  <a:srgbClr val="6B8086"/>
                </a:solidFill>
              </a:rPr>
              <a:t>FRESHWATER AVOIDED</a:t>
            </a:r>
            <a:endParaRPr lang="en-US" sz="1000" dirty="0"/>
          </a:p>
        </p:txBody>
      </p:sp>
      <p:sp>
        <p:nvSpPr>
          <p:cNvPr id="7" name="stat-note-i1"/>
          <p:cNvSpPr txBox="1"/>
          <p:nvPr/>
        </p:nvSpPr>
        <p:spPr>
          <a:xfrm>
            <a:off x="685800" y="3337560"/>
            <a:ext cx="2468880" cy="566928"/>
          </a:xfrm>
          <a:prstGeom prst="rect">
            <a:avLst/>
          </a:prstGeom>
          <a:noFill/>
          <a:ln/>
        </p:spPr>
        <p:txBody>
          <a:bodyPr wrap="square" lIns="0" tIns="0" rIns="0" bIns="0" rtlCol="0" anchor="t"/>
          <a:lstStyle/>
          <a:p>
            <a:pPr indent="0" marL="0">
              <a:buNone/>
            </a:pPr>
            <a:r>
              <a:rPr lang="en-US" sz="1100" dirty="0">
                <a:solidFill>
                  <a:srgbClr val="55676C"/>
                </a:solidFill>
              </a:rPr>
              <a:t>11,570 L-eq stress weighted, in a basin</a:t>
            </a:r>
            <a:endParaRPr lang="en-US" sz="1100" dirty="0"/>
          </a:p>
          <a:p>
            <a:pPr indent="0" marL="0">
              <a:buNone/>
            </a:pPr>
            <a:r>
              <a:rPr lang="en-US" sz="1100" dirty="0">
                <a:solidFill>
                  <a:srgbClr val="55676C"/>
                </a:solidFill>
              </a:rPr>
              <a:t>with no dry-weather flow</a:t>
            </a:r>
            <a:endParaRPr lang="en-US" sz="1100" dirty="0"/>
          </a:p>
        </p:txBody>
      </p:sp>
      <p:sp>
        <p:nvSpPr>
          <p:cNvPr id="8" name="stat-value-i2"/>
          <p:cNvSpPr txBox="1"/>
          <p:nvPr/>
        </p:nvSpPr>
        <p:spPr>
          <a:xfrm>
            <a:off x="3383280" y="2331720"/>
            <a:ext cx="2468880" cy="713232"/>
          </a:xfrm>
          <a:prstGeom prst="rect">
            <a:avLst/>
          </a:prstGeom>
          <a:noFill/>
          <a:ln/>
        </p:spPr>
        <p:txBody>
          <a:bodyPr wrap="square" lIns="0" tIns="0" rIns="0" bIns="0" rtlCol="0" anchor="b"/>
          <a:lstStyle/>
          <a:p>
            <a:pPr algn="l" indent="0" marL="0">
              <a:buNone/>
            </a:pPr>
            <a:r>
              <a:rPr lang="en-US" sz="3400" b="1" dirty="0">
                <a:solidFill>
                  <a:srgbClr val="B98A2E"/>
                </a:solidFill>
                <a:latin typeface="Cambria" pitchFamily="34" charset="0"/>
                <a:ea typeface="Cambria" pitchFamily="34" charset="-122"/>
                <a:cs typeface="Cambria" pitchFamily="34" charset="-120"/>
              </a:rPr>
              <a:t>62.7 kg</a:t>
            </a:r>
            <a:endParaRPr lang="en-US" sz="3400" dirty="0"/>
          </a:p>
        </p:txBody>
      </p:sp>
      <p:sp>
        <p:nvSpPr>
          <p:cNvPr id="9" name="stat-label-i2"/>
          <p:cNvSpPr txBox="1"/>
          <p:nvPr/>
        </p:nvSpPr>
        <p:spPr>
          <a:xfrm>
            <a:off x="3383280" y="3063240"/>
            <a:ext cx="2468880" cy="274320"/>
          </a:xfrm>
          <a:prstGeom prst="rect">
            <a:avLst/>
          </a:prstGeom>
          <a:noFill/>
          <a:ln/>
        </p:spPr>
        <p:txBody>
          <a:bodyPr wrap="square" lIns="0" tIns="0" rIns="0" bIns="0" rtlCol="0" anchor="ctr"/>
          <a:lstStyle/>
          <a:p>
            <a:pPr indent="0" marL="0">
              <a:buNone/>
            </a:pPr>
            <a:r>
              <a:rPr lang="en-US" sz="1000" b="1" spc="140" kern="0" dirty="0">
                <a:solidFill>
                  <a:srgbClr val="6B8086"/>
                </a:solidFill>
              </a:rPr>
              <a:t>SALT LOAD AVOIDED</a:t>
            </a:r>
            <a:endParaRPr lang="en-US" sz="1000" dirty="0"/>
          </a:p>
        </p:txBody>
      </p:sp>
      <p:sp>
        <p:nvSpPr>
          <p:cNvPr id="10" name="stat-note-i2"/>
          <p:cNvSpPr txBox="1"/>
          <p:nvPr/>
        </p:nvSpPr>
        <p:spPr>
          <a:xfrm>
            <a:off x="3383280" y="3337560"/>
            <a:ext cx="2468880" cy="566928"/>
          </a:xfrm>
          <a:prstGeom prst="rect">
            <a:avLst/>
          </a:prstGeom>
          <a:noFill/>
          <a:ln/>
        </p:spPr>
        <p:txBody>
          <a:bodyPr wrap="square" lIns="0" tIns="0" rIns="0" bIns="0" rtlCol="0" anchor="t"/>
          <a:lstStyle/>
          <a:p>
            <a:pPr indent="0" marL="0">
              <a:buNone/>
            </a:pPr>
            <a:r>
              <a:rPr lang="en-US" sz="1100" dirty="0">
                <a:solidFill>
                  <a:srgbClr val="55676C"/>
                </a:solidFill>
              </a:rPr>
              <a:t>this is what sets the</a:t>
            </a:r>
            <a:endParaRPr lang="en-US" sz="1100" dirty="0"/>
          </a:p>
          <a:p>
            <a:pPr indent="0" marL="0">
              <a:buNone/>
            </a:pPr>
            <a:r>
              <a:rPr lang="en-US" sz="1100" dirty="0">
                <a:solidFill>
                  <a:srgbClr val="55676C"/>
                </a:solidFill>
              </a:rPr>
              <a:t>evaporator duty</a:t>
            </a:r>
            <a:endParaRPr lang="en-US" sz="1100" dirty="0"/>
          </a:p>
        </p:txBody>
      </p:sp>
      <p:sp>
        <p:nvSpPr>
          <p:cNvPr id="11" name="stat-value-i3"/>
          <p:cNvSpPr txBox="1"/>
          <p:nvPr/>
        </p:nvSpPr>
        <p:spPr>
          <a:xfrm>
            <a:off x="6080760" y="2331720"/>
            <a:ext cx="2468880" cy="713232"/>
          </a:xfrm>
          <a:prstGeom prst="rect">
            <a:avLst/>
          </a:prstGeom>
          <a:noFill/>
          <a:ln/>
        </p:spPr>
        <p:txBody>
          <a:bodyPr wrap="square" lIns="0" tIns="0" rIns="0" bIns="0" rtlCol="0" anchor="b"/>
          <a:lstStyle/>
          <a:p>
            <a:pPr algn="l" indent="0" marL="0">
              <a:buNone/>
            </a:pPr>
            <a:r>
              <a:rPr lang="en-US" sz="3400" b="1" dirty="0">
                <a:solidFill>
                  <a:srgbClr val="C2410C"/>
                </a:solidFill>
                <a:latin typeface="Cambria" pitchFamily="34" charset="0"/>
                <a:ea typeface="Cambria" pitchFamily="34" charset="-122"/>
                <a:cs typeface="Cambria" pitchFamily="34" charset="-120"/>
              </a:rPr>
              <a:t>196 kWh</a:t>
            </a:r>
            <a:endParaRPr lang="en-US" sz="3400" dirty="0"/>
          </a:p>
        </p:txBody>
      </p:sp>
      <p:sp>
        <p:nvSpPr>
          <p:cNvPr id="12" name="stat-label-i3"/>
          <p:cNvSpPr txBox="1"/>
          <p:nvPr/>
        </p:nvSpPr>
        <p:spPr>
          <a:xfrm>
            <a:off x="6080760" y="3063240"/>
            <a:ext cx="2468880" cy="274320"/>
          </a:xfrm>
          <a:prstGeom prst="rect">
            <a:avLst/>
          </a:prstGeom>
          <a:noFill/>
          <a:ln/>
        </p:spPr>
        <p:txBody>
          <a:bodyPr wrap="square" lIns="0" tIns="0" rIns="0" bIns="0" rtlCol="0" anchor="ctr"/>
          <a:lstStyle/>
          <a:p>
            <a:pPr indent="0" marL="0">
              <a:buNone/>
            </a:pPr>
            <a:r>
              <a:rPr lang="en-US" sz="1000" b="1" spc="140" kern="0" dirty="0">
                <a:solidFill>
                  <a:srgbClr val="6B8086"/>
                </a:solidFill>
              </a:rPr>
              <a:t>EVAPORATOR STEAM AVOIDED</a:t>
            </a:r>
            <a:endParaRPr lang="en-US" sz="1000" dirty="0"/>
          </a:p>
        </p:txBody>
      </p:sp>
      <p:sp>
        <p:nvSpPr>
          <p:cNvPr id="13" name="stat-note-i3"/>
          <p:cNvSpPr txBox="1"/>
          <p:nvPr/>
        </p:nvSpPr>
        <p:spPr>
          <a:xfrm>
            <a:off x="6080760" y="3337560"/>
            <a:ext cx="2468880" cy="566928"/>
          </a:xfrm>
          <a:prstGeom prst="rect">
            <a:avLst/>
          </a:prstGeom>
          <a:noFill/>
          <a:ln/>
        </p:spPr>
        <p:txBody>
          <a:bodyPr wrap="square" lIns="0" tIns="0" rIns="0" bIns="0" rtlCol="0" anchor="t"/>
          <a:lstStyle/>
          <a:p>
            <a:pPr indent="0" marL="0">
              <a:buNone/>
            </a:pPr>
            <a:r>
              <a:rPr lang="en-US" sz="1100" dirty="0">
                <a:solidFill>
                  <a:srgbClr val="55676C"/>
                </a:solidFill>
              </a:rPr>
              <a:t>thermal, at the</a:t>
            </a:r>
            <a:endParaRPr lang="en-US" sz="1100" dirty="0"/>
          </a:p>
          <a:p>
            <a:pPr indent="0" marL="0">
              <a:buNone/>
            </a:pPr>
            <a:r>
              <a:rPr lang="en-US" sz="1100" dirty="0">
                <a:solidFill>
                  <a:srgbClr val="55676C"/>
                </a:solidFill>
              </a:rPr>
              <a:t>common treatment plant</a:t>
            </a:r>
            <a:endParaRPr lang="en-US" sz="1100" dirty="0"/>
          </a:p>
        </p:txBody>
      </p:sp>
      <p:sp>
        <p:nvSpPr>
          <p:cNvPr id="14" name="stat-value-i4"/>
          <p:cNvSpPr txBox="1"/>
          <p:nvPr/>
        </p:nvSpPr>
        <p:spPr>
          <a:xfrm>
            <a:off x="8778240" y="2331720"/>
            <a:ext cx="2697480" cy="713232"/>
          </a:xfrm>
          <a:prstGeom prst="rect">
            <a:avLst/>
          </a:prstGeom>
          <a:noFill/>
          <a:ln/>
        </p:spPr>
        <p:txBody>
          <a:bodyPr wrap="square" lIns="0" tIns="0" rIns="0" bIns="0" rtlCol="0" anchor="b"/>
          <a:lstStyle/>
          <a:p>
            <a:pPr algn="l" indent="0" marL="0">
              <a:buNone/>
            </a:pPr>
            <a:r>
              <a:rPr lang="en-US" sz="3400" b="1" dirty="0">
                <a:solidFill>
                  <a:srgbClr val="5B5470"/>
                </a:solidFill>
                <a:latin typeface="Cambria" pitchFamily="34" charset="0"/>
                <a:ea typeface="Cambria" pitchFamily="34" charset="-122"/>
                <a:cs typeface="Cambria" pitchFamily="34" charset="-120"/>
              </a:rPr>
              <a:t>926 kg</a:t>
            </a:r>
            <a:endParaRPr lang="en-US" sz="3400" dirty="0"/>
          </a:p>
        </p:txBody>
      </p:sp>
      <p:sp>
        <p:nvSpPr>
          <p:cNvPr id="15" name="stat-label-i4"/>
          <p:cNvSpPr txBox="1"/>
          <p:nvPr/>
        </p:nvSpPr>
        <p:spPr>
          <a:xfrm>
            <a:off x="8778240" y="3063240"/>
            <a:ext cx="2697480" cy="274320"/>
          </a:xfrm>
          <a:prstGeom prst="rect">
            <a:avLst/>
          </a:prstGeom>
          <a:noFill/>
          <a:ln/>
        </p:spPr>
        <p:txBody>
          <a:bodyPr wrap="square" lIns="0" tIns="0" rIns="0" bIns="0" rtlCol="0" anchor="ctr"/>
          <a:lstStyle/>
          <a:p>
            <a:pPr indent="0" marL="0">
              <a:buNone/>
            </a:pPr>
            <a:r>
              <a:rPr lang="en-US" sz="1000" b="1" spc="140" kern="0" dirty="0">
                <a:solidFill>
                  <a:srgbClr val="6B8086"/>
                </a:solidFill>
              </a:rPr>
              <a:t>CO₂E AVOIDED, DOWN 30.2%</a:t>
            </a:r>
            <a:endParaRPr lang="en-US" sz="1000" dirty="0"/>
          </a:p>
        </p:txBody>
      </p:sp>
      <p:sp>
        <p:nvSpPr>
          <p:cNvPr id="16" name="stat-note-i4"/>
          <p:cNvSpPr txBox="1"/>
          <p:nvPr/>
        </p:nvSpPr>
        <p:spPr>
          <a:xfrm>
            <a:off x="8778240" y="3337560"/>
            <a:ext cx="2697480" cy="566928"/>
          </a:xfrm>
          <a:prstGeom prst="rect">
            <a:avLst/>
          </a:prstGeom>
          <a:noFill/>
          <a:ln/>
        </p:spPr>
        <p:txBody>
          <a:bodyPr wrap="square" lIns="0" tIns="0" rIns="0" bIns="0" rtlCol="0" anchor="t"/>
          <a:lstStyle/>
          <a:p>
            <a:pPr indent="0" marL="0">
              <a:buNone/>
            </a:pPr>
            <a:r>
              <a:rPr lang="en-US" sz="1100" dirty="0">
                <a:solidFill>
                  <a:srgbClr val="55676C"/>
                </a:solidFill>
              </a:rPr>
              <a:t>₹9,709 saved per shift,</a:t>
            </a:r>
            <a:endParaRPr lang="en-US" sz="1100" dirty="0"/>
          </a:p>
          <a:p>
            <a:pPr indent="0" marL="0">
              <a:buNone/>
            </a:pPr>
            <a:r>
              <a:rPr lang="en-US" sz="1100" dirty="0">
                <a:solidFill>
                  <a:srgbClr val="55676C"/>
                </a:solidFill>
              </a:rPr>
              <a:t>down 28.6%</a:t>
            </a:r>
            <a:endParaRPr lang="en-US" sz="1100" dirty="0"/>
          </a:p>
        </p:txBody>
      </p:sp>
      <p:sp>
        <p:nvSpPr>
          <p:cNvPr id="17" name="rule9"/>
          <p:cNvSpPr/>
          <p:nvPr/>
        </p:nvSpPr>
        <p:spPr>
          <a:xfrm>
            <a:off x="685800" y="4160520"/>
            <a:ext cx="10789920" cy="0"/>
          </a:xfrm>
          <a:prstGeom prst="line">
            <a:avLst/>
          </a:prstGeom>
          <a:noFill/>
          <a:ln w="12700">
            <a:solidFill>
              <a:srgbClr val="DCE7E9"/>
            </a:solidFill>
            <a:prstDash val="solid"/>
          </a:ln>
        </p:spPr>
      </p:sp>
      <p:sp>
        <p:nvSpPr>
          <p:cNvPr id="18" name="cs-h"/>
          <p:cNvSpPr txBox="1"/>
          <p:nvPr/>
        </p:nvSpPr>
        <p:spPr>
          <a:xfrm>
            <a:off x="685800" y="4343400"/>
            <a:ext cx="5120640" cy="329184"/>
          </a:xfrm>
          <a:prstGeom prst="rect">
            <a:avLst/>
          </a:prstGeom>
          <a:noFill/>
          <a:ln/>
        </p:spPr>
        <p:txBody>
          <a:bodyPr wrap="square" lIns="0" tIns="0" rIns="0" bIns="0" rtlCol="0" anchor="ctr"/>
          <a:lstStyle/>
          <a:p>
            <a:pPr indent="0" marL="0">
              <a:buNone/>
            </a:pPr>
            <a:r>
              <a:rPr lang="en-US" sz="1700" b="1" dirty="0">
                <a:solidFill>
                  <a:srgbClr val="0E2127"/>
                </a:solidFill>
                <a:latin typeface="Cambria" pitchFamily="34" charset="0"/>
                <a:ea typeface="Cambria" pitchFamily="34" charset="-122"/>
                <a:cs typeface="Cambria" pitchFamily="34" charset="-120"/>
              </a:rPr>
              <a:t>At cluster scale</a:t>
            </a:r>
            <a:endParaRPr lang="en-US" sz="1700" dirty="0"/>
          </a:p>
        </p:txBody>
      </p:sp>
      <p:sp>
        <p:nvSpPr>
          <p:cNvPr id="19" name="cs-b"/>
          <p:cNvSpPr txBox="1"/>
          <p:nvPr/>
        </p:nvSpPr>
        <p:spPr>
          <a:xfrm>
            <a:off x="685800" y="4754880"/>
            <a:ext cx="5120640" cy="1005840"/>
          </a:xfrm>
          <a:prstGeom prst="rect">
            <a:avLst/>
          </a:prstGeom>
          <a:noFill/>
          <a:ln/>
        </p:spPr>
        <p:txBody>
          <a:bodyPr wrap="square" lIns="0" tIns="0" rIns="0" bIns="0" rtlCol="0" anchor="t"/>
          <a:lstStyle/>
          <a:p>
            <a:pPr indent="0" marL="0">
              <a:buNone/>
            </a:pPr>
            <a:r>
              <a:rPr lang="en-US" sz="1300" b="1" dirty="0">
                <a:solidFill>
                  <a:srgbClr val="1A6B7C"/>
                </a:solidFill>
              </a:rPr>
              <a:t>75.0 million litres</a:t>
            </a:r>
            <a:pPr indent="0" marL="0">
              <a:buNone/>
            </a:pPr>
            <a:r>
              <a:rPr lang="en-US" sz="1300" dirty="0">
                <a:solidFill>
                  <a:srgbClr val="44555A"/>
                </a:solidFill>
              </a:rPr>
              <a:t> of freshwater, </a:t>
            </a:r>
            <a:pPr indent="0" marL="0">
              <a:buNone/>
            </a:pPr>
            <a:r>
              <a:rPr lang="en-US" sz="1300" b="1" dirty="0">
                <a:solidFill>
                  <a:srgbClr val="B98A2E"/>
                </a:solidFill>
              </a:rPr>
              <a:t>4,500 tonnes</a:t>
            </a:r>
            <a:pPr indent="0" marL="0">
              <a:buNone/>
            </a:pPr>
            <a:r>
              <a:rPr lang="en-US" sz="1300" dirty="0">
                <a:solidFill>
                  <a:srgbClr val="44555A"/>
                </a:solidFill>
              </a:rPr>
              <a:t> of salt, </a:t>
            </a:r>
            <a:pPr indent="0" marL="0">
              <a:buNone/>
            </a:pPr>
            <a:r>
              <a:rPr lang="en-US" sz="1300" b="1" dirty="0">
                <a:solidFill>
                  <a:srgbClr val="C2410C"/>
                </a:solidFill>
              </a:rPr>
              <a:t>14,106 MWh</a:t>
            </a:r>
            <a:pPr indent="0" marL="0">
              <a:buNone/>
            </a:pPr>
            <a:r>
              <a:rPr lang="en-US" sz="1300" dirty="0">
                <a:solidFill>
                  <a:srgbClr val="44555A"/>
                </a:solidFill>
              </a:rPr>
              <a:t> of evaporator steam and </a:t>
            </a:r>
            <a:pPr indent="0" marL="0">
              <a:buNone/>
            </a:pPr>
            <a:r>
              <a:rPr lang="en-US" sz="1300" b="1" dirty="0">
                <a:solidFill>
                  <a:srgbClr val="5B5470"/>
                </a:solidFill>
              </a:rPr>
              <a:t>6,376 tonnes CO₂e</a:t>
            </a:r>
            <a:pPr indent="0" marL="0">
              <a:buNone/>
            </a:pPr>
            <a:r>
              <a:rPr lang="en-US" sz="1300" dirty="0">
                <a:solidFill>
                  <a:srgbClr val="44555A"/>
                </a:solidFill>
              </a:rPr>
              <a:t> a year, across 400 units on one common effluent plant.</a:t>
            </a:r>
            <a:endParaRPr lang="en-US" sz="1300" dirty="0"/>
          </a:p>
        </p:txBody>
      </p:sp>
      <p:sp>
        <p:nvSpPr>
          <p:cNvPr id="20" name="card-honest"/>
          <p:cNvSpPr/>
          <p:nvPr/>
        </p:nvSpPr>
        <p:spPr>
          <a:xfrm>
            <a:off x="6355080" y="4315968"/>
            <a:ext cx="5120640" cy="1691640"/>
          </a:xfrm>
          <a:prstGeom prst="roundRect">
            <a:avLst>
              <a:gd name="adj" fmla="val 2162"/>
            </a:avLst>
          </a:prstGeom>
          <a:solidFill>
            <a:srgbClr val="F6F3EA"/>
          </a:solidFill>
          <a:ln w="9525">
            <a:solidFill>
              <a:srgbClr val="E0D4B4"/>
            </a:solidFill>
            <a:prstDash val="solid"/>
          </a:ln>
        </p:spPr>
      </p:sp>
      <p:sp>
        <p:nvSpPr>
          <p:cNvPr id="21" name="h-h"/>
          <p:cNvSpPr txBox="1"/>
          <p:nvPr/>
        </p:nvSpPr>
        <p:spPr>
          <a:xfrm>
            <a:off x="6629400" y="4517136"/>
            <a:ext cx="4572000" cy="329184"/>
          </a:xfrm>
          <a:prstGeom prst="rect">
            <a:avLst/>
          </a:prstGeom>
          <a:noFill/>
          <a:ln/>
        </p:spPr>
        <p:txBody>
          <a:bodyPr wrap="square" lIns="0" tIns="0" rIns="0" bIns="0" rtlCol="0" anchor="ctr"/>
          <a:lstStyle/>
          <a:p>
            <a:pPr indent="0" marL="0">
              <a:buNone/>
            </a:pPr>
            <a:r>
              <a:rPr lang="en-US" sz="1500" b="1" dirty="0">
                <a:solidFill>
                  <a:srgbClr val="7A5A18"/>
                </a:solidFill>
                <a:latin typeface="Cambria" pitchFamily="34" charset="0"/>
                <a:ea typeface="Cambria" pitchFamily="34" charset="-122"/>
                <a:cs typeface="Cambria" pitchFamily="34" charset="-120"/>
              </a:rPr>
              <a:t>And this is a projection, not a result</a:t>
            </a:r>
            <a:endParaRPr lang="en-US" sz="1500" dirty="0"/>
          </a:p>
        </p:txBody>
      </p:sp>
      <p:sp>
        <p:nvSpPr>
          <p:cNvPr id="22" name="h-b"/>
          <p:cNvSpPr txBox="1"/>
          <p:nvPr/>
        </p:nvSpPr>
        <p:spPr>
          <a:xfrm>
            <a:off x="6629400" y="4901184"/>
            <a:ext cx="4572000" cy="960120"/>
          </a:xfrm>
          <a:prstGeom prst="rect">
            <a:avLst/>
          </a:prstGeom>
          <a:noFill/>
          <a:ln/>
        </p:spPr>
        <p:txBody>
          <a:bodyPr wrap="square" lIns="0" tIns="0" rIns="0" bIns="0" rtlCol="0" anchor="t"/>
          <a:lstStyle/>
          <a:p>
            <a:pPr indent="0" marL="0">
              <a:buNone/>
            </a:pPr>
            <a:r>
              <a:rPr lang="en-US" sz="1200" dirty="0">
                <a:solidFill>
                  <a:srgbClr val="5E4A1C"/>
                </a:solidFill>
              </a:rPr>
              <a:t>It assumes every unit resembles the modelled one and that every recommendation is approved. Neither has been tested. The interface labels it PROJECTED and we will not quote it as achieved impact.</a:t>
            </a:r>
            <a:endParaRPr lang="en-US" sz="1200" dirty="0"/>
          </a:p>
        </p:txBody>
      </p:sp>
      <p:sp>
        <p:nvSpPr>
          <p:cNvPr id="24" name="Text 1"/>
          <p:cNvSpPr/>
          <p:nvPr>
            <p:ph idx="104" type="chart" hasCustomPrompt="1"/>
          </p:nvPr>
        </p:nvSpPr>
        <p:spPr>
          <a:xfrm>
            <a:off x="685800" y="2240280"/>
            <a:ext cx="10789920" cy="3931920"/>
          </a:xfrm>
          <a:prstGeom prst="rect">
            <a:avLst/>
          </a:prstGeom>
          <a:noFill/>
          <a:ln/>
        </p:spPr>
        <p:txBody>
          <a:bodyPr wrap="square" rtlCol="0"/>
          <a:lstStyle/>
          <a:p>
            <a:pPr indent="0" marL="0">
              <a:buNone/>
            </a:pPr>
            <a:endParaRPr lang="en-US" dirty="0"/>
          </a:p>
        </p:txBody>
      </p:sp>
      <p:sp>
        <p:nvSpPr>
          <p:cNvPr id="25" name="Slide Number Placeholder 0"/>
          <p:cNvSpPr>
            <a:spLocks noGrp="1"/>
          </p:cNvSpPr>
          <p:nvPr>
            <p:ph type="sldNum" sz="quarter" idx="4294967295"/>
          </p:nvPr>
        </p:nvSpPr>
        <p:spPr>
          <a:xfrm>
            <a:off x="114757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AAAAE"/>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384048"/>
            <a:ext cx="10789920" cy="274320"/>
          </a:xfrm>
          <a:prstGeom prst="rect">
            <a:avLst/>
          </a:prstGeom>
          <a:noFill/>
          <a:ln/>
        </p:spPr>
        <p:txBody>
          <a:bodyPr wrap="square" rtlCol="0"/>
          <a:lstStyle/>
          <a:p>
            <a:pPr indent="0" marL="0">
              <a:buNone/>
            </a:pPr>
            <a:r>
              <a:rPr lang="en-US" sz="1100" b="1" spc="200" kern="0" dirty="0">
                <a:solidFill>
                  <a:srgbClr val="1A6B7C"/>
                </a:solidFill>
              </a:rPr>
              <a:t>PROOF, NOT ASSERTION</a:t>
            </a:r>
            <a:endParaRPr lang="en-US" sz="1100" dirty="0"/>
          </a:p>
        </p:txBody>
      </p:sp>
      <p:sp>
        <p:nvSpPr>
          <p:cNvPr id="3" name="Text 0"/>
          <p:cNvSpPr/>
          <p:nvPr>
            <p:ph idx="101" type="title" hasCustomPrompt="1"/>
          </p:nvPr>
        </p:nvSpPr>
        <p:spPr>
          <a:xfrm>
            <a:off x="685800" y="658368"/>
            <a:ext cx="10789920" cy="932688"/>
          </a:xfrm>
          <a:prstGeom prst="rect">
            <a:avLst/>
          </a:prstGeom>
          <a:noFill/>
          <a:ln/>
        </p:spPr>
        <p:txBody>
          <a:bodyPr wrap="square" rtlCol="0" anchor="t"/>
          <a:lstStyle/>
          <a:p>
            <a:pPr algn="l" indent="0" marL="0">
              <a:buNone/>
            </a:pPr>
            <a:r>
              <a:rPr lang="en-US" sz="3100" b="1" dirty="0">
                <a:solidFill>
                  <a:srgbClr val="0E2127"/>
                </a:solidFill>
              </a:rPr>
              <a:t>We remove our own layers and publish what breaks</a:t>
            </a:r>
            <a:endParaRPr lang="en-US" sz="3100" dirty="0"/>
          </a:p>
        </p:txBody>
      </p:sp>
      <p:sp>
        <p:nvSpPr>
          <p:cNvPr id="4" name="Text 0"/>
          <p:cNvSpPr/>
          <p:nvPr>
            <p:ph idx="102" type="body" hasCustomPrompt="1"/>
          </p:nvPr>
        </p:nvSpPr>
        <p:spPr>
          <a:xfrm>
            <a:off x="685800" y="1664208"/>
            <a:ext cx="10332720" cy="548640"/>
          </a:xfrm>
          <a:prstGeom prst="rect">
            <a:avLst/>
          </a:prstGeom>
          <a:noFill/>
          <a:ln/>
        </p:spPr>
        <p:txBody>
          <a:bodyPr wrap="square" rtlCol="0" anchor="t"/>
          <a:lstStyle/>
          <a:p>
            <a:pPr algn="l" indent="0" marL="0">
              <a:buNone/>
            </a:pPr>
            <a:r>
              <a:rPr lang="en-US" sz="1450" dirty="0">
                <a:solidFill>
                  <a:srgbClr val="44555A"/>
                </a:solidFill>
              </a:rPr>
              <a:t>Reproducible from the product’s own API. At today’s prices, the layers that bind are the salt model and the ship-date rules. Price water scarcity and a scheduler that optimises dyehouse water alone captures 13 percent of the available benefit.</a:t>
            </a:r>
            <a:endParaRPr lang="en-US" sz="1450" dirty="0"/>
          </a:p>
        </p:txBody>
      </p:sp>
      <p:graphicFrame>
        <p:nvGraphicFramePr>
          <p:cNvPr id="12" name="ablation"/>
          <p:cNvGraphicFramePr>
            <a:graphicFrameLocks noGrp="1"/>
          </p:cNvGraphicFramePr>
          <p:nvPr>
            <p:extLst>
              <p:ext uri="{D42A27DB-BD31-4B8C-83A1-F6EECF244321}">
                <p14:modId xmlns:p14="http://schemas.microsoft.com/office/powerpoint/2010/main" val="1579011935"/>
              </p:ext>
            </p:extLst>
          </p:nvPr>
        </p:nvGraphicFramePr>
        <p:xfrm>
          <a:off x="685800" y="2286000"/>
          <a:ext cx="10789920" cy="914400"/>
        </p:xfrm>
        <a:graphic>
          <a:graphicData uri="http://schemas.openxmlformats.org/drawingml/2006/table">
            <a:tbl>
              <a:tblPr/>
              <a:tblGrid>
                <a:gridCol w="4023360"/>
                <a:gridCol w="2011680"/>
                <a:gridCol w="1554480"/>
                <a:gridCol w="1371600"/>
                <a:gridCol w="1828800"/>
              </a:tblGrid>
              <a:tr h="0">
                <a:tc>
                  <a:txBody>
                    <a:bodyPr/>
                    <a:lstStyle/>
                    <a:p>
                      <a:pPr algn="l" indent="0" marL="0">
                        <a:buNone/>
                      </a:pPr>
                      <a:r>
                        <a:rPr lang="en-US" sz="1000" b="1" spc="100" kern="0" dirty="0">
                          <a:solidFill>
                            <a:srgbClr val="6B8086"/>
                          </a:solidFill>
                          <a:latin typeface="Calibri" pitchFamily="34" charset="0"/>
                          <a:ea typeface="Calibri" pitchFamily="34" charset="-122"/>
                          <a:cs typeface="Calibri" pitchFamily="34" charset="-120"/>
                        </a:rPr>
                        <a:t>VARIANT</a:t>
                      </a:r>
                      <a:endParaRPr lang="en-US" sz="1000" dirty="0">
                        <a:latin typeface="Calibri" charset="0"/>
                        <a:ea typeface="Calibri" charset="0"/>
                        <a:cs typeface="Calibri" charset="0"/>
                      </a:endParaRPr>
                    </a:p>
                  </a:txBody>
                  <a:tcPr marL="0" marR="76200" marT="76200" marB="762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2700" cap="flat" cmpd="sng" algn="ctr">
                      <a:solidFill>
                        <a:srgbClr val="C3D3D6"/>
                      </a:solidFill>
                      <a:prstDash val="solid"/>
                      <a:round/>
                      <a:headEnd type="none" w="med" len="med"/>
                      <a:tailEnd type="none" w="med" len="med"/>
                    </a:lnB>
                    <a:solidFill>
                      <a:srgbClr val="FFFFFF"/>
                    </a:solidFill>
                  </a:tcPr>
                </a:tc>
                <a:tc>
                  <a:txBody>
                    <a:bodyPr/>
                    <a:lstStyle/>
                    <a:p>
                      <a:pPr algn="r" indent="0" marL="0">
                        <a:buNone/>
                      </a:pPr>
                      <a:r>
                        <a:rPr lang="en-US" sz="1000" b="1" spc="100" kern="0" dirty="0">
                          <a:solidFill>
                            <a:srgbClr val="6B8086"/>
                          </a:solidFill>
                          <a:latin typeface="Calibri" pitchFamily="34" charset="0"/>
                          <a:ea typeface="Calibri" pitchFamily="34" charset="-122"/>
                          <a:cs typeface="Calibri" pitchFamily="34" charset="-120"/>
                        </a:rPr>
                        <a:t>FRESHWATER REPORTED</a:t>
                      </a:r>
                      <a:endParaRPr lang="en-US" sz="1000" dirty="0">
                        <a:latin typeface="Calibri" charset="0"/>
                        <a:ea typeface="Calibri" charset="0"/>
                        <a:cs typeface="Calibri" charset="0"/>
                      </a:endParaRPr>
                    </a:p>
                  </a:txBody>
                  <a:tcPr marL="0" marR="76200" marT="76200" marB="762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2700" cap="flat" cmpd="sng" algn="ctr">
                      <a:solidFill>
                        <a:srgbClr val="C3D3D6"/>
                      </a:solidFill>
                      <a:prstDash val="solid"/>
                      <a:round/>
                      <a:headEnd type="none" w="med" len="med"/>
                      <a:tailEnd type="none" w="med" len="med"/>
                    </a:lnB>
                    <a:solidFill>
                      <a:srgbClr val="FFFFFF"/>
                    </a:solidFill>
                  </a:tcPr>
                </a:tc>
                <a:tc>
                  <a:txBody>
                    <a:bodyPr/>
                    <a:lstStyle/>
                    <a:p>
                      <a:pPr algn="r" indent="0" marL="0">
                        <a:buNone/>
                      </a:pPr>
                      <a:r>
                        <a:rPr lang="en-US" sz="1000" b="1" spc="100" kern="0" dirty="0">
                          <a:solidFill>
                            <a:srgbClr val="6B8086"/>
                          </a:solidFill>
                          <a:latin typeface="Calibri" pitchFamily="34" charset="0"/>
                          <a:ea typeface="Calibri" pitchFamily="34" charset="-122"/>
                          <a:cs typeface="Calibri" pitchFamily="34" charset="-120"/>
                        </a:rPr>
                        <a:t>VS FULL</a:t>
                      </a:r>
                      <a:endParaRPr lang="en-US" sz="1000" dirty="0">
                        <a:latin typeface="Calibri" charset="0"/>
                        <a:ea typeface="Calibri" charset="0"/>
                        <a:cs typeface="Calibri" charset="0"/>
                      </a:endParaRPr>
                    </a:p>
                  </a:txBody>
                  <a:tcPr marL="0" marR="76200" marT="76200" marB="762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2700" cap="flat" cmpd="sng" algn="ctr">
                      <a:solidFill>
                        <a:srgbClr val="C3D3D6"/>
                      </a:solidFill>
                      <a:prstDash val="solid"/>
                      <a:round/>
                      <a:headEnd type="none" w="med" len="med"/>
                      <a:tailEnd type="none" w="med" len="med"/>
                    </a:lnB>
                    <a:solidFill>
                      <a:srgbClr val="FFFFFF"/>
                    </a:solidFill>
                  </a:tcPr>
                </a:tc>
                <a:tc>
                  <a:txBody>
                    <a:bodyPr/>
                    <a:lstStyle/>
                    <a:p>
                      <a:pPr algn="r" indent="0" marL="0">
                        <a:buNone/>
                      </a:pPr>
                      <a:r>
                        <a:rPr lang="en-US" sz="1000" b="1" spc="100" kern="0" dirty="0">
                          <a:solidFill>
                            <a:srgbClr val="6B8086"/>
                          </a:solidFill>
                          <a:latin typeface="Calibri" pitchFamily="34" charset="0"/>
                          <a:ea typeface="Calibri" pitchFamily="34" charset="-122"/>
                          <a:cs typeface="Calibri" pitchFamily="34" charset="-120"/>
                        </a:rPr>
                        <a:t>BREACH</a:t>
                      </a:r>
                      <a:endParaRPr lang="en-US" sz="1000" dirty="0">
                        <a:latin typeface="Calibri" charset="0"/>
                        <a:ea typeface="Calibri" charset="0"/>
                        <a:cs typeface="Calibri" charset="0"/>
                      </a:endParaRPr>
                    </a:p>
                  </a:txBody>
                  <a:tcPr marL="0" marR="76200" marT="76200" marB="762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2700" cap="flat" cmpd="sng" algn="ctr">
                      <a:solidFill>
                        <a:srgbClr val="C3D3D6"/>
                      </a:solidFill>
                      <a:prstDash val="solid"/>
                      <a:round/>
                      <a:headEnd type="none" w="med" len="med"/>
                      <a:tailEnd type="none" w="med" len="med"/>
                    </a:lnB>
                    <a:solidFill>
                      <a:srgbClr val="FFFFFF"/>
                    </a:solidFill>
                  </a:tcPr>
                </a:tc>
                <a:tc>
                  <a:txBody>
                    <a:bodyPr/>
                    <a:lstStyle/>
                    <a:p>
                      <a:pPr algn="l" indent="0" marL="0">
                        <a:buNone/>
                      </a:pPr>
                      <a:r>
                        <a:rPr lang="en-US" sz="1000" b="1" spc="100" kern="0" dirty="0">
                          <a:solidFill>
                            <a:srgbClr val="6B8086"/>
                          </a:solidFill>
                          <a:latin typeface="Calibri" pitchFamily="34" charset="0"/>
                          <a:ea typeface="Calibri" pitchFamily="34" charset="-122"/>
                          <a:cs typeface="Calibri" pitchFamily="34" charset="-120"/>
                        </a:rPr>
                        <a:t>VERDICT</a:t>
                      </a:r>
                      <a:endParaRPr lang="en-US" sz="1000" dirty="0">
                        <a:latin typeface="Calibri" charset="0"/>
                        <a:ea typeface="Calibri" charset="0"/>
                        <a:cs typeface="Calibri" charset="0"/>
                      </a:endParaRPr>
                    </a:p>
                  </a:txBody>
                  <a:tcPr marL="0" marR="76200" marT="76200" marB="762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2700" cap="flat" cmpd="sng" algn="ctr">
                      <a:solidFill>
                        <a:srgbClr val="C3D3D6"/>
                      </a:solidFill>
                      <a:prstDash val="solid"/>
                      <a:round/>
                      <a:headEnd type="none" w="med" len="med"/>
                      <a:tailEnd type="none" w="med" len="med"/>
                    </a:lnB>
                    <a:solidFill>
                      <a:srgbClr val="FFFFFF"/>
                    </a:solidFill>
                  </a:tcPr>
                </a:tc>
              </a:tr>
              <a:tr h="0">
                <a:tc>
                  <a:txBody>
                    <a:bodyPr/>
                    <a:lstStyle/>
                    <a:p>
                      <a:pPr algn="l" indent="0" marL="0">
                        <a:buNone/>
                      </a:pPr>
                      <a:r>
                        <a:rPr lang="en-US" sz="1200" b="1" dirty="0">
                          <a:solidFill>
                            <a:srgbClr val="14525F"/>
                          </a:solidFill>
                          <a:latin typeface="Calibri" pitchFamily="34" charset="0"/>
                          <a:ea typeface="Calibri" pitchFamily="34" charset="-122"/>
                          <a:cs typeface="Calibri" pitchFamily="34" charset="-120"/>
                        </a:rPr>
                        <a:t>Full ChangeLoop</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E3EFF2"/>
                    </a:solidFill>
                  </a:tcPr>
                </a:tc>
                <a:tc>
                  <a:txBody>
                    <a:bodyPr/>
                    <a:lstStyle/>
                    <a:p>
                      <a:pPr algn="r" indent="0" marL="0">
                        <a:buNone/>
                      </a:pPr>
                      <a:r>
                        <a:rPr lang="en-US" sz="1200" b="1" dirty="0">
                          <a:solidFill>
                            <a:srgbClr val="14525F"/>
                          </a:solidFill>
                          <a:latin typeface="Calibri" pitchFamily="34" charset="0"/>
                          <a:ea typeface="Calibri" pitchFamily="34" charset="-122"/>
                          <a:cs typeface="Calibri" pitchFamily="34" charset="-120"/>
                        </a:rPr>
                        <a:t>720 L</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E3EFF2"/>
                    </a:solidFill>
                  </a:tcPr>
                </a:tc>
                <a:tc>
                  <a:txBody>
                    <a:bodyPr/>
                    <a:lstStyle/>
                    <a:p>
                      <a:pPr algn="r" indent="0" marL="0">
                        <a:buNone/>
                      </a:pPr>
                      <a:r>
                        <a:rPr lang="en-US" sz="1200" b="1" dirty="0">
                          <a:solidFill>
                            <a:srgbClr val="14525F"/>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E3EFF2"/>
                    </a:solidFill>
                  </a:tcPr>
                </a:tc>
                <a:tc>
                  <a:txBody>
                    <a:bodyPr/>
                    <a:lstStyle/>
                    <a:p>
                      <a:pPr algn="r" indent="0" marL="0">
                        <a:buNone/>
                      </a:pPr>
                      <a:r>
                        <a:rPr lang="en-US" sz="1200" b="1" dirty="0">
                          <a:solidFill>
                            <a:srgbClr val="14525F"/>
                          </a:solidFill>
                          <a:latin typeface="Calibri" pitchFamily="34" charset="0"/>
                          <a:ea typeface="Calibri" pitchFamily="34" charset="-122"/>
                          <a:cs typeface="Calibri" pitchFamily="34" charset="-120"/>
                        </a:rPr>
                        <a:t>undefined</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E3EFF2"/>
                    </a:solidFill>
                  </a:tcPr>
                </a:tc>
                <a:tc>
                  <a:txBody>
                    <a:bodyPr/>
                    <a:lstStyle/>
                    <a:p>
                      <a:pPr algn="l" indent="0" marL="0">
                        <a:buNone/>
                      </a:pPr>
                      <a:r>
                        <a:rPr lang="en-US" sz="1200" b="1" dirty="0">
                          <a:solidFill>
                            <a:srgbClr val="14525F"/>
                          </a:solidFill>
                          <a:latin typeface="Calibri" pitchFamily="34" charset="0"/>
                          <a:ea typeface="Calibri" pitchFamily="34" charset="-122"/>
                          <a:cs typeface="Calibri" pitchFamily="34" charset="-120"/>
                        </a:rPr>
                        <a:t>baseline for comparison</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E3EFF2"/>
                    </a:solidFill>
                  </a:tcPr>
                </a:tc>
              </a:tr>
              <a:tr h="0">
                <a:tc>
                  <a:txBody>
                    <a:bodyPr/>
                    <a:lstStyle/>
                    <a:p>
                      <a:pPr algn="l" indent="0" marL="0">
                        <a:buNone/>
                      </a:pPr>
                      <a:r>
                        <a:rPr lang="en-US" sz="1200" b="1" dirty="0">
                          <a:solidFill>
                            <a:srgbClr val="0E2127"/>
                          </a:solidFill>
                          <a:latin typeface="Calibri" pitchFamily="34" charset="0"/>
                          <a:ea typeface="Calibri" pitchFamily="34" charset="-122"/>
                          <a:cs typeface="Calibri" pitchFamily="34" charset="-120"/>
                        </a:rPr>
                        <a:t>Without downstream ZLD coupling</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3474C"/>
                          </a:solidFill>
                          <a:latin typeface="Calibri" pitchFamily="34" charset="0"/>
                          <a:ea typeface="Calibri" pitchFamily="34" charset="-122"/>
                          <a:cs typeface="Calibri" pitchFamily="34" charset="-120"/>
                        </a:rPr>
                        <a:t>720 L</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3474C"/>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3474C"/>
                          </a:solidFill>
                          <a:latin typeface="Calibri" pitchFamily="34" charset="0"/>
                          <a:ea typeface="Calibri" pitchFamily="34" charset="-122"/>
                          <a:cs typeface="Calibri" pitchFamily="34" charset="-120"/>
                        </a:rPr>
                        <a:t>undefined</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474C"/>
                          </a:solidFill>
                          <a:latin typeface="Calibri" pitchFamily="34" charset="0"/>
                          <a:ea typeface="Calibri" pitchFamily="34" charset="-122"/>
                          <a:cs typeface="Calibri" pitchFamily="34" charset="-120"/>
                        </a:rPr>
                        <a:t>no effect at this site</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r>
              <a:tr h="0">
                <a:tc>
                  <a:txBody>
                    <a:bodyPr/>
                    <a:lstStyle/>
                    <a:p>
                      <a:pPr algn="l" indent="0" marL="0">
                        <a:buNone/>
                      </a:pPr>
                      <a:r>
                        <a:rPr lang="en-US" sz="1200" b="1" dirty="0">
                          <a:solidFill>
                            <a:srgbClr val="0E2127"/>
                          </a:solidFill>
                          <a:latin typeface="Calibri" pitchFamily="34" charset="0"/>
                          <a:ea typeface="Calibri" pitchFamily="34" charset="-122"/>
                          <a:cs typeface="Calibri" pitchFamily="34" charset="-120"/>
                        </a:rPr>
                        <a:t>Without the salt-mass model (water-only ZLD)</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3474C"/>
                          </a:solidFill>
                          <a:latin typeface="Calibri" pitchFamily="34" charset="0"/>
                          <a:ea typeface="Calibri" pitchFamily="34" charset="-122"/>
                          <a:cs typeface="Calibri" pitchFamily="34" charset="-120"/>
                        </a:rPr>
                        <a:t>2,343 L</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3474C"/>
                          </a:solidFill>
                          <a:latin typeface="Calibri" pitchFamily="34" charset="0"/>
                          <a:ea typeface="Calibri" pitchFamily="34" charset="-122"/>
                          <a:cs typeface="Calibri" pitchFamily="34" charset="-120"/>
                        </a:rPr>
                        <a:t>325.4%</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3474C"/>
                          </a:solidFill>
                          <a:latin typeface="Calibri" pitchFamily="34" charset="0"/>
                          <a:ea typeface="Calibri" pitchFamily="34" charset="-122"/>
                          <a:cs typeface="Calibri" pitchFamily="34" charset="-120"/>
                        </a:rPr>
                        <a:t>undefined</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474C"/>
                          </a:solidFill>
                          <a:latin typeface="Calibri" pitchFamily="34" charset="0"/>
                          <a:ea typeface="Calibri" pitchFamily="34" charset="-122"/>
                          <a:cs typeface="Calibri" pitchFamily="34" charset="-120"/>
                        </a:rPr>
                        <a:t>loses most of the benefit</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r>
              <a:tr h="0">
                <a:tc>
                  <a:txBody>
                    <a:bodyPr/>
                    <a:lstStyle/>
                    <a:p>
                      <a:pPr algn="l" indent="0" marL="0">
                        <a:buNone/>
                      </a:pPr>
                      <a:r>
                        <a:rPr lang="en-US" sz="1200" b="1" dirty="0">
                          <a:solidFill>
                            <a:srgbClr val="0E2127"/>
                          </a:solidFill>
                          <a:latin typeface="Calibri" pitchFamily="34" charset="0"/>
                          <a:ea typeface="Calibri" pitchFamily="34" charset="-122"/>
                          <a:cs typeface="Calibri" pitchFamily="34" charset="-120"/>
                        </a:rPr>
                        <a:t>Without basin stress weighting</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3474C"/>
                          </a:solidFill>
                          <a:latin typeface="Calibri" pitchFamily="34" charset="0"/>
                          <a:ea typeface="Calibri" pitchFamily="34" charset="-122"/>
                          <a:cs typeface="Calibri" pitchFamily="34" charset="-120"/>
                        </a:rPr>
                        <a:t>720 L</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3474C"/>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3474C"/>
                          </a:solidFill>
                          <a:latin typeface="Calibri" pitchFamily="34" charset="0"/>
                          <a:ea typeface="Calibri" pitchFamily="34" charset="-122"/>
                          <a:cs typeface="Calibri" pitchFamily="34" charset="-120"/>
                        </a:rPr>
                        <a:t>undefined</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474C"/>
                          </a:solidFill>
                          <a:latin typeface="Calibri" pitchFamily="34" charset="0"/>
                          <a:ea typeface="Calibri" pitchFamily="34" charset="-122"/>
                          <a:cs typeface="Calibri" pitchFamily="34" charset="-120"/>
                        </a:rPr>
                        <a:t>no effect at this site</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r>
              <a:tr h="0">
                <a:tc>
                  <a:txBody>
                    <a:bodyPr/>
                    <a:lstStyle/>
                    <a:p>
                      <a:pPr algn="l" indent="0" marL="0">
                        <a:buNone/>
                      </a:pPr>
                      <a:r>
                        <a:rPr lang="en-US" sz="1200" b="1" dirty="0">
                          <a:solidFill>
                            <a:srgbClr val="0E2127"/>
                          </a:solidFill>
                          <a:latin typeface="Calibri" pitchFamily="34" charset="0"/>
                          <a:ea typeface="Calibri" pitchFamily="34" charset="-122"/>
                          <a:cs typeface="Calibri" pitchFamily="34" charset="-120"/>
                        </a:rPr>
                        <a:t>Without hard-constraint enforcement</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3474C"/>
                          </a:solidFill>
                          <a:latin typeface="Calibri" pitchFamily="34" charset="0"/>
                          <a:ea typeface="Calibri" pitchFamily="34" charset="-122"/>
                          <a:cs typeface="Calibri" pitchFamily="34" charset="-120"/>
                        </a:rPr>
                        <a:t>1,200 L</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3474C"/>
                          </a:solidFill>
                          <a:latin typeface="Calibri" pitchFamily="34" charset="0"/>
                          <a:ea typeface="Calibri" pitchFamily="34" charset="-122"/>
                          <a:cs typeface="Calibri" pitchFamily="34" charset="-120"/>
                        </a:rPr>
                        <a:t>166.7%</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3474C"/>
                          </a:solidFill>
                          <a:latin typeface="Calibri" pitchFamily="34" charset="0"/>
                          <a:ea typeface="Calibri" pitchFamily="34" charset="-122"/>
                          <a:cs typeface="Calibri" pitchFamily="34" charset="-120"/>
                        </a:rPr>
                        <a:t>undefined</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474C"/>
                          </a:solidFill>
                          <a:latin typeface="Calibri" pitchFamily="34" charset="0"/>
                          <a:ea typeface="Calibri" pitchFamily="34" charset="-122"/>
                          <a:cs typeface="Calibri" pitchFamily="34" charset="-120"/>
                        </a:rPr>
                        <a:t>loses most of the benefit</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r>
            </a:tbl>
          </a:graphicData>
        </a:graphic>
      </p:graphicFrame>
      <p:sp>
        <p:nvSpPr>
          <p:cNvPr id="6" name="card-overrep"/>
          <p:cNvSpPr/>
          <p:nvPr/>
        </p:nvSpPr>
        <p:spPr>
          <a:xfrm>
            <a:off x="685800" y="4480560"/>
            <a:ext cx="5120640" cy="1371600"/>
          </a:xfrm>
          <a:prstGeom prst="roundRect">
            <a:avLst>
              <a:gd name="adj" fmla="val 2667"/>
            </a:avLst>
          </a:prstGeom>
          <a:solidFill>
            <a:srgbClr val="F6F3EA"/>
          </a:solidFill>
          <a:ln w="9525">
            <a:solidFill>
              <a:srgbClr val="E0D4B4"/>
            </a:solidFill>
            <a:prstDash val="solid"/>
          </a:ln>
        </p:spPr>
      </p:sp>
      <p:sp>
        <p:nvSpPr>
          <p:cNvPr id="7" name="or-h"/>
          <p:cNvSpPr txBox="1"/>
          <p:nvPr/>
        </p:nvSpPr>
        <p:spPr>
          <a:xfrm>
            <a:off x="960120" y="4663440"/>
            <a:ext cx="4572000" cy="329184"/>
          </a:xfrm>
          <a:prstGeom prst="rect">
            <a:avLst/>
          </a:prstGeom>
          <a:noFill/>
          <a:ln/>
        </p:spPr>
        <p:txBody>
          <a:bodyPr wrap="square" lIns="0" tIns="0" rIns="0" bIns="0" rtlCol="0" anchor="ctr"/>
          <a:lstStyle/>
          <a:p>
            <a:pPr indent="0" marL="0">
              <a:buNone/>
            </a:pPr>
            <a:r>
              <a:rPr lang="en-US" sz="1400" b="1" dirty="0">
                <a:solidFill>
                  <a:srgbClr val="7A5A18"/>
                </a:solidFill>
                <a:latin typeface="Cambria" pitchFamily="34" charset="0"/>
                <a:ea typeface="Cambria" pitchFamily="34" charset="-122"/>
                <a:cs typeface="Cambria" pitchFamily="34" charset="-120"/>
              </a:rPr>
              <a:t>Two variants report MORE than is really there</a:t>
            </a:r>
            <a:endParaRPr lang="en-US" sz="1400" dirty="0"/>
          </a:p>
        </p:txBody>
      </p:sp>
      <p:sp>
        <p:nvSpPr>
          <p:cNvPr id="8" name="or-b"/>
          <p:cNvSpPr txBox="1"/>
          <p:nvPr/>
        </p:nvSpPr>
        <p:spPr>
          <a:xfrm>
            <a:off x="960120" y="5029200"/>
            <a:ext cx="4572000" cy="731520"/>
          </a:xfrm>
          <a:prstGeom prst="rect">
            <a:avLst/>
          </a:prstGeom>
          <a:noFill/>
          <a:ln/>
        </p:spPr>
        <p:txBody>
          <a:bodyPr wrap="square" lIns="0" tIns="0" rIns="0" bIns="0" rtlCol="0" anchor="t"/>
          <a:lstStyle/>
          <a:p>
            <a:pPr indent="0" marL="0">
              <a:buNone/>
            </a:pPr>
            <a:r>
              <a:rPr lang="en-US" sz="1200" dirty="0">
                <a:solidFill>
                  <a:srgbClr val="5E4A1C"/>
                </a:solidFill>
              </a:rPr>
              <a:t>Over-reporting is their defect, not an advantage. A water-only ZLD model mis-states how much freshwater a plan really avoids. We label it as such in the product.</a:t>
            </a:r>
            <a:endParaRPr lang="en-US" sz="1200" dirty="0"/>
          </a:p>
        </p:txBody>
      </p:sp>
      <p:sp>
        <p:nvSpPr>
          <p:cNvPr id="9" name="card-inert"/>
          <p:cNvSpPr/>
          <p:nvPr/>
        </p:nvSpPr>
        <p:spPr>
          <a:xfrm>
            <a:off x="6355080" y="4480560"/>
            <a:ext cx="5120640" cy="1371600"/>
          </a:xfrm>
          <a:prstGeom prst="roundRect">
            <a:avLst>
              <a:gd name="adj" fmla="val 2667"/>
            </a:avLst>
          </a:prstGeom>
          <a:solidFill>
            <a:schemeClr val="bg2"/>
          </a:solidFill>
          <a:ln w="9525">
            <a:solidFill>
              <a:srgbClr val="DCE7E9"/>
            </a:solidFill>
            <a:prstDash val="solid"/>
          </a:ln>
        </p:spPr>
      </p:sp>
      <p:sp>
        <p:nvSpPr>
          <p:cNvPr id="10" name="in-h"/>
          <p:cNvSpPr txBox="1"/>
          <p:nvPr/>
        </p:nvSpPr>
        <p:spPr>
          <a:xfrm>
            <a:off x="6629400" y="4663440"/>
            <a:ext cx="4572000" cy="329184"/>
          </a:xfrm>
          <a:prstGeom prst="rect">
            <a:avLst/>
          </a:prstGeom>
          <a:noFill/>
          <a:ln/>
        </p:spPr>
        <p:txBody>
          <a:bodyPr wrap="square" lIns="0" tIns="0" rIns="0" bIns="0" rtlCol="0" anchor="ctr"/>
          <a:lstStyle/>
          <a:p>
            <a:pPr indent="0" marL="0">
              <a:buNone/>
            </a:pPr>
            <a:r>
              <a:rPr lang="en-US" sz="1400" b="1" dirty="0">
                <a:solidFill>
                  <a:srgbClr val="0E2127"/>
                </a:solidFill>
                <a:latin typeface="Cambria" pitchFamily="34" charset="0"/>
                <a:ea typeface="Cambria" pitchFamily="34" charset="-122"/>
                <a:cs typeface="Cambria" pitchFamily="34" charset="-120"/>
              </a:rPr>
              <a:t>And one of our layers earns nothing here</a:t>
            </a:r>
            <a:endParaRPr lang="en-US" sz="1400" dirty="0"/>
          </a:p>
        </p:txBody>
      </p:sp>
      <p:sp>
        <p:nvSpPr>
          <p:cNvPr id="11" name="in-b"/>
          <p:cNvSpPr txBox="1"/>
          <p:nvPr/>
        </p:nvSpPr>
        <p:spPr>
          <a:xfrm>
            <a:off x="6629400" y="5029200"/>
            <a:ext cx="4572000" cy="731520"/>
          </a:xfrm>
          <a:prstGeom prst="rect">
            <a:avLst/>
          </a:prstGeom>
          <a:noFill/>
          <a:ln/>
        </p:spPr>
        <p:txBody>
          <a:bodyPr wrap="square" lIns="0" tIns="0" rIns="0" bIns="0" rtlCol="0" anchor="t"/>
          <a:lstStyle/>
          <a:p>
            <a:pPr indent="0" marL="0">
              <a:buNone/>
            </a:pPr>
            <a:r>
              <a:rPr lang="en-US" sz="1200" dirty="0">
                <a:solidFill>
                  <a:srgbClr val="44555A"/>
                </a:solidFill>
              </a:rPr>
              <a:t>Basin stress weighting does not change the answer at a single site. It only earns its place for multi-site prioritisation, and our own study says so rather than pretending otherwise.</a:t>
            </a:r>
            <a:endParaRPr lang="en-US" sz="1200" dirty="0"/>
          </a:p>
        </p:txBody>
      </p:sp>
      <p:sp>
        <p:nvSpPr>
          <p:cNvPr id="13" name="Text 1"/>
          <p:cNvSpPr/>
          <p:nvPr>
            <p:ph idx="104" type="chart" hasCustomPrompt="1"/>
          </p:nvPr>
        </p:nvSpPr>
        <p:spPr>
          <a:xfrm>
            <a:off x="685800" y="2240280"/>
            <a:ext cx="10789920" cy="3931920"/>
          </a:xfrm>
          <a:prstGeom prst="rect">
            <a:avLst/>
          </a:prstGeom>
          <a:noFill/>
          <a:ln/>
        </p:spPr>
        <p:txBody>
          <a:bodyPr wrap="square" rtlCol="0"/>
          <a:lstStyle/>
          <a:p>
            <a:pPr indent="0" marL="0">
              <a:buNone/>
            </a:pPr>
            <a:endParaRPr lang="en-US" dirty="0"/>
          </a:p>
        </p:txBody>
      </p:sp>
      <p:sp>
        <p:nvSpPr>
          <p:cNvPr id="25" name="Slide Number Placeholder 0"/>
          <p:cNvSpPr>
            <a:spLocks noGrp="1"/>
          </p:cNvSpPr>
          <p:nvPr>
            <p:ph type="sldNum" sz="quarter" idx="4294967295"/>
          </p:nvPr>
        </p:nvSpPr>
        <p:spPr>
          <a:xfrm>
            <a:off x="114757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AAAAE"/>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384048"/>
            <a:ext cx="10789920" cy="274320"/>
          </a:xfrm>
          <a:prstGeom prst="rect">
            <a:avLst/>
          </a:prstGeom>
          <a:noFill/>
          <a:ln/>
        </p:spPr>
        <p:txBody>
          <a:bodyPr wrap="square" rtlCol="0"/>
          <a:lstStyle/>
          <a:p>
            <a:pPr indent="0" marL="0">
              <a:buNone/>
            </a:pPr>
            <a:r>
              <a:rPr lang="en-US" sz="1100" b="1" spc="200" kern="0" dirty="0">
                <a:solidFill>
                  <a:srgbClr val="1A6B7C"/>
                </a:solidFill>
              </a:rPr>
              <a:t>WHO PAYS, AND HOW WE WOULD KNOW IT WORKED</a:t>
            </a:r>
            <a:endParaRPr lang="en-US" sz="1100" dirty="0"/>
          </a:p>
        </p:txBody>
      </p:sp>
      <p:sp>
        <p:nvSpPr>
          <p:cNvPr id="3" name="Text 0"/>
          <p:cNvSpPr/>
          <p:nvPr>
            <p:ph idx="101" type="title" hasCustomPrompt="1"/>
          </p:nvPr>
        </p:nvSpPr>
        <p:spPr>
          <a:xfrm>
            <a:off x="685800" y="658368"/>
            <a:ext cx="10789920" cy="932688"/>
          </a:xfrm>
          <a:prstGeom prst="rect">
            <a:avLst/>
          </a:prstGeom>
          <a:noFill/>
          <a:ln/>
        </p:spPr>
        <p:txBody>
          <a:bodyPr wrap="square" rtlCol="0" anchor="t"/>
          <a:lstStyle/>
          <a:p>
            <a:pPr algn="l" indent="0" marL="0">
              <a:buNone/>
            </a:pPr>
            <a:r>
              <a:rPr lang="en-US" sz="3100" b="1" dirty="0">
                <a:solidFill>
                  <a:srgbClr val="0E2127"/>
                </a:solidFill>
              </a:rPr>
              <a:t>The cluster is the unit. The CETP is the channel</a:t>
            </a:r>
            <a:endParaRPr lang="en-US" sz="3100" dirty="0"/>
          </a:p>
        </p:txBody>
      </p:sp>
      <p:graphicFrame>
        <p:nvGraphicFramePr>
          <p:cNvPr id="13" name="bm"/>
          <p:cNvGraphicFramePr>
            <a:graphicFrameLocks noGrp="1"/>
          </p:cNvGraphicFramePr>
          <p:nvPr>
            <p:extLst>
              <p:ext uri="{D42A27DB-BD31-4B8C-83A1-F6EECF244321}">
                <p14:modId xmlns:p14="http://schemas.microsoft.com/office/powerpoint/2010/main" val="1579011935"/>
              </p:ext>
            </p:extLst>
          </p:nvPr>
        </p:nvGraphicFramePr>
        <p:xfrm>
          <a:off x="685800" y="2057400"/>
          <a:ext cx="5394960" cy="914400"/>
        </p:xfrm>
        <a:graphic>
          <a:graphicData uri="http://schemas.openxmlformats.org/drawingml/2006/table">
            <a:tbl>
              <a:tblPr/>
              <a:tblGrid>
                <a:gridCol w="1920240"/>
                <a:gridCol w="3474720"/>
              </a:tblGrid>
              <a:tr h="0">
                <a:tc>
                  <a:txBody>
                    <a:bodyPr/>
                    <a:lstStyle/>
                    <a:p>
                      <a:pPr algn="l" indent="0" marL="0">
                        <a:buNone/>
                      </a:pPr>
                      <a:r>
                        <a:rPr lang="en-US" sz="1000" b="1" spc="100" kern="0" dirty="0">
                          <a:solidFill>
                            <a:srgbClr val="6B8086"/>
                          </a:solidFill>
                          <a:latin typeface="Calibri" pitchFamily="34" charset="0"/>
                          <a:ea typeface="Calibri" pitchFamily="34" charset="-122"/>
                          <a:cs typeface="Calibri" pitchFamily="34" charset="-120"/>
                        </a:rPr>
                        <a:t>ROLE</a:t>
                      </a:r>
                      <a:endParaRPr lang="en-US" sz="1000" dirty="0">
                        <a:latin typeface="Calibri" charset="0"/>
                        <a:ea typeface="Calibri" charset="0"/>
                        <a:cs typeface="Calibri" charset="0"/>
                      </a:endParaRPr>
                    </a:p>
                  </a:txBody>
                  <a:tcPr marL="0" marR="76200" marT="76200" marB="762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2700" cap="flat" cmpd="sng" algn="ctr">
                      <a:solidFill>
                        <a:srgbClr val="C3D3D6"/>
                      </a:solidFill>
                      <a:prstDash val="solid"/>
                      <a:round/>
                      <a:headEnd type="none" w="med" len="med"/>
                      <a:tailEnd type="none" w="med" len="med"/>
                    </a:lnB>
                    <a:solidFill>
                      <a:srgbClr val="FFFFFF"/>
                    </a:solidFill>
                  </a:tcPr>
                </a:tc>
                <a:tc>
                  <a:txBody>
                    <a:bodyPr/>
                    <a:lstStyle/>
                    <a:p>
                      <a:pPr algn="l" indent="0" marL="0">
                        <a:buNone/>
                      </a:pPr>
                      <a:r>
                        <a:rPr lang="en-US" sz="1000" b="1" spc="100" kern="0" dirty="0">
                          <a:solidFill>
                            <a:srgbClr val="6B8086"/>
                          </a:solidFill>
                          <a:latin typeface="Calibri" pitchFamily="34" charset="0"/>
                          <a:ea typeface="Calibri" pitchFamily="34" charset="-122"/>
                          <a:cs typeface="Calibri" pitchFamily="34" charset="-120"/>
                        </a:rPr>
                        <a:t>WHY THEY ENGAGE</a:t>
                      </a:r>
                      <a:endParaRPr lang="en-US" sz="1000" dirty="0">
                        <a:latin typeface="Calibri" charset="0"/>
                        <a:ea typeface="Calibri" charset="0"/>
                        <a:cs typeface="Calibri" charset="0"/>
                      </a:endParaRPr>
                    </a:p>
                  </a:txBody>
                  <a:tcPr marL="0" marR="76200" marT="76200" marB="762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2700" cap="flat" cmpd="sng" algn="ctr">
                      <a:solidFill>
                        <a:srgbClr val="C3D3D6"/>
                      </a:solidFill>
                      <a:prstDash val="solid"/>
                      <a:round/>
                      <a:headEnd type="none" w="med" len="med"/>
                      <a:tailEnd type="none" w="med" len="med"/>
                    </a:lnB>
                    <a:solidFill>
                      <a:srgbClr val="FFFFFF"/>
                    </a:solidFill>
                  </a:tcPr>
                </a:tc>
              </a:tr>
              <a:tr h="0">
                <a:tc>
                  <a:txBody>
                    <a:bodyPr/>
                    <a:lstStyle/>
                    <a:p>
                      <a:pPr algn="l" indent="0" marL="0">
                        <a:buNone/>
                      </a:pPr>
                      <a:r>
                        <a:rPr lang="en-US" sz="1200" b="1" dirty="0">
                          <a:solidFill>
                            <a:srgbClr val="0E2127"/>
                          </a:solidFill>
                          <a:latin typeface="Calibri" pitchFamily="34" charset="0"/>
                          <a:ea typeface="Calibri" pitchFamily="34" charset="-122"/>
                          <a:cs typeface="Calibri" pitchFamily="34" charset="-120"/>
                        </a:rPr>
                        <a:t>Unit owner</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474C"/>
                          </a:solidFill>
                          <a:latin typeface="Calibri" pitchFamily="34" charset="0"/>
                          <a:ea typeface="Calibri" pitchFamily="34" charset="-122"/>
                          <a:cs typeface="Calibri" pitchFamily="34" charset="-120"/>
                        </a:rPr>
                        <a:t>Buys it. Steam and salt are cash to an MSME.</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r>
              <a:tr h="0">
                <a:tc>
                  <a:txBody>
                    <a:bodyPr/>
                    <a:lstStyle/>
                    <a:p>
                      <a:pPr algn="l" indent="0" marL="0">
                        <a:buNone/>
                      </a:pPr>
                      <a:r>
                        <a:rPr lang="en-US" sz="1200" b="1" dirty="0">
                          <a:solidFill>
                            <a:srgbClr val="0E2127"/>
                          </a:solidFill>
                          <a:latin typeface="Calibri" pitchFamily="34" charset="0"/>
                          <a:ea typeface="Calibri" pitchFamily="34" charset="-122"/>
                          <a:cs typeface="Calibri" pitchFamily="34" charset="-120"/>
                        </a:rPr>
                        <a:t>Production planner</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474C"/>
                          </a:solidFill>
                          <a:latin typeface="Calibri" pitchFamily="34" charset="0"/>
                          <a:ea typeface="Calibri" pitchFamily="34" charset="-122"/>
                          <a:cs typeface="Calibri" pitchFamily="34" charset="-120"/>
                        </a:rPr>
                        <a:t>Uses it. Will not accept a missed ship date.</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r>
              <a:tr h="0">
                <a:tc>
                  <a:txBody>
                    <a:bodyPr/>
                    <a:lstStyle/>
                    <a:p>
                      <a:pPr algn="l" indent="0" marL="0">
                        <a:buNone/>
                      </a:pPr>
                      <a:r>
                        <a:rPr lang="en-US" sz="1200" b="1" dirty="0">
                          <a:solidFill>
                            <a:srgbClr val="0E2127"/>
                          </a:solidFill>
                          <a:latin typeface="Calibri" pitchFamily="34" charset="0"/>
                          <a:ea typeface="Calibri" pitchFamily="34" charset="-122"/>
                          <a:cs typeface="Calibri" pitchFamily="34" charset="-120"/>
                        </a:rPr>
                        <a:t>Quality supervisor</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474C"/>
                          </a:solidFill>
                          <a:latin typeface="Calibri" pitchFamily="34" charset="0"/>
                          <a:ea typeface="Calibri" pitchFamily="34" charset="-122"/>
                          <a:cs typeface="Calibri" pitchFamily="34" charset="-120"/>
                        </a:rPr>
                        <a:t>Holds the veto on wash-off release.</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r>
              <a:tr h="0">
                <a:tc>
                  <a:txBody>
                    <a:bodyPr/>
                    <a:lstStyle/>
                    <a:p>
                      <a:pPr algn="l" indent="0" marL="0">
                        <a:buNone/>
                      </a:pPr>
                      <a:r>
                        <a:rPr lang="en-US" sz="1200" b="1" dirty="0">
                          <a:solidFill>
                            <a:srgbClr val="0E2127"/>
                          </a:solidFill>
                          <a:latin typeface="Calibri" pitchFamily="34" charset="0"/>
                          <a:ea typeface="Calibri" pitchFamily="34" charset="-122"/>
                          <a:cs typeface="Calibri" pitchFamily="34" charset="-120"/>
                        </a:rPr>
                        <a:t>Common effluent plant</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E3EFF2"/>
                    </a:solidFill>
                  </a:tcPr>
                </a:tc>
                <a:tc>
                  <a:txBody>
                    <a:bodyPr/>
                    <a:lstStyle/>
                    <a:p>
                      <a:pPr algn="l" indent="0" marL="0">
                        <a:buNone/>
                      </a:pPr>
                      <a:r>
                        <a:rPr lang="en-US" sz="1200" dirty="0">
                          <a:solidFill>
                            <a:srgbClr val="33474C"/>
                          </a:solidFill>
                          <a:latin typeface="Calibri" pitchFamily="34" charset="0"/>
                          <a:ea typeface="Calibri" pitchFamily="34" charset="-122"/>
                          <a:cs typeface="Calibri" pitchFamily="34" charset="-120"/>
                        </a:rPr>
                        <a:t>The channel. One integration reaches hundreds of units, and a lower inlet salt load is its own gain.</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E3EFF2"/>
                    </a:solidFill>
                  </a:tcPr>
                </a:tc>
              </a:tr>
              <a:tr h="0">
                <a:tc>
                  <a:txBody>
                    <a:bodyPr/>
                    <a:lstStyle/>
                    <a:p>
                      <a:pPr algn="l" indent="0" marL="0">
                        <a:buNone/>
                      </a:pPr>
                      <a:r>
                        <a:rPr lang="en-US" sz="1200" b="1" dirty="0">
                          <a:solidFill>
                            <a:srgbClr val="0E2127"/>
                          </a:solidFill>
                          <a:latin typeface="Calibri" pitchFamily="34" charset="0"/>
                          <a:ea typeface="Calibri" pitchFamily="34" charset="-122"/>
                          <a:cs typeface="Calibri" pitchFamily="34" charset="-120"/>
                        </a:rPr>
                        <a:t>Buyer or brand</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474C"/>
                          </a:solidFill>
                          <a:latin typeface="Calibri" pitchFamily="34" charset="0"/>
                          <a:ea typeface="Calibri" pitchFamily="34" charset="-122"/>
                          <a:cs typeface="Calibri" pitchFamily="34" charset="-120"/>
                        </a:rPr>
                        <a:t>Pulls demand, for Scope 3 water and carbon evidence.</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r>
            </a:tbl>
          </a:graphicData>
        </a:graphic>
      </p:graphicFrame>
      <p:sp>
        <p:nvSpPr>
          <p:cNvPr id="5" name="price"/>
          <p:cNvSpPr txBox="1"/>
          <p:nvPr/>
        </p:nvSpPr>
        <p:spPr>
          <a:xfrm>
            <a:off x="685800" y="5074920"/>
            <a:ext cx="5394960" cy="310896"/>
          </a:xfrm>
          <a:prstGeom prst="rect">
            <a:avLst/>
          </a:prstGeom>
          <a:noFill/>
          <a:ln/>
        </p:spPr>
        <p:txBody>
          <a:bodyPr wrap="square" lIns="0" tIns="0" rIns="0" bIns="0" rtlCol="0" anchor="ctr"/>
          <a:lstStyle/>
          <a:p>
            <a:pPr indent="0" marL="0">
              <a:buNone/>
            </a:pPr>
            <a:r>
              <a:rPr lang="en-US" sz="1300" b="1" dirty="0">
                <a:solidFill>
                  <a:srgbClr val="14525F"/>
                </a:solidFill>
              </a:rPr>
              <a:t>Priced per machine per year, plus one-off integration</a:t>
            </a:r>
            <a:endParaRPr lang="en-US" sz="1300" dirty="0"/>
          </a:p>
        </p:txBody>
      </p:sp>
      <p:sp>
        <p:nvSpPr>
          <p:cNvPr id="6" name="price-b"/>
          <p:cNvSpPr txBox="1"/>
          <p:nvPr/>
        </p:nvSpPr>
        <p:spPr>
          <a:xfrm>
            <a:off x="685800" y="5394960"/>
            <a:ext cx="5394960" cy="731520"/>
          </a:xfrm>
          <a:prstGeom prst="rect">
            <a:avLst/>
          </a:prstGeom>
          <a:noFill/>
          <a:ln/>
        </p:spPr>
        <p:txBody>
          <a:bodyPr wrap="square" lIns="0" tIns="0" rIns="0" bIns="0" rtlCol="0" anchor="t"/>
          <a:lstStyle/>
          <a:p>
            <a:pPr indent="0" marL="0">
              <a:buNone/>
            </a:pPr>
            <a:r>
              <a:rPr lang="en-US" sz="1150" dirty="0">
                <a:solidFill>
                  <a:srgbClr val="55676C"/>
                </a:solidFill>
              </a:rPr>
              <a:t>Machines, not sites: it scales with the decisions the product actually touches. The business-case screen refuses to compute a return until the site enters its own tariffs — a projection built on a vendor’s assumptions is not a business case.</a:t>
            </a:r>
            <a:endParaRPr lang="en-US" sz="1150" dirty="0"/>
          </a:p>
        </p:txBody>
      </p:sp>
      <p:sp>
        <p:nvSpPr>
          <p:cNvPr id="7" name="pilot-h"/>
          <p:cNvSpPr txBox="1"/>
          <p:nvPr/>
        </p:nvSpPr>
        <p:spPr>
          <a:xfrm>
            <a:off x="6629400" y="2057400"/>
            <a:ext cx="4846320" cy="329184"/>
          </a:xfrm>
          <a:prstGeom prst="rect">
            <a:avLst/>
          </a:prstGeom>
          <a:noFill/>
          <a:ln/>
        </p:spPr>
        <p:txBody>
          <a:bodyPr wrap="square" lIns="0" tIns="0" rIns="0" bIns="0" rtlCol="0" anchor="ctr"/>
          <a:lstStyle/>
          <a:p>
            <a:pPr indent="0" marL="0">
              <a:buNone/>
            </a:pPr>
            <a:r>
              <a:rPr lang="en-US" sz="1500" b="1" dirty="0">
                <a:solidFill>
                  <a:srgbClr val="0E2127"/>
                </a:solidFill>
                <a:latin typeface="Cambria" pitchFamily="34" charset="0"/>
                <a:ea typeface="Cambria" pitchFamily="34" charset="-122"/>
                <a:cs typeface="Cambria" pitchFamily="34" charset="-120"/>
              </a:rPr>
              <a:t>Six-phase pilot, designed to answer one question</a:t>
            </a:r>
            <a:endParaRPr lang="en-US" sz="1500" dirty="0"/>
          </a:p>
        </p:txBody>
      </p:sp>
      <p:sp>
        <p:nvSpPr>
          <p:cNvPr id="8" name="pilot-q"/>
          <p:cNvSpPr txBox="1"/>
          <p:nvPr/>
        </p:nvSpPr>
        <p:spPr>
          <a:xfrm>
            <a:off x="6629400" y="2395728"/>
            <a:ext cx="4846320" cy="310896"/>
          </a:xfrm>
          <a:prstGeom prst="rect">
            <a:avLst/>
          </a:prstGeom>
          <a:noFill/>
          <a:ln/>
        </p:spPr>
        <p:txBody>
          <a:bodyPr wrap="square" lIns="0" tIns="0" rIns="0" bIns="0" rtlCol="0" anchor="ctr"/>
          <a:lstStyle/>
          <a:p>
            <a:pPr indent="0" marL="0">
              <a:buNone/>
            </a:pPr>
            <a:r>
              <a:rPr lang="en-US" sz="1200" i="1" dirty="0">
                <a:solidFill>
                  <a:srgbClr val="1A6B7C"/>
                </a:solidFill>
              </a:rPr>
              <a:t>Did ChangeLoop cause the reduction, or would it have happened anyway?</a:t>
            </a:r>
            <a:endParaRPr lang="en-US" sz="1200" dirty="0"/>
          </a:p>
        </p:txBody>
      </p:sp>
      <p:sp>
        <p:nvSpPr>
          <p:cNvPr id="9" name="ph-0"/>
          <p:cNvSpPr txBox="1"/>
          <p:nvPr/>
        </p:nvSpPr>
        <p:spPr>
          <a:xfrm>
            <a:off x="6629400" y="2816352"/>
            <a:ext cx="274320" cy="274320"/>
          </a:xfrm>
          <a:prstGeom prst="rect">
            <a:avLst/>
          </a:prstGeom>
          <a:noFill/>
          <a:ln/>
        </p:spPr>
        <p:txBody>
          <a:bodyPr wrap="square" lIns="0" tIns="0" rIns="0" bIns="0" rtlCol="0" anchor="ctr"/>
          <a:lstStyle/>
          <a:p>
            <a:pPr indent="0" marL="0">
              <a:buNone/>
            </a:pPr>
            <a:r>
              <a:rPr lang="en-US" sz="1200" b="1" dirty="0">
                <a:solidFill>
                  <a:srgbClr val="B98A2E"/>
                </a:solidFill>
                <a:latin typeface="Cambria" pitchFamily="34" charset="0"/>
                <a:ea typeface="Cambria" pitchFamily="34" charset="-122"/>
                <a:cs typeface="Cambria" pitchFamily="34" charset="-120"/>
              </a:rPr>
              <a:t>1</a:t>
            </a:r>
            <a:endParaRPr lang="en-US" sz="1200" dirty="0"/>
          </a:p>
        </p:txBody>
      </p:sp>
      <p:sp>
        <p:nvSpPr>
          <p:cNvPr id="10" name="phn-0"/>
          <p:cNvSpPr txBox="1"/>
          <p:nvPr/>
        </p:nvSpPr>
        <p:spPr>
          <a:xfrm>
            <a:off x="6949440" y="2798064"/>
            <a:ext cx="3383280" cy="310896"/>
          </a:xfrm>
          <a:prstGeom prst="rect">
            <a:avLst/>
          </a:prstGeom>
          <a:noFill/>
          <a:ln/>
        </p:spPr>
        <p:txBody>
          <a:bodyPr wrap="square" lIns="0" tIns="0" rIns="0" bIns="0" rtlCol="0" anchor="ctr"/>
          <a:lstStyle/>
          <a:p>
            <a:pPr indent="0" marL="0">
              <a:buNone/>
            </a:pPr>
            <a:r>
              <a:rPr lang="en-US" sz="1150" b="1" dirty="0">
                <a:solidFill>
                  <a:srgbClr val="0E2127"/>
                </a:solidFill>
              </a:rPr>
              <a:t>Baseline metering</a:t>
            </a:r>
            <a:pPr indent="0" marL="0">
              <a:buNone/>
            </a:pPr>
            <a:r>
              <a:rPr lang="en-US" sz="1150" dirty="0">
                <a:solidFill>
                  <a:srgbClr val="55676C"/>
                </a:solidFill>
              </a:rPr>
              <a:t>   measure before we influence anything</a:t>
            </a:r>
            <a:endParaRPr lang="en-US" sz="1150" dirty="0"/>
          </a:p>
        </p:txBody>
      </p:sp>
      <p:sp>
        <p:nvSpPr>
          <p:cNvPr id="11" name="phw-0"/>
          <p:cNvSpPr txBox="1"/>
          <p:nvPr/>
        </p:nvSpPr>
        <p:spPr>
          <a:xfrm>
            <a:off x="10378440" y="2798064"/>
            <a:ext cx="1097280" cy="310896"/>
          </a:xfrm>
          <a:prstGeom prst="rect">
            <a:avLst/>
          </a:prstGeom>
          <a:noFill/>
          <a:ln/>
        </p:spPr>
        <p:txBody>
          <a:bodyPr wrap="square" lIns="0" tIns="0" rIns="0" bIns="0" rtlCol="0" anchor="ctr"/>
          <a:lstStyle/>
          <a:p>
            <a:pPr algn="r" indent="0" marL="0">
              <a:buNone/>
            </a:pPr>
            <a:r>
              <a:rPr lang="en-US" sz="1050" dirty="0">
                <a:solidFill>
                  <a:srgbClr val="7B8E93"/>
                </a:solidFill>
                <a:latin typeface="Courier New" pitchFamily="34" charset="0"/>
                <a:ea typeface="Courier New" pitchFamily="34" charset="-122"/>
                <a:cs typeface="Courier New" pitchFamily="34" charset="-120"/>
              </a:rPr>
              <a:t>wk 1–4</a:t>
            </a:r>
            <a:endParaRPr lang="en-US" sz="1050" dirty="0"/>
          </a:p>
        </p:txBody>
      </p:sp>
      <p:sp>
        <p:nvSpPr>
          <p:cNvPr id="12" name="ph-1"/>
          <p:cNvSpPr txBox="1"/>
          <p:nvPr/>
        </p:nvSpPr>
        <p:spPr>
          <a:xfrm>
            <a:off x="6629400" y="3328416"/>
            <a:ext cx="274320" cy="274320"/>
          </a:xfrm>
          <a:prstGeom prst="rect">
            <a:avLst/>
          </a:prstGeom>
          <a:noFill/>
          <a:ln/>
        </p:spPr>
        <p:txBody>
          <a:bodyPr wrap="square" lIns="0" tIns="0" rIns="0" bIns="0" rtlCol="0" anchor="ctr"/>
          <a:lstStyle/>
          <a:p>
            <a:pPr indent="0" marL="0">
              <a:buNone/>
            </a:pPr>
            <a:r>
              <a:rPr lang="en-US" sz="1200" b="1" dirty="0">
                <a:solidFill>
                  <a:srgbClr val="B98A2E"/>
                </a:solidFill>
                <a:latin typeface="Cambria" pitchFamily="34" charset="0"/>
                <a:ea typeface="Cambria" pitchFamily="34" charset="-122"/>
                <a:cs typeface="Cambria" pitchFamily="34" charset="-120"/>
              </a:rPr>
              <a:t>2</a:t>
            </a:r>
            <a:endParaRPr lang="en-US" sz="1200" dirty="0"/>
          </a:p>
        </p:txBody>
      </p:sp>
      <p:sp>
        <p:nvSpPr>
          <p:cNvPr id="13" name="phn-1"/>
          <p:cNvSpPr txBox="1"/>
          <p:nvPr/>
        </p:nvSpPr>
        <p:spPr>
          <a:xfrm>
            <a:off x="6949440" y="3310128"/>
            <a:ext cx="3383280" cy="310896"/>
          </a:xfrm>
          <a:prstGeom prst="rect">
            <a:avLst/>
          </a:prstGeom>
          <a:noFill/>
          <a:ln/>
        </p:spPr>
        <p:txBody>
          <a:bodyPr wrap="square" lIns="0" tIns="0" rIns="0" bIns="0" rtlCol="0" anchor="ctr"/>
          <a:lstStyle/>
          <a:p>
            <a:pPr indent="0" marL="0">
              <a:buNone/>
            </a:pPr>
            <a:r>
              <a:rPr lang="en-US" sz="1150" b="1" dirty="0">
                <a:solidFill>
                  <a:srgbClr val="0E2127"/>
                </a:solidFill>
              </a:rPr>
              <a:t>Shadow mode</a:t>
            </a:r>
            <a:pPr indent="0" marL="0">
              <a:buNone/>
            </a:pPr>
            <a:r>
              <a:rPr lang="en-US" sz="1150" dirty="0">
                <a:solidFill>
                  <a:srgbClr val="55676C"/>
                </a:solidFill>
              </a:rPr>
              <a:t>   we recommend, nobody acts</a:t>
            </a:r>
            <a:endParaRPr lang="en-US" sz="1150" dirty="0"/>
          </a:p>
        </p:txBody>
      </p:sp>
      <p:sp>
        <p:nvSpPr>
          <p:cNvPr id="14" name="phw-1"/>
          <p:cNvSpPr txBox="1"/>
          <p:nvPr/>
        </p:nvSpPr>
        <p:spPr>
          <a:xfrm>
            <a:off x="10378440" y="3310128"/>
            <a:ext cx="1097280" cy="310896"/>
          </a:xfrm>
          <a:prstGeom prst="rect">
            <a:avLst/>
          </a:prstGeom>
          <a:noFill/>
          <a:ln/>
        </p:spPr>
        <p:txBody>
          <a:bodyPr wrap="square" lIns="0" tIns="0" rIns="0" bIns="0" rtlCol="0" anchor="ctr"/>
          <a:lstStyle/>
          <a:p>
            <a:pPr algn="r" indent="0" marL="0">
              <a:buNone/>
            </a:pPr>
            <a:r>
              <a:rPr lang="en-US" sz="1050" dirty="0">
                <a:solidFill>
                  <a:srgbClr val="7B8E93"/>
                </a:solidFill>
                <a:latin typeface="Courier New" pitchFamily="34" charset="0"/>
                <a:ea typeface="Courier New" pitchFamily="34" charset="-122"/>
                <a:cs typeface="Courier New" pitchFamily="34" charset="-120"/>
              </a:rPr>
              <a:t>wk 5–8</a:t>
            </a:r>
            <a:endParaRPr lang="en-US" sz="1050" dirty="0"/>
          </a:p>
        </p:txBody>
      </p:sp>
      <p:sp>
        <p:nvSpPr>
          <p:cNvPr id="15" name="ph-2"/>
          <p:cNvSpPr txBox="1"/>
          <p:nvPr/>
        </p:nvSpPr>
        <p:spPr>
          <a:xfrm>
            <a:off x="6629400" y="3840480"/>
            <a:ext cx="274320" cy="274320"/>
          </a:xfrm>
          <a:prstGeom prst="rect">
            <a:avLst/>
          </a:prstGeom>
          <a:noFill/>
          <a:ln/>
        </p:spPr>
        <p:txBody>
          <a:bodyPr wrap="square" lIns="0" tIns="0" rIns="0" bIns="0" rtlCol="0" anchor="ctr"/>
          <a:lstStyle/>
          <a:p>
            <a:pPr indent="0" marL="0">
              <a:buNone/>
            </a:pPr>
            <a:r>
              <a:rPr lang="en-US" sz="1200" b="1" dirty="0">
                <a:solidFill>
                  <a:srgbClr val="B98A2E"/>
                </a:solidFill>
                <a:latin typeface="Cambria" pitchFamily="34" charset="0"/>
                <a:ea typeface="Cambria" pitchFamily="34" charset="-122"/>
                <a:cs typeface="Cambria" pitchFamily="34" charset="-120"/>
              </a:rPr>
              <a:t>3</a:t>
            </a:r>
            <a:endParaRPr lang="en-US" sz="1200" dirty="0"/>
          </a:p>
        </p:txBody>
      </p:sp>
      <p:sp>
        <p:nvSpPr>
          <p:cNvPr id="16" name="phn-2"/>
          <p:cNvSpPr txBox="1"/>
          <p:nvPr/>
        </p:nvSpPr>
        <p:spPr>
          <a:xfrm>
            <a:off x="6949440" y="3822192"/>
            <a:ext cx="3383280" cy="310896"/>
          </a:xfrm>
          <a:prstGeom prst="rect">
            <a:avLst/>
          </a:prstGeom>
          <a:noFill/>
          <a:ln/>
        </p:spPr>
        <p:txBody>
          <a:bodyPr wrap="square" lIns="0" tIns="0" rIns="0" bIns="0" rtlCol="0" anchor="ctr"/>
          <a:lstStyle/>
          <a:p>
            <a:pPr indent="0" marL="0">
              <a:buNone/>
            </a:pPr>
            <a:r>
              <a:rPr lang="en-US" sz="1150" b="1" dirty="0">
                <a:solidFill>
                  <a:srgbClr val="0E2127"/>
                </a:solidFill>
              </a:rPr>
              <a:t>Advisory with approval</a:t>
            </a:r>
            <a:pPr indent="0" marL="0">
              <a:buNone/>
            </a:pPr>
            <a:r>
              <a:rPr lang="en-US" sz="1150" dirty="0">
                <a:solidFill>
                  <a:srgbClr val="55676C"/>
                </a:solidFill>
              </a:rPr>
              <a:t>   alternate weeks on and off</a:t>
            </a:r>
            <a:endParaRPr lang="en-US" sz="1150" dirty="0"/>
          </a:p>
        </p:txBody>
      </p:sp>
      <p:sp>
        <p:nvSpPr>
          <p:cNvPr id="17" name="phw-2"/>
          <p:cNvSpPr txBox="1"/>
          <p:nvPr/>
        </p:nvSpPr>
        <p:spPr>
          <a:xfrm>
            <a:off x="10378440" y="3822192"/>
            <a:ext cx="1097280" cy="310896"/>
          </a:xfrm>
          <a:prstGeom prst="rect">
            <a:avLst/>
          </a:prstGeom>
          <a:noFill/>
          <a:ln/>
        </p:spPr>
        <p:txBody>
          <a:bodyPr wrap="square" lIns="0" tIns="0" rIns="0" bIns="0" rtlCol="0" anchor="ctr"/>
          <a:lstStyle/>
          <a:p>
            <a:pPr algn="r" indent="0" marL="0">
              <a:buNone/>
            </a:pPr>
            <a:r>
              <a:rPr lang="en-US" sz="1050" dirty="0">
                <a:solidFill>
                  <a:srgbClr val="7B8E93"/>
                </a:solidFill>
                <a:latin typeface="Courier New" pitchFamily="34" charset="0"/>
                <a:ea typeface="Courier New" pitchFamily="34" charset="-122"/>
                <a:cs typeface="Courier New" pitchFamily="34" charset="-120"/>
              </a:rPr>
              <a:t>wk 9–16</a:t>
            </a:r>
            <a:endParaRPr lang="en-US" sz="1050" dirty="0"/>
          </a:p>
        </p:txBody>
      </p:sp>
      <p:sp>
        <p:nvSpPr>
          <p:cNvPr id="18" name="ph-3"/>
          <p:cNvSpPr txBox="1"/>
          <p:nvPr/>
        </p:nvSpPr>
        <p:spPr>
          <a:xfrm>
            <a:off x="6629400" y="4352544"/>
            <a:ext cx="274320" cy="274320"/>
          </a:xfrm>
          <a:prstGeom prst="rect">
            <a:avLst/>
          </a:prstGeom>
          <a:noFill/>
          <a:ln/>
        </p:spPr>
        <p:txBody>
          <a:bodyPr wrap="square" lIns="0" tIns="0" rIns="0" bIns="0" rtlCol="0" anchor="ctr"/>
          <a:lstStyle/>
          <a:p>
            <a:pPr indent="0" marL="0">
              <a:buNone/>
            </a:pPr>
            <a:r>
              <a:rPr lang="en-US" sz="1200" b="1" dirty="0">
                <a:solidFill>
                  <a:srgbClr val="B98A2E"/>
                </a:solidFill>
                <a:latin typeface="Cambria" pitchFamily="34" charset="0"/>
                <a:ea typeface="Cambria" pitchFamily="34" charset="-122"/>
                <a:cs typeface="Cambria" pitchFamily="34" charset="-120"/>
              </a:rPr>
              <a:t>4</a:t>
            </a:r>
            <a:endParaRPr lang="en-US" sz="1200" dirty="0"/>
          </a:p>
        </p:txBody>
      </p:sp>
      <p:sp>
        <p:nvSpPr>
          <p:cNvPr id="19" name="phn-3"/>
          <p:cNvSpPr txBox="1"/>
          <p:nvPr/>
        </p:nvSpPr>
        <p:spPr>
          <a:xfrm>
            <a:off x="6949440" y="4334256"/>
            <a:ext cx="3383280" cy="310896"/>
          </a:xfrm>
          <a:prstGeom prst="rect">
            <a:avLst/>
          </a:prstGeom>
          <a:noFill/>
          <a:ln/>
        </p:spPr>
        <p:txBody>
          <a:bodyPr wrap="square" lIns="0" tIns="0" rIns="0" bIns="0" rtlCol="0" anchor="ctr"/>
          <a:lstStyle/>
          <a:p>
            <a:pPr indent="0" marL="0">
              <a:buNone/>
            </a:pPr>
            <a:r>
              <a:rPr lang="en-US" sz="1150" b="1" dirty="0">
                <a:solidFill>
                  <a:srgbClr val="0E2127"/>
                </a:solidFill>
              </a:rPr>
              <a:t>Wash-off release trial</a:t>
            </a:r>
            <a:pPr indent="0" marL="0">
              <a:buNone/>
            </a:pPr>
            <a:r>
              <a:rPr lang="en-US" sz="1150" dirty="0">
                <a:solidFill>
                  <a:srgbClr val="55676C"/>
                </a:solidFill>
              </a:rPr>
              <a:t>   every released lot fastness-tested</a:t>
            </a:r>
            <a:endParaRPr lang="en-US" sz="1150" dirty="0"/>
          </a:p>
        </p:txBody>
      </p:sp>
      <p:sp>
        <p:nvSpPr>
          <p:cNvPr id="20" name="phw-3"/>
          <p:cNvSpPr txBox="1"/>
          <p:nvPr/>
        </p:nvSpPr>
        <p:spPr>
          <a:xfrm>
            <a:off x="10378440" y="4334256"/>
            <a:ext cx="1097280" cy="310896"/>
          </a:xfrm>
          <a:prstGeom prst="rect">
            <a:avLst/>
          </a:prstGeom>
          <a:noFill/>
          <a:ln/>
        </p:spPr>
        <p:txBody>
          <a:bodyPr wrap="square" lIns="0" tIns="0" rIns="0" bIns="0" rtlCol="0" anchor="ctr"/>
          <a:lstStyle/>
          <a:p>
            <a:pPr algn="r" indent="0" marL="0">
              <a:buNone/>
            </a:pPr>
            <a:r>
              <a:rPr lang="en-US" sz="1050" dirty="0">
                <a:solidFill>
                  <a:srgbClr val="7B8E93"/>
                </a:solidFill>
                <a:latin typeface="Courier New" pitchFamily="34" charset="0"/>
                <a:ea typeface="Courier New" pitchFamily="34" charset="-122"/>
                <a:cs typeface="Courier New" pitchFamily="34" charset="-120"/>
              </a:rPr>
              <a:t>wk 17–24</a:t>
            </a:r>
            <a:endParaRPr lang="en-US" sz="1050" dirty="0"/>
          </a:p>
        </p:txBody>
      </p:sp>
      <p:sp>
        <p:nvSpPr>
          <p:cNvPr id="21" name="ph-4"/>
          <p:cNvSpPr txBox="1"/>
          <p:nvPr/>
        </p:nvSpPr>
        <p:spPr>
          <a:xfrm>
            <a:off x="6629400" y="4864608"/>
            <a:ext cx="274320" cy="274320"/>
          </a:xfrm>
          <a:prstGeom prst="rect">
            <a:avLst/>
          </a:prstGeom>
          <a:noFill/>
          <a:ln/>
        </p:spPr>
        <p:txBody>
          <a:bodyPr wrap="square" lIns="0" tIns="0" rIns="0" bIns="0" rtlCol="0" anchor="ctr"/>
          <a:lstStyle/>
          <a:p>
            <a:pPr indent="0" marL="0">
              <a:buNone/>
            </a:pPr>
            <a:r>
              <a:rPr lang="en-US" sz="1200" b="1" dirty="0">
                <a:solidFill>
                  <a:srgbClr val="B98A2E"/>
                </a:solidFill>
                <a:latin typeface="Cambria" pitchFamily="34" charset="0"/>
                <a:ea typeface="Cambria" pitchFamily="34" charset="-122"/>
                <a:cs typeface="Cambria" pitchFamily="34" charset="-120"/>
              </a:rPr>
              <a:t>5</a:t>
            </a:r>
            <a:endParaRPr lang="en-US" sz="1200" dirty="0"/>
          </a:p>
        </p:txBody>
      </p:sp>
      <p:sp>
        <p:nvSpPr>
          <p:cNvPr id="22" name="phn-4"/>
          <p:cNvSpPr txBox="1"/>
          <p:nvPr/>
        </p:nvSpPr>
        <p:spPr>
          <a:xfrm>
            <a:off x="6949440" y="4846320"/>
            <a:ext cx="3383280" cy="310896"/>
          </a:xfrm>
          <a:prstGeom prst="rect">
            <a:avLst/>
          </a:prstGeom>
          <a:noFill/>
          <a:ln/>
        </p:spPr>
        <p:txBody>
          <a:bodyPr wrap="square" lIns="0" tIns="0" rIns="0" bIns="0" rtlCol="0" anchor="ctr"/>
          <a:lstStyle/>
          <a:p>
            <a:pPr indent="0" marL="0">
              <a:buNone/>
            </a:pPr>
            <a:r>
              <a:rPr lang="en-US" sz="1150" b="1" dirty="0">
                <a:solidFill>
                  <a:srgbClr val="0E2127"/>
                </a:solidFill>
              </a:rPr>
              <a:t>Chemistry decision</a:t>
            </a:r>
            <a:pPr indent="0" marL="0">
              <a:buNone/>
            </a:pPr>
            <a:r>
              <a:rPr lang="en-US" sz="1150" dirty="0">
                <a:solidFill>
                  <a:srgbClr val="55676C"/>
                </a:solidFill>
              </a:rPr>
              <a:t>   once steam cost is measured</a:t>
            </a:r>
            <a:endParaRPr lang="en-US" sz="1150" dirty="0"/>
          </a:p>
        </p:txBody>
      </p:sp>
      <p:sp>
        <p:nvSpPr>
          <p:cNvPr id="23" name="phw-4"/>
          <p:cNvSpPr txBox="1"/>
          <p:nvPr/>
        </p:nvSpPr>
        <p:spPr>
          <a:xfrm>
            <a:off x="10378440" y="4846320"/>
            <a:ext cx="1097280" cy="310896"/>
          </a:xfrm>
          <a:prstGeom prst="rect">
            <a:avLst/>
          </a:prstGeom>
          <a:noFill/>
          <a:ln/>
        </p:spPr>
        <p:txBody>
          <a:bodyPr wrap="square" lIns="0" tIns="0" rIns="0" bIns="0" rtlCol="0" anchor="ctr"/>
          <a:lstStyle/>
          <a:p>
            <a:pPr algn="r" indent="0" marL="0">
              <a:buNone/>
            </a:pPr>
            <a:r>
              <a:rPr lang="en-US" sz="1050" dirty="0">
                <a:solidFill>
                  <a:srgbClr val="7B8E93"/>
                </a:solidFill>
                <a:latin typeface="Courier New" pitchFamily="34" charset="0"/>
                <a:ea typeface="Courier New" pitchFamily="34" charset="-122"/>
                <a:cs typeface="Courier New" pitchFamily="34" charset="-120"/>
              </a:rPr>
              <a:t>wk 25–32</a:t>
            </a:r>
            <a:endParaRPr lang="en-US" sz="1050" dirty="0"/>
          </a:p>
        </p:txBody>
      </p:sp>
      <p:sp>
        <p:nvSpPr>
          <p:cNvPr id="24" name="ph-5"/>
          <p:cNvSpPr txBox="1"/>
          <p:nvPr/>
        </p:nvSpPr>
        <p:spPr>
          <a:xfrm>
            <a:off x="6629400" y="5376672"/>
            <a:ext cx="274320" cy="274320"/>
          </a:xfrm>
          <a:prstGeom prst="rect">
            <a:avLst/>
          </a:prstGeom>
          <a:noFill/>
          <a:ln/>
        </p:spPr>
        <p:txBody>
          <a:bodyPr wrap="square" lIns="0" tIns="0" rIns="0" bIns="0" rtlCol="0" anchor="ctr"/>
          <a:lstStyle/>
          <a:p>
            <a:pPr indent="0" marL="0">
              <a:buNone/>
            </a:pPr>
            <a:r>
              <a:rPr lang="en-US" sz="1200" b="1" dirty="0">
                <a:solidFill>
                  <a:srgbClr val="B98A2E"/>
                </a:solidFill>
                <a:latin typeface="Cambria" pitchFamily="34" charset="0"/>
                <a:ea typeface="Cambria" pitchFamily="34" charset="-122"/>
                <a:cs typeface="Cambria" pitchFamily="34" charset="-120"/>
              </a:rPr>
              <a:t>6</a:t>
            </a:r>
            <a:endParaRPr lang="en-US" sz="1200" dirty="0"/>
          </a:p>
        </p:txBody>
      </p:sp>
      <p:sp>
        <p:nvSpPr>
          <p:cNvPr id="25" name="phn-5"/>
          <p:cNvSpPr txBox="1"/>
          <p:nvPr/>
        </p:nvSpPr>
        <p:spPr>
          <a:xfrm>
            <a:off x="6949440" y="5358384"/>
            <a:ext cx="3383280" cy="310896"/>
          </a:xfrm>
          <a:prstGeom prst="rect">
            <a:avLst/>
          </a:prstGeom>
          <a:noFill/>
          <a:ln/>
        </p:spPr>
        <p:txBody>
          <a:bodyPr wrap="square" lIns="0" tIns="0" rIns="0" bIns="0" rtlCol="0" anchor="ctr"/>
          <a:lstStyle/>
          <a:p>
            <a:pPr indent="0" marL="0">
              <a:buNone/>
            </a:pPr>
            <a:r>
              <a:rPr lang="en-US" sz="1150" b="1" dirty="0">
                <a:solidFill>
                  <a:srgbClr val="0E2127"/>
                </a:solidFill>
              </a:rPr>
              <a:t>Cluster rollout</a:t>
            </a:r>
            <a:pPr indent="0" marL="0">
              <a:buNone/>
            </a:pPr>
            <a:r>
              <a:rPr lang="en-US" sz="1150" dirty="0">
                <a:solidFill>
                  <a:srgbClr val="55676C"/>
                </a:solidFill>
              </a:rPr>
              <a:t>   second and third unit</a:t>
            </a:r>
            <a:endParaRPr lang="en-US" sz="1150" dirty="0"/>
          </a:p>
        </p:txBody>
      </p:sp>
      <p:sp>
        <p:nvSpPr>
          <p:cNvPr id="26" name="phw-5"/>
          <p:cNvSpPr txBox="1"/>
          <p:nvPr/>
        </p:nvSpPr>
        <p:spPr>
          <a:xfrm>
            <a:off x="10378440" y="5358384"/>
            <a:ext cx="1097280" cy="310896"/>
          </a:xfrm>
          <a:prstGeom prst="rect">
            <a:avLst/>
          </a:prstGeom>
          <a:noFill/>
          <a:ln/>
        </p:spPr>
        <p:txBody>
          <a:bodyPr wrap="square" lIns="0" tIns="0" rIns="0" bIns="0" rtlCol="0" anchor="ctr"/>
          <a:lstStyle/>
          <a:p>
            <a:pPr algn="r" indent="0" marL="0">
              <a:buNone/>
            </a:pPr>
            <a:r>
              <a:rPr lang="en-US" sz="1050" dirty="0">
                <a:solidFill>
                  <a:srgbClr val="7B8E93"/>
                </a:solidFill>
                <a:latin typeface="Courier New" pitchFamily="34" charset="0"/>
                <a:ea typeface="Courier New" pitchFamily="34" charset="-122"/>
                <a:cs typeface="Courier New" pitchFamily="34" charset="-120"/>
              </a:rPr>
              <a:t>wk 33+</a:t>
            </a:r>
            <a:endParaRPr lang="en-US" sz="1050" dirty="0"/>
          </a:p>
        </p:txBody>
      </p:sp>
      <p:sp>
        <p:nvSpPr>
          <p:cNvPr id="27" name="pilot-f"/>
          <p:cNvSpPr txBox="1"/>
          <p:nvPr/>
        </p:nvSpPr>
        <p:spPr>
          <a:xfrm>
            <a:off x="6629400" y="5897880"/>
            <a:ext cx="4846320" cy="365760"/>
          </a:xfrm>
          <a:prstGeom prst="rect">
            <a:avLst/>
          </a:prstGeom>
          <a:noFill/>
          <a:ln/>
        </p:spPr>
        <p:txBody>
          <a:bodyPr wrap="square" lIns="0" tIns="0" rIns="0" bIns="0" rtlCol="0" anchor="t"/>
          <a:lstStyle/>
          <a:p>
            <a:pPr indent="0" marL="0">
              <a:buNone/>
            </a:pPr>
            <a:r>
              <a:rPr lang="en-US" sz="1100" i="1" dirty="0">
                <a:solidFill>
                  <a:srgbClr val="7B8E93"/>
                </a:solidFill>
              </a:rPr>
              <a:t>A single wash-fastness failure stops the trial. Until phase 3 completes, every figure we show is MODELLED and we will not call it a result.</a:t>
            </a:r>
            <a:endParaRPr lang="en-US" sz="1100" dirty="0"/>
          </a:p>
        </p:txBody>
      </p:sp>
      <p:sp>
        <p:nvSpPr>
          <p:cNvPr id="29" name="Text 0"/>
          <p:cNvSpPr/>
          <p:nvPr>
            <p:ph idx="102" type="body" hasCustomPrompt="1"/>
          </p:nvPr>
        </p:nvSpPr>
        <p:spPr>
          <a:xfrm>
            <a:off x="685800" y="1664208"/>
            <a:ext cx="10332720" cy="548640"/>
          </a:xfrm>
          <a:prstGeom prst="rect">
            <a:avLst/>
          </a:prstGeom>
          <a:noFill/>
          <a:ln/>
        </p:spPr>
        <p:txBody>
          <a:bodyPr wrap="square" rtlCol="0" anchor="t"/>
          <a:lstStyle/>
          <a:p>
            <a:pPr algn="l" indent="0" marL="0">
              <a:buNone/>
            </a:pPr>
            <a:endParaRPr lang="en-US" sz="1450" dirty="0"/>
          </a:p>
        </p:txBody>
      </p:sp>
      <p:sp>
        <p:nvSpPr>
          <p:cNvPr id="30" name="Text 1"/>
          <p:cNvSpPr/>
          <p:nvPr>
            <p:ph idx="104" type="chart" hasCustomPrompt="1"/>
          </p:nvPr>
        </p:nvSpPr>
        <p:spPr>
          <a:xfrm>
            <a:off x="685800" y="2240280"/>
            <a:ext cx="10789920" cy="3931920"/>
          </a:xfrm>
          <a:prstGeom prst="rect">
            <a:avLst/>
          </a:prstGeom>
          <a:noFill/>
          <a:ln/>
        </p:spPr>
        <p:txBody>
          <a:bodyPr wrap="square" rtlCol="0"/>
          <a:lstStyle/>
          <a:p>
            <a:pPr indent="0" marL="0">
              <a:buNone/>
            </a:pPr>
            <a:endParaRPr lang="en-US" dirty="0"/>
          </a:p>
        </p:txBody>
      </p:sp>
      <p:sp>
        <p:nvSpPr>
          <p:cNvPr id="25" name="Slide Number Placeholder 0"/>
          <p:cNvSpPr>
            <a:spLocks noGrp="1"/>
          </p:cNvSpPr>
          <p:nvPr>
            <p:ph type="sldNum" sz="quarter" idx="4294967295"/>
          </p:nvPr>
        </p:nvSpPr>
        <p:spPr>
          <a:xfrm>
            <a:off x="114757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AAAAE"/>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384048"/>
            <a:ext cx="10789920" cy="274320"/>
          </a:xfrm>
          <a:prstGeom prst="rect">
            <a:avLst/>
          </a:prstGeom>
          <a:noFill/>
          <a:ln/>
        </p:spPr>
        <p:txBody>
          <a:bodyPr wrap="square" rtlCol="0"/>
          <a:lstStyle/>
          <a:p>
            <a:pPr indent="0" marL="0">
              <a:buNone/>
            </a:pPr>
            <a:r>
              <a:rPr lang="en-US" sz="1100" b="1" spc="200" kern="0" dirty="0">
                <a:solidFill>
                  <a:srgbClr val="1A6B7C"/>
                </a:solidFill>
              </a:rPr>
              <a:t>NOT A MOCK-UP</a:t>
            </a:r>
            <a:endParaRPr lang="en-US" sz="1100" dirty="0"/>
          </a:p>
        </p:txBody>
      </p:sp>
      <p:sp>
        <p:nvSpPr>
          <p:cNvPr id="3" name="Text 0"/>
          <p:cNvSpPr/>
          <p:nvPr>
            <p:ph idx="101" type="title" hasCustomPrompt="1"/>
          </p:nvPr>
        </p:nvSpPr>
        <p:spPr>
          <a:xfrm>
            <a:off x="685800" y="658368"/>
            <a:ext cx="10789920" cy="932688"/>
          </a:xfrm>
          <a:prstGeom prst="rect">
            <a:avLst/>
          </a:prstGeom>
          <a:noFill/>
          <a:ln/>
        </p:spPr>
        <p:txBody>
          <a:bodyPr wrap="square" rtlCol="0" anchor="t"/>
          <a:lstStyle/>
          <a:p>
            <a:pPr algn="l" indent="0" marL="0">
              <a:buNone/>
            </a:pPr>
            <a:r>
              <a:rPr lang="en-US" sz="3100" b="1" dirty="0">
                <a:solidFill>
                  <a:srgbClr val="0E2127"/>
                </a:solidFill>
              </a:rPr>
              <a:t>A working system you can run and attack</a:t>
            </a:r>
            <a:endParaRPr lang="en-US" sz="3100" dirty="0"/>
          </a:p>
        </p:txBody>
      </p:sp>
      <p:sp>
        <p:nvSpPr>
          <p:cNvPr id="4" name="Text 0"/>
          <p:cNvSpPr/>
          <p:nvPr>
            <p:ph idx="102" type="body" hasCustomPrompt="1"/>
          </p:nvPr>
        </p:nvSpPr>
        <p:spPr>
          <a:xfrm>
            <a:off x="685800" y="1664208"/>
            <a:ext cx="10332720" cy="548640"/>
          </a:xfrm>
          <a:prstGeom prst="rect">
            <a:avLst/>
          </a:prstGeom>
          <a:noFill/>
          <a:ln/>
        </p:spPr>
        <p:txBody>
          <a:bodyPr wrap="square" rtlCol="0" anchor="t"/>
          <a:lstStyle/>
          <a:p>
            <a:pPr algn="l" indent="0" marL="0">
              <a:buNone/>
            </a:pPr>
            <a:r>
              <a:rPr lang="en-US" sz="1450" dirty="0">
                <a:solidFill>
                  <a:srgbClr val="44555A"/>
                </a:solidFill>
              </a:rPr>
              <a:t>Python standard library only. No dependencies, no build step, no account. One command and the whole decision loop is live.</a:t>
            </a:r>
            <a:endParaRPr lang="en-US" sz="1450" dirty="0"/>
          </a:p>
        </p:txBody>
      </p:sp>
      <p:sp>
        <p:nvSpPr>
          <p:cNvPr id="5" name="card-gp0"/>
          <p:cNvSpPr/>
          <p:nvPr/>
        </p:nvSpPr>
        <p:spPr>
          <a:xfrm>
            <a:off x="685800" y="2359152"/>
            <a:ext cx="1444752" cy="1225296"/>
          </a:xfrm>
          <a:prstGeom prst="roundRect">
            <a:avLst>
              <a:gd name="adj" fmla="val 2985"/>
            </a:avLst>
          </a:prstGeom>
          <a:solidFill>
            <a:schemeClr val="bg2"/>
          </a:solidFill>
          <a:ln w="9525">
            <a:solidFill>
              <a:srgbClr val="DCE7E9"/>
            </a:solidFill>
            <a:prstDash val="solid"/>
          </a:ln>
        </p:spPr>
      </p:sp>
      <p:sp>
        <p:nvSpPr>
          <p:cNvPr id="6" name="gpi-0"/>
          <p:cNvSpPr txBox="1"/>
          <p:nvPr/>
        </p:nvSpPr>
        <p:spPr>
          <a:xfrm>
            <a:off x="795528" y="2450592"/>
            <a:ext cx="1225296" cy="219456"/>
          </a:xfrm>
          <a:prstGeom prst="rect">
            <a:avLst/>
          </a:prstGeom>
          <a:noFill/>
          <a:ln/>
        </p:spPr>
        <p:txBody>
          <a:bodyPr wrap="square" lIns="0" tIns="0" rIns="0" bIns="0" rtlCol="0" anchor="ctr"/>
          <a:lstStyle/>
          <a:p>
            <a:pPr indent="0" marL="0">
              <a:buNone/>
            </a:pPr>
            <a:r>
              <a:rPr lang="en-US" sz="950" b="1" dirty="0">
                <a:solidFill>
                  <a:srgbClr val="B98A2E"/>
                </a:solidFill>
              </a:rPr>
              <a:t>01</a:t>
            </a:r>
            <a:endParaRPr lang="en-US" sz="950" dirty="0"/>
          </a:p>
        </p:txBody>
      </p:sp>
      <p:sp>
        <p:nvSpPr>
          <p:cNvPr id="7" name="gpn-0"/>
          <p:cNvSpPr txBox="1"/>
          <p:nvPr/>
        </p:nvSpPr>
        <p:spPr>
          <a:xfrm>
            <a:off x="795528" y="2651760"/>
            <a:ext cx="1225296" cy="274320"/>
          </a:xfrm>
          <a:prstGeom prst="rect">
            <a:avLst/>
          </a:prstGeom>
          <a:noFill/>
          <a:ln/>
        </p:spPr>
        <p:txBody>
          <a:bodyPr wrap="square" lIns="0" tIns="0" rIns="0" bIns="0" rtlCol="0" anchor="ctr"/>
          <a:lstStyle/>
          <a:p>
            <a:pPr indent="0" marL="0">
              <a:buNone/>
            </a:pPr>
            <a:r>
              <a:rPr lang="en-US" sz="1300" b="1" dirty="0">
                <a:solidFill>
                  <a:srgbClr val="14525F"/>
                </a:solidFill>
                <a:latin typeface="Cambria" pitchFamily="34" charset="0"/>
                <a:ea typeface="Cambria" pitchFamily="34" charset="-122"/>
                <a:cs typeface="Cambria" pitchFamily="34" charset="-120"/>
              </a:rPr>
              <a:t>Observe</a:t>
            </a:r>
            <a:endParaRPr lang="en-US" sz="1300" dirty="0"/>
          </a:p>
        </p:txBody>
      </p:sp>
      <p:sp>
        <p:nvSpPr>
          <p:cNvPr id="8" name="gpb-0"/>
          <p:cNvSpPr txBox="1"/>
          <p:nvPr/>
        </p:nvSpPr>
        <p:spPr>
          <a:xfrm>
            <a:off x="795528" y="2935224"/>
            <a:ext cx="1225296" cy="585216"/>
          </a:xfrm>
          <a:prstGeom prst="rect">
            <a:avLst/>
          </a:prstGeom>
          <a:noFill/>
          <a:ln/>
        </p:spPr>
        <p:txBody>
          <a:bodyPr wrap="square" lIns="0" tIns="0" rIns="0" bIns="0" rtlCol="0" anchor="t"/>
          <a:lstStyle/>
          <a:p>
            <a:pPr indent="0" marL="0">
              <a:buNone/>
            </a:pPr>
            <a:r>
              <a:rPr lang="en-US" sz="950" dirty="0">
                <a:solidFill>
                  <a:srgbClr val="55676C"/>
                </a:solidFill>
              </a:rPr>
              <a:t>order book and</a:t>
            </a:r>
            <a:endParaRPr lang="en-US" sz="950" dirty="0"/>
          </a:p>
          <a:p>
            <a:pPr indent="0" marL="0">
              <a:buNone/>
            </a:pPr>
            <a:r>
              <a:rPr lang="en-US" sz="950" dirty="0">
                <a:solidFill>
                  <a:srgbClr val="55676C"/>
                </a:solidFill>
              </a:rPr>
              <a:t>basin allocation</a:t>
            </a:r>
            <a:endParaRPr lang="en-US" sz="950" dirty="0"/>
          </a:p>
        </p:txBody>
      </p:sp>
      <p:sp>
        <p:nvSpPr>
          <p:cNvPr id="9" name="gpa-0"/>
          <p:cNvSpPr txBox="1"/>
          <p:nvPr/>
        </p:nvSpPr>
        <p:spPr>
          <a:xfrm>
            <a:off x="2130552" y="2816352"/>
            <a:ext cx="128016" cy="274320"/>
          </a:xfrm>
          <a:prstGeom prst="rect">
            <a:avLst/>
          </a:prstGeom>
          <a:noFill/>
          <a:ln/>
        </p:spPr>
        <p:txBody>
          <a:bodyPr wrap="square" lIns="0" tIns="0" rIns="0" bIns="0" rtlCol="0" anchor="ctr"/>
          <a:lstStyle/>
          <a:p>
            <a:pPr algn="ctr" indent="0" marL="0">
              <a:buNone/>
            </a:pPr>
            <a:r>
              <a:rPr lang="en-US" sz="1400" dirty="0">
                <a:solidFill>
                  <a:srgbClr val="A9BDC1"/>
                </a:solidFill>
              </a:rPr>
              <a:t>›</a:t>
            </a:r>
            <a:endParaRPr lang="en-US" sz="1400" dirty="0"/>
          </a:p>
        </p:txBody>
      </p:sp>
      <p:sp>
        <p:nvSpPr>
          <p:cNvPr id="10" name="card-gp1"/>
          <p:cNvSpPr/>
          <p:nvPr/>
        </p:nvSpPr>
        <p:spPr>
          <a:xfrm>
            <a:off x="2258568" y="2359152"/>
            <a:ext cx="1444752" cy="1225296"/>
          </a:xfrm>
          <a:prstGeom prst="roundRect">
            <a:avLst>
              <a:gd name="adj" fmla="val 2985"/>
            </a:avLst>
          </a:prstGeom>
          <a:solidFill>
            <a:schemeClr val="bg2"/>
          </a:solidFill>
          <a:ln w="9525">
            <a:solidFill>
              <a:srgbClr val="DCE7E9"/>
            </a:solidFill>
            <a:prstDash val="solid"/>
          </a:ln>
        </p:spPr>
      </p:sp>
      <p:sp>
        <p:nvSpPr>
          <p:cNvPr id="11" name="gpi-1"/>
          <p:cNvSpPr txBox="1"/>
          <p:nvPr/>
        </p:nvSpPr>
        <p:spPr>
          <a:xfrm>
            <a:off x="2368296" y="2450592"/>
            <a:ext cx="1225296" cy="219456"/>
          </a:xfrm>
          <a:prstGeom prst="rect">
            <a:avLst/>
          </a:prstGeom>
          <a:noFill/>
          <a:ln/>
        </p:spPr>
        <p:txBody>
          <a:bodyPr wrap="square" lIns="0" tIns="0" rIns="0" bIns="0" rtlCol="0" anchor="ctr"/>
          <a:lstStyle/>
          <a:p>
            <a:pPr indent="0" marL="0">
              <a:buNone/>
            </a:pPr>
            <a:r>
              <a:rPr lang="en-US" sz="950" b="1" dirty="0">
                <a:solidFill>
                  <a:srgbClr val="B98A2E"/>
                </a:solidFill>
              </a:rPr>
              <a:t>02</a:t>
            </a:r>
            <a:endParaRPr lang="en-US" sz="950" dirty="0"/>
          </a:p>
        </p:txBody>
      </p:sp>
      <p:sp>
        <p:nvSpPr>
          <p:cNvPr id="12" name="gpn-1"/>
          <p:cNvSpPr txBox="1"/>
          <p:nvPr/>
        </p:nvSpPr>
        <p:spPr>
          <a:xfrm>
            <a:off x="2368296" y="2651760"/>
            <a:ext cx="1225296" cy="274320"/>
          </a:xfrm>
          <a:prstGeom prst="rect">
            <a:avLst/>
          </a:prstGeom>
          <a:noFill/>
          <a:ln/>
        </p:spPr>
        <p:txBody>
          <a:bodyPr wrap="square" lIns="0" tIns="0" rIns="0" bIns="0" rtlCol="0" anchor="ctr"/>
          <a:lstStyle/>
          <a:p>
            <a:pPr indent="0" marL="0">
              <a:buNone/>
            </a:pPr>
            <a:r>
              <a:rPr lang="en-US" sz="1300" b="1" dirty="0">
                <a:solidFill>
                  <a:srgbClr val="14525F"/>
                </a:solidFill>
                <a:latin typeface="Cambria" pitchFamily="34" charset="0"/>
                <a:ea typeface="Cambria" pitchFamily="34" charset="-122"/>
                <a:cs typeface="Cambria" pitchFamily="34" charset="-120"/>
              </a:rPr>
              <a:t>Project</a:t>
            </a:r>
            <a:endParaRPr lang="en-US" sz="1300" dirty="0"/>
          </a:p>
        </p:txBody>
      </p:sp>
      <p:sp>
        <p:nvSpPr>
          <p:cNvPr id="13" name="gpb-1"/>
          <p:cNvSpPr txBox="1"/>
          <p:nvPr/>
        </p:nvSpPr>
        <p:spPr>
          <a:xfrm>
            <a:off x="2368296" y="2935224"/>
            <a:ext cx="1225296" cy="585216"/>
          </a:xfrm>
          <a:prstGeom prst="rect">
            <a:avLst/>
          </a:prstGeom>
          <a:noFill/>
          <a:ln/>
        </p:spPr>
        <p:txBody>
          <a:bodyPr wrap="square" lIns="0" tIns="0" rIns="0" bIns="0" rtlCol="0" anchor="t"/>
          <a:lstStyle/>
          <a:p>
            <a:pPr indent="0" marL="0">
              <a:buNone/>
            </a:pPr>
            <a:r>
              <a:rPr lang="en-US" sz="950" dirty="0">
                <a:solidFill>
                  <a:srgbClr val="55676C"/>
                </a:solidFill>
              </a:rPr>
              <a:t>causal forecast</a:t>
            </a:r>
            <a:endParaRPr lang="en-US" sz="950" dirty="0"/>
          </a:p>
          <a:p>
            <a:pPr indent="0" marL="0">
              <a:buNone/>
            </a:pPr>
            <a:r>
              <a:rPr lang="en-US" sz="950" dirty="0">
                <a:solidFill>
                  <a:srgbClr val="55676C"/>
                </a:solidFill>
              </a:rPr>
              <a:t>vs the envelope</a:t>
            </a:r>
            <a:endParaRPr lang="en-US" sz="950" dirty="0"/>
          </a:p>
        </p:txBody>
      </p:sp>
      <p:sp>
        <p:nvSpPr>
          <p:cNvPr id="14" name="gpa-1"/>
          <p:cNvSpPr txBox="1"/>
          <p:nvPr/>
        </p:nvSpPr>
        <p:spPr>
          <a:xfrm>
            <a:off x="3703320" y="2816352"/>
            <a:ext cx="128016" cy="274320"/>
          </a:xfrm>
          <a:prstGeom prst="rect">
            <a:avLst/>
          </a:prstGeom>
          <a:noFill/>
          <a:ln/>
        </p:spPr>
        <p:txBody>
          <a:bodyPr wrap="square" lIns="0" tIns="0" rIns="0" bIns="0" rtlCol="0" anchor="ctr"/>
          <a:lstStyle/>
          <a:p>
            <a:pPr algn="ctr" indent="0" marL="0">
              <a:buNone/>
            </a:pPr>
            <a:r>
              <a:rPr lang="en-US" sz="1400" dirty="0">
                <a:solidFill>
                  <a:srgbClr val="A9BDC1"/>
                </a:solidFill>
              </a:rPr>
              <a:t>›</a:t>
            </a:r>
            <a:endParaRPr lang="en-US" sz="1400" dirty="0"/>
          </a:p>
        </p:txBody>
      </p:sp>
      <p:sp>
        <p:nvSpPr>
          <p:cNvPr id="15" name="card-gp2"/>
          <p:cNvSpPr/>
          <p:nvPr/>
        </p:nvSpPr>
        <p:spPr>
          <a:xfrm>
            <a:off x="3831336" y="2359152"/>
            <a:ext cx="1444752" cy="1225296"/>
          </a:xfrm>
          <a:prstGeom prst="roundRect">
            <a:avLst>
              <a:gd name="adj" fmla="val 2985"/>
            </a:avLst>
          </a:prstGeom>
          <a:solidFill>
            <a:schemeClr val="bg2"/>
          </a:solidFill>
          <a:ln w="9525">
            <a:solidFill>
              <a:srgbClr val="DCE7E9"/>
            </a:solidFill>
            <a:prstDash val="solid"/>
          </a:ln>
        </p:spPr>
      </p:sp>
      <p:sp>
        <p:nvSpPr>
          <p:cNvPr id="16" name="gpi-2"/>
          <p:cNvSpPr txBox="1"/>
          <p:nvPr/>
        </p:nvSpPr>
        <p:spPr>
          <a:xfrm>
            <a:off x="3941064" y="2450592"/>
            <a:ext cx="1225296" cy="219456"/>
          </a:xfrm>
          <a:prstGeom prst="rect">
            <a:avLst/>
          </a:prstGeom>
          <a:noFill/>
          <a:ln/>
        </p:spPr>
        <p:txBody>
          <a:bodyPr wrap="square" lIns="0" tIns="0" rIns="0" bIns="0" rtlCol="0" anchor="ctr"/>
          <a:lstStyle/>
          <a:p>
            <a:pPr indent="0" marL="0">
              <a:buNone/>
            </a:pPr>
            <a:r>
              <a:rPr lang="en-US" sz="950" b="1" dirty="0">
                <a:solidFill>
                  <a:srgbClr val="B98A2E"/>
                </a:solidFill>
              </a:rPr>
              <a:t>03</a:t>
            </a:r>
            <a:endParaRPr lang="en-US" sz="950" dirty="0"/>
          </a:p>
        </p:txBody>
      </p:sp>
      <p:sp>
        <p:nvSpPr>
          <p:cNvPr id="17" name="gpn-2"/>
          <p:cNvSpPr txBox="1"/>
          <p:nvPr/>
        </p:nvSpPr>
        <p:spPr>
          <a:xfrm>
            <a:off x="3941064" y="2651760"/>
            <a:ext cx="1225296" cy="274320"/>
          </a:xfrm>
          <a:prstGeom prst="rect">
            <a:avLst/>
          </a:prstGeom>
          <a:noFill/>
          <a:ln/>
        </p:spPr>
        <p:txBody>
          <a:bodyPr wrap="square" lIns="0" tIns="0" rIns="0" bIns="0" rtlCol="0" anchor="ctr"/>
          <a:lstStyle/>
          <a:p>
            <a:pPr indent="0" marL="0">
              <a:buNone/>
            </a:pPr>
            <a:r>
              <a:rPr lang="en-US" sz="1300" b="1" dirty="0">
                <a:solidFill>
                  <a:srgbClr val="14525F"/>
                </a:solidFill>
                <a:latin typeface="Cambria" pitchFamily="34" charset="0"/>
                <a:ea typeface="Cambria" pitchFamily="34" charset="-122"/>
                <a:cs typeface="Cambria" pitchFamily="34" charset="-120"/>
              </a:rPr>
              <a:t>Optimise</a:t>
            </a:r>
            <a:endParaRPr lang="en-US" sz="1300" dirty="0"/>
          </a:p>
        </p:txBody>
      </p:sp>
      <p:sp>
        <p:nvSpPr>
          <p:cNvPr id="18" name="gpb-2"/>
          <p:cNvSpPr txBox="1"/>
          <p:nvPr/>
        </p:nvSpPr>
        <p:spPr>
          <a:xfrm>
            <a:off x="3941064" y="2935224"/>
            <a:ext cx="1225296" cy="585216"/>
          </a:xfrm>
          <a:prstGeom prst="rect">
            <a:avLst/>
          </a:prstGeom>
          <a:noFill/>
          <a:ln/>
        </p:spPr>
        <p:txBody>
          <a:bodyPr wrap="square" lIns="0" tIns="0" rIns="0" bIns="0" rtlCol="0" anchor="t"/>
          <a:lstStyle/>
          <a:p>
            <a:pPr indent="0" marL="0">
              <a:buNone/>
            </a:pPr>
            <a:r>
              <a:rPr lang="en-US" sz="950" dirty="0">
                <a:solidFill>
                  <a:srgbClr val="55676C"/>
                </a:solidFill>
              </a:rPr>
              <a:t>480 candidates,</a:t>
            </a:r>
            <a:endParaRPr lang="en-US" sz="950" dirty="0"/>
          </a:p>
          <a:p>
            <a:pPr indent="0" marL="0">
              <a:buNone/>
            </a:pPr>
            <a:r>
              <a:rPr lang="en-US" sz="950" dirty="0">
                <a:solidFill>
                  <a:srgbClr val="55676C"/>
                </a:solidFill>
              </a:rPr>
              <a:t>optimum proven</a:t>
            </a:r>
            <a:endParaRPr lang="en-US" sz="950" dirty="0"/>
          </a:p>
        </p:txBody>
      </p:sp>
      <p:sp>
        <p:nvSpPr>
          <p:cNvPr id="19" name="gpa-2"/>
          <p:cNvSpPr txBox="1"/>
          <p:nvPr/>
        </p:nvSpPr>
        <p:spPr>
          <a:xfrm>
            <a:off x="5276088" y="2816352"/>
            <a:ext cx="128016" cy="274320"/>
          </a:xfrm>
          <a:prstGeom prst="rect">
            <a:avLst/>
          </a:prstGeom>
          <a:noFill/>
          <a:ln/>
        </p:spPr>
        <p:txBody>
          <a:bodyPr wrap="square" lIns="0" tIns="0" rIns="0" bIns="0" rtlCol="0" anchor="ctr"/>
          <a:lstStyle/>
          <a:p>
            <a:pPr algn="ctr" indent="0" marL="0">
              <a:buNone/>
            </a:pPr>
            <a:r>
              <a:rPr lang="en-US" sz="1400" dirty="0">
                <a:solidFill>
                  <a:srgbClr val="A9BDC1"/>
                </a:solidFill>
              </a:rPr>
              <a:t>›</a:t>
            </a:r>
            <a:endParaRPr lang="en-US" sz="1400" dirty="0"/>
          </a:p>
        </p:txBody>
      </p:sp>
      <p:sp>
        <p:nvSpPr>
          <p:cNvPr id="20" name="card-gp3"/>
          <p:cNvSpPr/>
          <p:nvPr/>
        </p:nvSpPr>
        <p:spPr>
          <a:xfrm>
            <a:off x="5404104" y="2359152"/>
            <a:ext cx="1444752" cy="1225296"/>
          </a:xfrm>
          <a:prstGeom prst="roundRect">
            <a:avLst>
              <a:gd name="adj" fmla="val 2985"/>
            </a:avLst>
          </a:prstGeom>
          <a:solidFill>
            <a:schemeClr val="bg2"/>
          </a:solidFill>
          <a:ln w="9525">
            <a:solidFill>
              <a:srgbClr val="DCE7E9"/>
            </a:solidFill>
            <a:prstDash val="solid"/>
          </a:ln>
        </p:spPr>
      </p:sp>
      <p:sp>
        <p:nvSpPr>
          <p:cNvPr id="21" name="gpi-3"/>
          <p:cNvSpPr txBox="1"/>
          <p:nvPr/>
        </p:nvSpPr>
        <p:spPr>
          <a:xfrm>
            <a:off x="5513832" y="2450592"/>
            <a:ext cx="1225296" cy="219456"/>
          </a:xfrm>
          <a:prstGeom prst="rect">
            <a:avLst/>
          </a:prstGeom>
          <a:noFill/>
          <a:ln/>
        </p:spPr>
        <p:txBody>
          <a:bodyPr wrap="square" lIns="0" tIns="0" rIns="0" bIns="0" rtlCol="0" anchor="ctr"/>
          <a:lstStyle/>
          <a:p>
            <a:pPr indent="0" marL="0">
              <a:buNone/>
            </a:pPr>
            <a:r>
              <a:rPr lang="en-US" sz="950" b="1" dirty="0">
                <a:solidFill>
                  <a:srgbClr val="B98A2E"/>
                </a:solidFill>
              </a:rPr>
              <a:t>04</a:t>
            </a:r>
            <a:endParaRPr lang="en-US" sz="950" dirty="0"/>
          </a:p>
        </p:txBody>
      </p:sp>
      <p:sp>
        <p:nvSpPr>
          <p:cNvPr id="22" name="gpn-3"/>
          <p:cNvSpPr txBox="1"/>
          <p:nvPr/>
        </p:nvSpPr>
        <p:spPr>
          <a:xfrm>
            <a:off x="5513832" y="2651760"/>
            <a:ext cx="1225296" cy="274320"/>
          </a:xfrm>
          <a:prstGeom prst="rect">
            <a:avLst/>
          </a:prstGeom>
          <a:noFill/>
          <a:ln/>
        </p:spPr>
        <p:txBody>
          <a:bodyPr wrap="square" lIns="0" tIns="0" rIns="0" bIns="0" rtlCol="0" anchor="ctr"/>
          <a:lstStyle/>
          <a:p>
            <a:pPr indent="0" marL="0">
              <a:buNone/>
            </a:pPr>
            <a:r>
              <a:rPr lang="en-US" sz="1300" b="1" dirty="0">
                <a:solidFill>
                  <a:srgbClr val="14525F"/>
                </a:solidFill>
                <a:latin typeface="Cambria" pitchFamily="34" charset="0"/>
                <a:ea typeface="Cambria" pitchFamily="34" charset="-122"/>
                <a:cs typeface="Cambria" pitchFamily="34" charset="-120"/>
              </a:rPr>
              <a:t>Decide</a:t>
            </a:r>
            <a:endParaRPr lang="en-US" sz="1300" dirty="0"/>
          </a:p>
        </p:txBody>
      </p:sp>
      <p:sp>
        <p:nvSpPr>
          <p:cNvPr id="23" name="gpb-3"/>
          <p:cNvSpPr txBox="1"/>
          <p:nvPr/>
        </p:nvSpPr>
        <p:spPr>
          <a:xfrm>
            <a:off x="5513832" y="2935224"/>
            <a:ext cx="1225296" cy="585216"/>
          </a:xfrm>
          <a:prstGeom prst="rect">
            <a:avLst/>
          </a:prstGeom>
          <a:noFill/>
          <a:ln/>
        </p:spPr>
        <p:txBody>
          <a:bodyPr wrap="square" lIns="0" tIns="0" rIns="0" bIns="0" rtlCol="0" anchor="t"/>
          <a:lstStyle/>
          <a:p>
            <a:pPr indent="0" marL="0">
              <a:buNone/>
            </a:pPr>
            <a:r>
              <a:rPr lang="en-US" sz="950" dirty="0">
                <a:solidFill>
                  <a:srgbClr val="55676C"/>
                </a:solidFill>
              </a:rPr>
              <a:t>a named human</a:t>
            </a:r>
            <a:endParaRPr lang="en-US" sz="950" dirty="0"/>
          </a:p>
          <a:p>
            <a:pPr indent="0" marL="0">
              <a:buNone/>
            </a:pPr>
            <a:r>
              <a:rPr lang="en-US" sz="950" dirty="0">
                <a:solidFill>
                  <a:srgbClr val="55676C"/>
                </a:solidFill>
              </a:rPr>
              <a:t>approves or refuses</a:t>
            </a:r>
            <a:endParaRPr lang="en-US" sz="950" dirty="0"/>
          </a:p>
        </p:txBody>
      </p:sp>
      <p:sp>
        <p:nvSpPr>
          <p:cNvPr id="24" name="gpa-3"/>
          <p:cNvSpPr txBox="1"/>
          <p:nvPr/>
        </p:nvSpPr>
        <p:spPr>
          <a:xfrm>
            <a:off x="6848856" y="2816352"/>
            <a:ext cx="128016" cy="274320"/>
          </a:xfrm>
          <a:prstGeom prst="rect">
            <a:avLst/>
          </a:prstGeom>
          <a:noFill/>
          <a:ln/>
        </p:spPr>
        <p:txBody>
          <a:bodyPr wrap="square" lIns="0" tIns="0" rIns="0" bIns="0" rtlCol="0" anchor="ctr"/>
          <a:lstStyle/>
          <a:p>
            <a:pPr algn="ctr" indent="0" marL="0">
              <a:buNone/>
            </a:pPr>
            <a:r>
              <a:rPr lang="en-US" sz="1400" dirty="0">
                <a:solidFill>
                  <a:srgbClr val="A9BDC1"/>
                </a:solidFill>
              </a:rPr>
              <a:t>›</a:t>
            </a:r>
            <a:endParaRPr lang="en-US" sz="1400" dirty="0"/>
          </a:p>
        </p:txBody>
      </p:sp>
      <p:sp>
        <p:nvSpPr>
          <p:cNvPr id="25" name="card-gp4"/>
          <p:cNvSpPr/>
          <p:nvPr/>
        </p:nvSpPr>
        <p:spPr>
          <a:xfrm>
            <a:off x="6976872" y="2359152"/>
            <a:ext cx="1444752" cy="1225296"/>
          </a:xfrm>
          <a:prstGeom prst="roundRect">
            <a:avLst>
              <a:gd name="adj" fmla="val 2985"/>
            </a:avLst>
          </a:prstGeom>
          <a:solidFill>
            <a:schemeClr val="bg2"/>
          </a:solidFill>
          <a:ln w="9525">
            <a:solidFill>
              <a:srgbClr val="DCE7E9"/>
            </a:solidFill>
            <a:prstDash val="solid"/>
          </a:ln>
        </p:spPr>
      </p:sp>
      <p:sp>
        <p:nvSpPr>
          <p:cNvPr id="26" name="gpi-4"/>
          <p:cNvSpPr txBox="1"/>
          <p:nvPr/>
        </p:nvSpPr>
        <p:spPr>
          <a:xfrm>
            <a:off x="7086600" y="2450592"/>
            <a:ext cx="1225296" cy="219456"/>
          </a:xfrm>
          <a:prstGeom prst="rect">
            <a:avLst/>
          </a:prstGeom>
          <a:noFill/>
          <a:ln/>
        </p:spPr>
        <p:txBody>
          <a:bodyPr wrap="square" lIns="0" tIns="0" rIns="0" bIns="0" rtlCol="0" anchor="ctr"/>
          <a:lstStyle/>
          <a:p>
            <a:pPr indent="0" marL="0">
              <a:buNone/>
            </a:pPr>
            <a:r>
              <a:rPr lang="en-US" sz="950" b="1" dirty="0">
                <a:solidFill>
                  <a:srgbClr val="B98A2E"/>
                </a:solidFill>
              </a:rPr>
              <a:t>05</a:t>
            </a:r>
            <a:endParaRPr lang="en-US" sz="950" dirty="0"/>
          </a:p>
        </p:txBody>
      </p:sp>
      <p:sp>
        <p:nvSpPr>
          <p:cNvPr id="27" name="gpn-4"/>
          <p:cNvSpPr txBox="1"/>
          <p:nvPr/>
        </p:nvSpPr>
        <p:spPr>
          <a:xfrm>
            <a:off x="7086600" y="2651760"/>
            <a:ext cx="1225296" cy="274320"/>
          </a:xfrm>
          <a:prstGeom prst="rect">
            <a:avLst/>
          </a:prstGeom>
          <a:noFill/>
          <a:ln/>
        </p:spPr>
        <p:txBody>
          <a:bodyPr wrap="square" lIns="0" tIns="0" rIns="0" bIns="0" rtlCol="0" anchor="ctr"/>
          <a:lstStyle/>
          <a:p>
            <a:pPr indent="0" marL="0">
              <a:buNone/>
            </a:pPr>
            <a:r>
              <a:rPr lang="en-US" sz="1300" b="1" dirty="0">
                <a:solidFill>
                  <a:srgbClr val="14525F"/>
                </a:solidFill>
                <a:latin typeface="Cambria" pitchFamily="34" charset="0"/>
                <a:ea typeface="Cambria" pitchFamily="34" charset="-122"/>
                <a:cs typeface="Cambria" pitchFamily="34" charset="-120"/>
              </a:rPr>
              <a:t>Gate</a:t>
            </a:r>
            <a:endParaRPr lang="en-US" sz="1300" dirty="0"/>
          </a:p>
        </p:txBody>
      </p:sp>
      <p:sp>
        <p:nvSpPr>
          <p:cNvPr id="28" name="gpb-4"/>
          <p:cNvSpPr txBox="1"/>
          <p:nvPr/>
        </p:nvSpPr>
        <p:spPr>
          <a:xfrm>
            <a:off x="7086600" y="2935224"/>
            <a:ext cx="1225296" cy="585216"/>
          </a:xfrm>
          <a:prstGeom prst="rect">
            <a:avLst/>
          </a:prstGeom>
          <a:noFill/>
          <a:ln/>
        </p:spPr>
        <p:txBody>
          <a:bodyPr wrap="square" lIns="0" tIns="0" rIns="0" bIns="0" rtlCol="0" anchor="t"/>
          <a:lstStyle/>
          <a:p>
            <a:pPr indent="0" marL="0">
              <a:buNone/>
            </a:pPr>
            <a:r>
              <a:rPr lang="en-US" sz="950" dirty="0">
                <a:solidFill>
                  <a:srgbClr val="55676C"/>
                </a:solidFill>
              </a:rPr>
              <a:t>fail-closed</a:t>
            </a:r>
            <a:endParaRPr lang="en-US" sz="950" dirty="0"/>
          </a:p>
          <a:p>
            <a:pPr indent="0" marL="0">
              <a:buNone/>
            </a:pPr>
            <a:r>
              <a:rPr lang="en-US" sz="950" dirty="0">
                <a:solidFill>
                  <a:srgbClr val="55676C"/>
                </a:solidFill>
              </a:rPr>
              <a:t>wash-off release</a:t>
            </a:r>
            <a:endParaRPr lang="en-US" sz="950" dirty="0"/>
          </a:p>
        </p:txBody>
      </p:sp>
      <p:sp>
        <p:nvSpPr>
          <p:cNvPr id="29" name="gpa-4"/>
          <p:cNvSpPr txBox="1"/>
          <p:nvPr/>
        </p:nvSpPr>
        <p:spPr>
          <a:xfrm>
            <a:off x="8421624" y="2816352"/>
            <a:ext cx="128016" cy="274320"/>
          </a:xfrm>
          <a:prstGeom prst="rect">
            <a:avLst/>
          </a:prstGeom>
          <a:noFill/>
          <a:ln/>
        </p:spPr>
        <p:txBody>
          <a:bodyPr wrap="square" lIns="0" tIns="0" rIns="0" bIns="0" rtlCol="0" anchor="ctr"/>
          <a:lstStyle/>
          <a:p>
            <a:pPr algn="ctr" indent="0" marL="0">
              <a:buNone/>
            </a:pPr>
            <a:r>
              <a:rPr lang="en-US" sz="1400" dirty="0">
                <a:solidFill>
                  <a:srgbClr val="A9BDC1"/>
                </a:solidFill>
              </a:rPr>
              <a:t>›</a:t>
            </a:r>
            <a:endParaRPr lang="en-US" sz="1400" dirty="0"/>
          </a:p>
        </p:txBody>
      </p:sp>
      <p:sp>
        <p:nvSpPr>
          <p:cNvPr id="30" name="card-gp5"/>
          <p:cNvSpPr/>
          <p:nvPr/>
        </p:nvSpPr>
        <p:spPr>
          <a:xfrm>
            <a:off x="8549640" y="2359152"/>
            <a:ext cx="1444752" cy="1225296"/>
          </a:xfrm>
          <a:prstGeom prst="roundRect">
            <a:avLst>
              <a:gd name="adj" fmla="val 2985"/>
            </a:avLst>
          </a:prstGeom>
          <a:solidFill>
            <a:schemeClr val="bg2"/>
          </a:solidFill>
          <a:ln w="9525">
            <a:solidFill>
              <a:srgbClr val="DCE7E9"/>
            </a:solidFill>
            <a:prstDash val="solid"/>
          </a:ln>
        </p:spPr>
      </p:sp>
      <p:sp>
        <p:nvSpPr>
          <p:cNvPr id="31" name="gpi-5"/>
          <p:cNvSpPr txBox="1"/>
          <p:nvPr/>
        </p:nvSpPr>
        <p:spPr>
          <a:xfrm>
            <a:off x="8659368" y="2450592"/>
            <a:ext cx="1225296" cy="219456"/>
          </a:xfrm>
          <a:prstGeom prst="rect">
            <a:avLst/>
          </a:prstGeom>
          <a:noFill/>
          <a:ln/>
        </p:spPr>
        <p:txBody>
          <a:bodyPr wrap="square" lIns="0" tIns="0" rIns="0" bIns="0" rtlCol="0" anchor="ctr"/>
          <a:lstStyle/>
          <a:p>
            <a:pPr indent="0" marL="0">
              <a:buNone/>
            </a:pPr>
            <a:r>
              <a:rPr lang="en-US" sz="950" b="1" dirty="0">
                <a:solidFill>
                  <a:srgbClr val="B98A2E"/>
                </a:solidFill>
              </a:rPr>
              <a:t>06</a:t>
            </a:r>
            <a:endParaRPr lang="en-US" sz="950" dirty="0"/>
          </a:p>
        </p:txBody>
      </p:sp>
      <p:sp>
        <p:nvSpPr>
          <p:cNvPr id="32" name="gpn-5"/>
          <p:cNvSpPr txBox="1"/>
          <p:nvPr/>
        </p:nvSpPr>
        <p:spPr>
          <a:xfrm>
            <a:off x="8659368" y="2651760"/>
            <a:ext cx="1225296" cy="274320"/>
          </a:xfrm>
          <a:prstGeom prst="rect">
            <a:avLst/>
          </a:prstGeom>
          <a:noFill/>
          <a:ln/>
        </p:spPr>
        <p:txBody>
          <a:bodyPr wrap="square" lIns="0" tIns="0" rIns="0" bIns="0" rtlCol="0" anchor="ctr"/>
          <a:lstStyle/>
          <a:p>
            <a:pPr indent="0" marL="0">
              <a:buNone/>
            </a:pPr>
            <a:r>
              <a:rPr lang="en-US" sz="1300" b="1" dirty="0">
                <a:solidFill>
                  <a:srgbClr val="14525F"/>
                </a:solidFill>
                <a:latin typeface="Cambria" pitchFamily="34" charset="0"/>
                <a:ea typeface="Cambria" pitchFamily="34" charset="-122"/>
                <a:cs typeface="Cambria" pitchFamily="34" charset="-120"/>
              </a:rPr>
              <a:t>Account</a:t>
            </a:r>
            <a:endParaRPr lang="en-US" sz="1300" dirty="0"/>
          </a:p>
        </p:txBody>
      </p:sp>
      <p:sp>
        <p:nvSpPr>
          <p:cNvPr id="33" name="gpb-5"/>
          <p:cNvSpPr txBox="1"/>
          <p:nvPr/>
        </p:nvSpPr>
        <p:spPr>
          <a:xfrm>
            <a:off x="8659368" y="2935224"/>
            <a:ext cx="1225296" cy="585216"/>
          </a:xfrm>
          <a:prstGeom prst="rect">
            <a:avLst/>
          </a:prstGeom>
          <a:noFill/>
          <a:ln/>
        </p:spPr>
        <p:txBody>
          <a:bodyPr wrap="square" lIns="0" tIns="0" rIns="0" bIns="0" rtlCol="0" anchor="t"/>
          <a:lstStyle/>
          <a:p>
            <a:pPr indent="0" marL="0">
              <a:buNone/>
            </a:pPr>
            <a:r>
              <a:rPr lang="en-US" sz="950" dirty="0">
                <a:solidFill>
                  <a:srgbClr val="55676C"/>
                </a:solidFill>
              </a:rPr>
              <a:t>mass balance and</a:t>
            </a:r>
            <a:endParaRPr lang="en-US" sz="950" dirty="0"/>
          </a:p>
          <a:p>
            <a:pPr indent="0" marL="0">
              <a:buNone/>
            </a:pPr>
            <a:r>
              <a:rPr lang="en-US" sz="950" dirty="0">
                <a:solidFill>
                  <a:srgbClr val="55676C"/>
                </a:solidFill>
              </a:rPr>
              <a:t>8 invariants</a:t>
            </a:r>
            <a:endParaRPr lang="en-US" sz="950" dirty="0"/>
          </a:p>
        </p:txBody>
      </p:sp>
      <p:sp>
        <p:nvSpPr>
          <p:cNvPr id="34" name="gpa-5"/>
          <p:cNvSpPr txBox="1"/>
          <p:nvPr/>
        </p:nvSpPr>
        <p:spPr>
          <a:xfrm>
            <a:off x="9994392" y="2816352"/>
            <a:ext cx="128016" cy="274320"/>
          </a:xfrm>
          <a:prstGeom prst="rect">
            <a:avLst/>
          </a:prstGeom>
          <a:noFill/>
          <a:ln/>
        </p:spPr>
        <p:txBody>
          <a:bodyPr wrap="square" lIns="0" tIns="0" rIns="0" bIns="0" rtlCol="0" anchor="ctr"/>
          <a:lstStyle/>
          <a:p>
            <a:pPr algn="ctr" indent="0" marL="0">
              <a:buNone/>
            </a:pPr>
            <a:r>
              <a:rPr lang="en-US" sz="1400" dirty="0">
                <a:solidFill>
                  <a:srgbClr val="A9BDC1"/>
                </a:solidFill>
              </a:rPr>
              <a:t>›</a:t>
            </a:r>
            <a:endParaRPr lang="en-US" sz="1400" dirty="0"/>
          </a:p>
        </p:txBody>
      </p:sp>
      <p:sp>
        <p:nvSpPr>
          <p:cNvPr id="35" name="card-gp6"/>
          <p:cNvSpPr/>
          <p:nvPr/>
        </p:nvSpPr>
        <p:spPr>
          <a:xfrm>
            <a:off x="10122408" y="2359152"/>
            <a:ext cx="1444752" cy="1225296"/>
          </a:xfrm>
          <a:prstGeom prst="roundRect">
            <a:avLst>
              <a:gd name="adj" fmla="val 2985"/>
            </a:avLst>
          </a:prstGeom>
          <a:solidFill>
            <a:schemeClr val="bg2"/>
          </a:solidFill>
          <a:ln w="9525">
            <a:solidFill>
              <a:srgbClr val="DCE7E9"/>
            </a:solidFill>
            <a:prstDash val="solid"/>
          </a:ln>
        </p:spPr>
      </p:sp>
      <p:sp>
        <p:nvSpPr>
          <p:cNvPr id="36" name="gpi-6"/>
          <p:cNvSpPr txBox="1"/>
          <p:nvPr/>
        </p:nvSpPr>
        <p:spPr>
          <a:xfrm>
            <a:off x="10232136" y="2450592"/>
            <a:ext cx="1225296" cy="219456"/>
          </a:xfrm>
          <a:prstGeom prst="rect">
            <a:avLst/>
          </a:prstGeom>
          <a:noFill/>
          <a:ln/>
        </p:spPr>
        <p:txBody>
          <a:bodyPr wrap="square" lIns="0" tIns="0" rIns="0" bIns="0" rtlCol="0" anchor="ctr"/>
          <a:lstStyle/>
          <a:p>
            <a:pPr indent="0" marL="0">
              <a:buNone/>
            </a:pPr>
            <a:r>
              <a:rPr lang="en-US" sz="950" b="1" dirty="0">
                <a:solidFill>
                  <a:srgbClr val="B98A2E"/>
                </a:solidFill>
              </a:rPr>
              <a:t>07</a:t>
            </a:r>
            <a:endParaRPr lang="en-US" sz="950" dirty="0"/>
          </a:p>
        </p:txBody>
      </p:sp>
      <p:sp>
        <p:nvSpPr>
          <p:cNvPr id="37" name="gpn-6"/>
          <p:cNvSpPr txBox="1"/>
          <p:nvPr/>
        </p:nvSpPr>
        <p:spPr>
          <a:xfrm>
            <a:off x="10232136" y="2651760"/>
            <a:ext cx="1225296" cy="274320"/>
          </a:xfrm>
          <a:prstGeom prst="rect">
            <a:avLst/>
          </a:prstGeom>
          <a:noFill/>
          <a:ln/>
        </p:spPr>
        <p:txBody>
          <a:bodyPr wrap="square" lIns="0" tIns="0" rIns="0" bIns="0" rtlCol="0" anchor="ctr"/>
          <a:lstStyle/>
          <a:p>
            <a:pPr indent="0" marL="0">
              <a:buNone/>
            </a:pPr>
            <a:r>
              <a:rPr lang="en-US" sz="1300" b="1" dirty="0">
                <a:solidFill>
                  <a:srgbClr val="14525F"/>
                </a:solidFill>
                <a:latin typeface="Cambria" pitchFamily="34" charset="0"/>
                <a:ea typeface="Cambria" pitchFamily="34" charset="-122"/>
                <a:cs typeface="Cambria" pitchFamily="34" charset="-120"/>
              </a:rPr>
              <a:t>Prove</a:t>
            </a:r>
            <a:endParaRPr lang="en-US" sz="1300" dirty="0"/>
          </a:p>
        </p:txBody>
      </p:sp>
      <p:sp>
        <p:nvSpPr>
          <p:cNvPr id="38" name="gpb-6"/>
          <p:cNvSpPr txBox="1"/>
          <p:nvPr/>
        </p:nvSpPr>
        <p:spPr>
          <a:xfrm>
            <a:off x="10232136" y="2935224"/>
            <a:ext cx="1225296" cy="585216"/>
          </a:xfrm>
          <a:prstGeom prst="rect">
            <a:avLst/>
          </a:prstGeom>
          <a:noFill/>
          <a:ln/>
        </p:spPr>
        <p:txBody>
          <a:bodyPr wrap="square" lIns="0" tIns="0" rIns="0" bIns="0" rtlCol="0" anchor="t"/>
          <a:lstStyle/>
          <a:p>
            <a:pPr indent="0" marL="0">
              <a:buNone/>
            </a:pPr>
            <a:r>
              <a:rPr lang="en-US" sz="950" dirty="0">
                <a:solidFill>
                  <a:srgbClr val="55676C"/>
                </a:solidFill>
              </a:rPr>
              <a:t>tamper-evident</a:t>
            </a:r>
            <a:endParaRPr lang="en-US" sz="950" dirty="0"/>
          </a:p>
          <a:p>
            <a:pPr indent="0" marL="0">
              <a:buNone/>
            </a:pPr>
            <a:r>
              <a:rPr lang="en-US" sz="950" dirty="0">
                <a:solidFill>
                  <a:srgbClr val="55676C"/>
                </a:solidFill>
              </a:rPr>
              <a:t>ledger and export</a:t>
            </a:r>
            <a:endParaRPr lang="en-US" sz="950" dirty="0"/>
          </a:p>
        </p:txBody>
      </p:sp>
      <p:sp>
        <p:nvSpPr>
          <p:cNvPr id="39" name="rule-run"/>
          <p:cNvSpPr/>
          <p:nvPr/>
        </p:nvSpPr>
        <p:spPr>
          <a:xfrm>
            <a:off x="685800" y="3840480"/>
            <a:ext cx="10789920" cy="0"/>
          </a:xfrm>
          <a:prstGeom prst="line">
            <a:avLst/>
          </a:prstGeom>
          <a:noFill/>
          <a:ln w="12700">
            <a:solidFill>
              <a:srgbClr val="DCE7E9"/>
            </a:solidFill>
            <a:prstDash val="solid"/>
          </a:ln>
        </p:spPr>
      </p:sp>
      <p:sp>
        <p:nvSpPr>
          <p:cNvPr id="40" name="stat-value-r1"/>
          <p:cNvSpPr txBox="1"/>
          <p:nvPr/>
        </p:nvSpPr>
        <p:spPr>
          <a:xfrm>
            <a:off x="685800" y="4041648"/>
            <a:ext cx="2011680" cy="713232"/>
          </a:xfrm>
          <a:prstGeom prst="rect">
            <a:avLst/>
          </a:prstGeom>
          <a:noFill/>
          <a:ln/>
        </p:spPr>
        <p:txBody>
          <a:bodyPr wrap="square" lIns="0" tIns="0" rIns="0" bIns="0" rtlCol="0" anchor="b"/>
          <a:lstStyle/>
          <a:p>
            <a:pPr algn="l" indent="0" marL="0">
              <a:buNone/>
            </a:pPr>
            <a:r>
              <a:rPr lang="en-US" sz="3200" b="1" dirty="0">
                <a:solidFill>
                  <a:schemeClr val="accent1"/>
                </a:solidFill>
                <a:latin typeface="Cambria" pitchFamily="34" charset="0"/>
                <a:ea typeface="Cambria" pitchFamily="34" charset="-122"/>
                <a:cs typeface="Cambria" pitchFamily="34" charset="-120"/>
              </a:rPr>
              <a:t>190</a:t>
            </a:r>
            <a:endParaRPr lang="en-US" sz="3200" dirty="0"/>
          </a:p>
        </p:txBody>
      </p:sp>
      <p:sp>
        <p:nvSpPr>
          <p:cNvPr id="41" name="stat-label-r1"/>
          <p:cNvSpPr txBox="1"/>
          <p:nvPr/>
        </p:nvSpPr>
        <p:spPr>
          <a:xfrm>
            <a:off x="685800" y="4773168"/>
            <a:ext cx="2011680" cy="274320"/>
          </a:xfrm>
          <a:prstGeom prst="rect">
            <a:avLst/>
          </a:prstGeom>
          <a:noFill/>
          <a:ln/>
        </p:spPr>
        <p:txBody>
          <a:bodyPr wrap="square" lIns="0" tIns="0" rIns="0" bIns="0" rtlCol="0" anchor="ctr"/>
          <a:lstStyle/>
          <a:p>
            <a:pPr indent="0" marL="0">
              <a:buNone/>
            </a:pPr>
            <a:r>
              <a:rPr lang="en-US" sz="1000" b="1" spc="140" kern="0" dirty="0">
                <a:solidFill>
                  <a:srgbClr val="6B8086"/>
                </a:solidFill>
              </a:rPr>
              <a:t>AUTOMATED TESTS</a:t>
            </a:r>
            <a:endParaRPr lang="en-US" sz="1000" dirty="0"/>
          </a:p>
        </p:txBody>
      </p:sp>
      <p:sp>
        <p:nvSpPr>
          <p:cNvPr id="42" name="stat-note-r1"/>
          <p:cNvSpPr txBox="1"/>
          <p:nvPr/>
        </p:nvSpPr>
        <p:spPr>
          <a:xfrm>
            <a:off x="685800" y="5047488"/>
            <a:ext cx="2011680" cy="566928"/>
          </a:xfrm>
          <a:prstGeom prst="rect">
            <a:avLst/>
          </a:prstGeom>
          <a:noFill/>
          <a:ln/>
        </p:spPr>
        <p:txBody>
          <a:bodyPr wrap="square" lIns="0" tIns="0" rIns="0" bIns="0" rtlCol="0" anchor="t"/>
          <a:lstStyle/>
          <a:p>
            <a:pPr indent="0" marL="0">
              <a:buNone/>
            </a:pPr>
            <a:r>
              <a:rPr lang="en-US" sz="1100" dirty="0">
                <a:solidFill>
                  <a:srgbClr val="55676C"/>
                </a:solidFill>
              </a:rPr>
              <a:t>engine, published-data validation,</a:t>
            </a:r>
            <a:endParaRPr lang="en-US" sz="1100" dirty="0"/>
          </a:p>
          <a:p>
            <a:pPr indent="0" marL="0">
              <a:buNone/>
            </a:pPr>
            <a:r>
              <a:rPr lang="en-US" sz="1100" dirty="0">
                <a:solidFill>
                  <a:srgbClr val="55676C"/>
                </a:solidFill>
              </a:rPr>
              <a:t>concurrency, safety and tamper</a:t>
            </a:r>
            <a:endParaRPr lang="en-US" sz="1100" dirty="0"/>
          </a:p>
        </p:txBody>
      </p:sp>
      <p:sp>
        <p:nvSpPr>
          <p:cNvPr id="43" name="stat-value-r2"/>
          <p:cNvSpPr txBox="1"/>
          <p:nvPr/>
        </p:nvSpPr>
        <p:spPr>
          <a:xfrm>
            <a:off x="2926080" y="4041648"/>
            <a:ext cx="2011680" cy="713232"/>
          </a:xfrm>
          <a:prstGeom prst="rect">
            <a:avLst/>
          </a:prstGeom>
          <a:noFill/>
          <a:ln/>
        </p:spPr>
        <p:txBody>
          <a:bodyPr wrap="square" lIns="0" tIns="0" rIns="0" bIns="0" rtlCol="0" anchor="b"/>
          <a:lstStyle/>
          <a:p>
            <a:pPr algn="l" indent="0" marL="0">
              <a:buNone/>
            </a:pPr>
            <a:r>
              <a:rPr lang="en-US" sz="3200" b="1" dirty="0">
                <a:solidFill>
                  <a:schemeClr val="accent1"/>
                </a:solidFill>
                <a:latin typeface="Cambria" pitchFamily="34" charset="0"/>
                <a:ea typeface="Cambria" pitchFamily="34" charset="-122"/>
                <a:cs typeface="Cambria" pitchFamily="34" charset="-120"/>
              </a:rPr>
              <a:t>34</a:t>
            </a:r>
            <a:endParaRPr lang="en-US" sz="3200" dirty="0"/>
          </a:p>
        </p:txBody>
      </p:sp>
      <p:sp>
        <p:nvSpPr>
          <p:cNvPr id="44" name="stat-label-r2"/>
          <p:cNvSpPr txBox="1"/>
          <p:nvPr/>
        </p:nvSpPr>
        <p:spPr>
          <a:xfrm>
            <a:off x="2926080" y="4773168"/>
            <a:ext cx="2011680" cy="274320"/>
          </a:xfrm>
          <a:prstGeom prst="rect">
            <a:avLst/>
          </a:prstGeom>
          <a:noFill/>
          <a:ln/>
        </p:spPr>
        <p:txBody>
          <a:bodyPr wrap="square" lIns="0" tIns="0" rIns="0" bIns="0" rtlCol="0" anchor="ctr"/>
          <a:lstStyle/>
          <a:p>
            <a:pPr indent="0" marL="0">
              <a:buNone/>
            </a:pPr>
            <a:r>
              <a:rPr lang="en-US" sz="1000" b="1" spc="140" kern="0" dirty="0">
                <a:solidFill>
                  <a:srgbClr val="6B8086"/>
                </a:solidFill>
              </a:rPr>
              <a:t>API ENDPOINTS</a:t>
            </a:r>
            <a:endParaRPr lang="en-US" sz="1000" dirty="0"/>
          </a:p>
        </p:txBody>
      </p:sp>
      <p:sp>
        <p:nvSpPr>
          <p:cNvPr id="45" name="stat-note-r2"/>
          <p:cNvSpPr txBox="1"/>
          <p:nvPr/>
        </p:nvSpPr>
        <p:spPr>
          <a:xfrm>
            <a:off x="2926080" y="5047488"/>
            <a:ext cx="2011680" cy="566928"/>
          </a:xfrm>
          <a:prstGeom prst="rect">
            <a:avLst/>
          </a:prstGeom>
          <a:noFill/>
          <a:ln/>
        </p:spPr>
        <p:txBody>
          <a:bodyPr wrap="square" lIns="0" tIns="0" rIns="0" bIns="0" rtlCol="0" anchor="t"/>
          <a:lstStyle/>
          <a:p>
            <a:pPr indent="0" marL="0">
              <a:buNone/>
            </a:pPr>
            <a:r>
              <a:rPr lang="en-US" sz="1100" dirty="0">
                <a:solidFill>
                  <a:srgbClr val="55676C"/>
                </a:solidFill>
              </a:rPr>
              <a:t>every figure on screen is</a:t>
            </a:r>
            <a:endParaRPr lang="en-US" sz="1100" dirty="0"/>
          </a:p>
          <a:p>
            <a:pPr indent="0" marL="0">
              <a:buNone/>
            </a:pPr>
            <a:r>
              <a:rPr lang="en-US" sz="1100" dirty="0">
                <a:solidFill>
                  <a:srgbClr val="55676C"/>
                </a:solidFill>
              </a:rPr>
              <a:t>server-computed and traceable</a:t>
            </a:r>
            <a:endParaRPr lang="en-US" sz="1100" dirty="0"/>
          </a:p>
        </p:txBody>
      </p:sp>
      <p:sp>
        <p:nvSpPr>
          <p:cNvPr id="46" name="stat-value-r3"/>
          <p:cNvSpPr txBox="1"/>
          <p:nvPr/>
        </p:nvSpPr>
        <p:spPr>
          <a:xfrm>
            <a:off x="5166360" y="4041648"/>
            <a:ext cx="2011680" cy="713232"/>
          </a:xfrm>
          <a:prstGeom prst="rect">
            <a:avLst/>
          </a:prstGeom>
          <a:noFill/>
          <a:ln/>
        </p:spPr>
        <p:txBody>
          <a:bodyPr wrap="square" lIns="0" tIns="0" rIns="0" bIns="0" rtlCol="0" anchor="b"/>
          <a:lstStyle/>
          <a:p>
            <a:pPr algn="l" indent="0" marL="0">
              <a:buNone/>
            </a:pPr>
            <a:r>
              <a:rPr lang="en-US" sz="3200" b="1" dirty="0">
                <a:solidFill>
                  <a:schemeClr val="accent1"/>
                </a:solidFill>
                <a:latin typeface="Cambria" pitchFamily="34" charset="0"/>
                <a:ea typeface="Cambria" pitchFamily="34" charset="-122"/>
                <a:cs typeface="Cambria" pitchFamily="34" charset="-120"/>
              </a:rPr>
              <a:t>8</a:t>
            </a:r>
            <a:endParaRPr lang="en-US" sz="3200" dirty="0"/>
          </a:p>
        </p:txBody>
      </p:sp>
      <p:sp>
        <p:nvSpPr>
          <p:cNvPr id="47" name="stat-label-r3"/>
          <p:cNvSpPr txBox="1"/>
          <p:nvPr/>
        </p:nvSpPr>
        <p:spPr>
          <a:xfrm>
            <a:off x="5166360" y="4773168"/>
            <a:ext cx="2011680" cy="274320"/>
          </a:xfrm>
          <a:prstGeom prst="rect">
            <a:avLst/>
          </a:prstGeom>
          <a:noFill/>
          <a:ln/>
        </p:spPr>
        <p:txBody>
          <a:bodyPr wrap="square" lIns="0" tIns="0" rIns="0" bIns="0" rtlCol="0" anchor="ctr"/>
          <a:lstStyle/>
          <a:p>
            <a:pPr indent="0" marL="0">
              <a:buNone/>
            </a:pPr>
            <a:r>
              <a:rPr lang="en-US" sz="1000" b="1" spc="140" kern="0" dirty="0">
                <a:solidFill>
                  <a:srgbClr val="6B8086"/>
                </a:solidFill>
              </a:rPr>
              <a:t>OPERATING SCREENS</a:t>
            </a:r>
            <a:endParaRPr lang="en-US" sz="1000" dirty="0"/>
          </a:p>
        </p:txBody>
      </p:sp>
      <p:sp>
        <p:nvSpPr>
          <p:cNvPr id="48" name="stat-note-r3"/>
          <p:cNvSpPr txBox="1"/>
          <p:nvPr/>
        </p:nvSpPr>
        <p:spPr>
          <a:xfrm>
            <a:off x="5166360" y="5047488"/>
            <a:ext cx="2011680" cy="566928"/>
          </a:xfrm>
          <a:prstGeom prst="rect">
            <a:avLst/>
          </a:prstGeom>
          <a:noFill/>
          <a:ln/>
        </p:spPr>
        <p:txBody>
          <a:bodyPr wrap="square" lIns="0" tIns="0" rIns="0" bIns="0" rtlCol="0" anchor="t"/>
          <a:lstStyle/>
          <a:p>
            <a:pPr indent="0" marL="0">
              <a:buNone/>
            </a:pPr>
            <a:r>
              <a:rPr lang="en-US" sz="1100" dirty="0">
                <a:solidFill>
                  <a:srgbClr val="55676C"/>
                </a:solidFill>
              </a:rPr>
              <a:t>command, forecast, decisions,</a:t>
            </a:r>
            <a:endParaRPr lang="en-US" sz="1100" dirty="0"/>
          </a:p>
          <a:p>
            <a:pPr indent="0" marL="0">
              <a:buNone/>
            </a:pPr>
            <a:r>
              <a:rPr lang="en-US" sz="1100" dirty="0">
                <a:solidFill>
                  <a:srgbClr val="55676C"/>
                </a:solidFill>
              </a:rPr>
              <a:t>water, impact, evidence, audit</a:t>
            </a:r>
            <a:endParaRPr lang="en-US" sz="1100" dirty="0"/>
          </a:p>
        </p:txBody>
      </p:sp>
      <p:sp>
        <p:nvSpPr>
          <p:cNvPr id="49" name="stat-value-r4"/>
          <p:cNvSpPr txBox="1"/>
          <p:nvPr/>
        </p:nvSpPr>
        <p:spPr>
          <a:xfrm>
            <a:off x="7406640" y="4041648"/>
            <a:ext cx="2011680" cy="713232"/>
          </a:xfrm>
          <a:prstGeom prst="rect">
            <a:avLst/>
          </a:prstGeom>
          <a:noFill/>
          <a:ln/>
        </p:spPr>
        <p:txBody>
          <a:bodyPr wrap="square" lIns="0" tIns="0" rIns="0" bIns="0" rtlCol="0" anchor="b"/>
          <a:lstStyle/>
          <a:p>
            <a:pPr algn="l" indent="0" marL="0">
              <a:buNone/>
            </a:pPr>
            <a:r>
              <a:rPr lang="en-US" sz="3200" b="1" dirty="0">
                <a:solidFill>
                  <a:srgbClr val="B23A2B"/>
                </a:solidFill>
                <a:latin typeface="Cambria" pitchFamily="34" charset="0"/>
                <a:ea typeface="Cambria" pitchFamily="34" charset="-122"/>
                <a:cs typeface="Cambria" pitchFamily="34" charset="-120"/>
              </a:rPr>
              <a:t>5</a:t>
            </a:r>
            <a:endParaRPr lang="en-US" sz="3200" dirty="0"/>
          </a:p>
        </p:txBody>
      </p:sp>
      <p:sp>
        <p:nvSpPr>
          <p:cNvPr id="50" name="stat-label-r4"/>
          <p:cNvSpPr txBox="1"/>
          <p:nvPr/>
        </p:nvSpPr>
        <p:spPr>
          <a:xfrm>
            <a:off x="7406640" y="4773168"/>
            <a:ext cx="2011680" cy="274320"/>
          </a:xfrm>
          <a:prstGeom prst="rect">
            <a:avLst/>
          </a:prstGeom>
          <a:noFill/>
          <a:ln/>
        </p:spPr>
        <p:txBody>
          <a:bodyPr wrap="square" lIns="0" tIns="0" rIns="0" bIns="0" rtlCol="0" anchor="ctr"/>
          <a:lstStyle/>
          <a:p>
            <a:pPr indent="0" marL="0">
              <a:buNone/>
            </a:pPr>
            <a:r>
              <a:rPr lang="en-US" sz="1000" b="1" spc="140" kern="0" dirty="0">
                <a:solidFill>
                  <a:srgbClr val="6B8086"/>
                </a:solidFill>
              </a:rPr>
              <a:t>FAULT MODES TESTED</a:t>
            </a:r>
            <a:endParaRPr lang="en-US" sz="1000" dirty="0"/>
          </a:p>
        </p:txBody>
      </p:sp>
      <p:sp>
        <p:nvSpPr>
          <p:cNvPr id="51" name="stat-note-r4"/>
          <p:cNvSpPr txBox="1"/>
          <p:nvPr/>
        </p:nvSpPr>
        <p:spPr>
          <a:xfrm>
            <a:off x="7406640" y="5047488"/>
            <a:ext cx="2011680" cy="566928"/>
          </a:xfrm>
          <a:prstGeom prst="rect">
            <a:avLst/>
          </a:prstGeom>
          <a:noFill/>
          <a:ln/>
        </p:spPr>
        <p:txBody>
          <a:bodyPr wrap="square" lIns="0" tIns="0" rIns="0" bIns="0" rtlCol="0" anchor="t"/>
          <a:lstStyle/>
          <a:p>
            <a:pPr indent="0" marL="0">
              <a:buNone/>
            </a:pPr>
            <a:r>
              <a:rPr lang="en-US" sz="1100" dirty="0">
                <a:solidFill>
                  <a:srgbClr val="55676C"/>
                </a:solidFill>
              </a:rPr>
              <a:t>each must force lockout</a:t>
            </a:r>
            <a:endParaRPr lang="en-US" sz="1100" dirty="0"/>
          </a:p>
          <a:p>
            <a:pPr indent="0" marL="0">
              <a:buNone/>
            </a:pPr>
            <a:r>
              <a:rPr lang="en-US" sz="1100" dirty="0">
                <a:solidFill>
                  <a:srgbClr val="55676C"/>
                </a:solidFill>
              </a:rPr>
              <a:t>and credit exactly zero</a:t>
            </a:r>
            <a:endParaRPr lang="en-US" sz="1100" dirty="0"/>
          </a:p>
        </p:txBody>
      </p:sp>
      <p:sp>
        <p:nvSpPr>
          <p:cNvPr id="52" name="stat-value-r5"/>
          <p:cNvSpPr txBox="1"/>
          <p:nvPr/>
        </p:nvSpPr>
        <p:spPr>
          <a:xfrm>
            <a:off x="9646920" y="4041648"/>
            <a:ext cx="1828800" cy="713232"/>
          </a:xfrm>
          <a:prstGeom prst="rect">
            <a:avLst/>
          </a:prstGeom>
          <a:noFill/>
          <a:ln/>
        </p:spPr>
        <p:txBody>
          <a:bodyPr wrap="square" lIns="0" tIns="0" rIns="0" bIns="0" rtlCol="0" anchor="b"/>
          <a:lstStyle/>
          <a:p>
            <a:pPr algn="l" indent="0" marL="0">
              <a:buNone/>
            </a:pPr>
            <a:r>
              <a:rPr lang="en-US" sz="3200" b="1" dirty="0">
                <a:solidFill>
                  <a:srgbClr val="B98A2E"/>
                </a:solidFill>
                <a:latin typeface="Cambria" pitchFamily="34" charset="0"/>
                <a:ea typeface="Cambria" pitchFamily="34" charset="-122"/>
                <a:cs typeface="Cambria" pitchFamily="34" charset="-120"/>
              </a:rPr>
              <a:t>0</a:t>
            </a:r>
            <a:endParaRPr lang="en-US" sz="3200" dirty="0"/>
          </a:p>
        </p:txBody>
      </p:sp>
      <p:sp>
        <p:nvSpPr>
          <p:cNvPr id="53" name="stat-label-r5"/>
          <p:cNvSpPr txBox="1"/>
          <p:nvPr/>
        </p:nvSpPr>
        <p:spPr>
          <a:xfrm>
            <a:off x="9646920" y="4773168"/>
            <a:ext cx="1828800" cy="274320"/>
          </a:xfrm>
          <a:prstGeom prst="rect">
            <a:avLst/>
          </a:prstGeom>
          <a:noFill/>
          <a:ln/>
        </p:spPr>
        <p:txBody>
          <a:bodyPr wrap="square" lIns="0" tIns="0" rIns="0" bIns="0" rtlCol="0" anchor="ctr"/>
          <a:lstStyle/>
          <a:p>
            <a:pPr indent="0" marL="0">
              <a:buNone/>
            </a:pPr>
            <a:r>
              <a:rPr lang="en-US" sz="1000" b="1" spc="140" kern="0" dirty="0">
                <a:solidFill>
                  <a:srgbClr val="6B8086"/>
                </a:solidFill>
              </a:rPr>
              <a:t>MEASURED COEFFICIENTS</a:t>
            </a:r>
            <a:endParaRPr lang="en-US" sz="1000" dirty="0"/>
          </a:p>
        </p:txBody>
      </p:sp>
      <p:sp>
        <p:nvSpPr>
          <p:cNvPr id="54" name="stat-note-r5"/>
          <p:cNvSpPr txBox="1"/>
          <p:nvPr/>
        </p:nvSpPr>
        <p:spPr>
          <a:xfrm>
            <a:off x="9646920" y="5047488"/>
            <a:ext cx="1828800" cy="566928"/>
          </a:xfrm>
          <a:prstGeom prst="rect">
            <a:avLst/>
          </a:prstGeom>
          <a:noFill/>
          <a:ln/>
        </p:spPr>
        <p:txBody>
          <a:bodyPr wrap="square" lIns="0" tIns="0" rIns="0" bIns="0" rtlCol="0" anchor="t"/>
          <a:lstStyle/>
          <a:p>
            <a:pPr indent="0" marL="0">
              <a:buNone/>
            </a:pPr>
            <a:r>
              <a:rPr lang="en-US" sz="1100" dirty="0">
                <a:solidFill>
                  <a:srgbClr val="55676C"/>
                </a:solidFill>
              </a:rPr>
              <a:t>enforced by a test, because</a:t>
            </a:r>
            <a:endParaRPr lang="en-US" sz="1100" dirty="0"/>
          </a:p>
          <a:p>
            <a:pPr indent="0" marL="0">
              <a:buNone/>
            </a:pPr>
            <a:r>
              <a:rPr lang="en-US" sz="1100" dirty="0">
                <a:solidFill>
                  <a:srgbClr val="55676C"/>
                </a:solidFill>
              </a:rPr>
              <a:t>nothing here is metered yet</a:t>
            </a:r>
            <a:endParaRPr lang="en-US" sz="1100" dirty="0"/>
          </a:p>
        </p:txBody>
      </p:sp>
      <p:sp>
        <p:nvSpPr>
          <p:cNvPr id="55" name="attack"/>
          <p:cNvSpPr txBox="1"/>
          <p:nvPr/>
        </p:nvSpPr>
        <p:spPr>
          <a:xfrm>
            <a:off x="685800" y="5779008"/>
            <a:ext cx="10789920" cy="457200"/>
          </a:xfrm>
          <a:prstGeom prst="rect">
            <a:avLst/>
          </a:prstGeom>
          <a:noFill/>
          <a:ln/>
        </p:spPr>
        <p:txBody>
          <a:bodyPr wrap="square" lIns="0" tIns="0" rIns="0" bIns="0" rtlCol="0" anchor="t"/>
          <a:lstStyle/>
          <a:p>
            <a:pPr indent="0" marL="0">
              <a:buNone/>
            </a:pPr>
            <a:r>
              <a:rPr lang="en-US" sz="1200" dirty="0">
                <a:solidFill>
                  <a:srgbClr val="44555A"/>
                </a:solidFill>
              </a:rPr>
              <a:t>Attack it live: inject a probe fault and release is refused at the gate and again at the API, the refusal is written to the ledger, and the credited saving stays at zero. Edit a ledger row by hand and the chain names exactly which record broke.</a:t>
            </a:r>
            <a:endParaRPr lang="en-US" sz="1200" dirty="0"/>
          </a:p>
        </p:txBody>
      </p:sp>
      <p:sp>
        <p:nvSpPr>
          <p:cNvPr id="57" name="Text 1"/>
          <p:cNvSpPr/>
          <p:nvPr>
            <p:ph idx="104" type="chart" hasCustomPrompt="1"/>
          </p:nvPr>
        </p:nvSpPr>
        <p:spPr>
          <a:xfrm>
            <a:off x="685800" y="2240280"/>
            <a:ext cx="10789920" cy="3931920"/>
          </a:xfrm>
          <a:prstGeom prst="rect">
            <a:avLst/>
          </a:prstGeom>
          <a:noFill/>
          <a:ln/>
        </p:spPr>
        <p:txBody>
          <a:bodyPr wrap="square" rtlCol="0"/>
          <a:lstStyle/>
          <a:p>
            <a:pPr indent="0" marL="0">
              <a:buNone/>
            </a:pPr>
            <a:endParaRPr lang="en-US" dirty="0"/>
          </a:p>
        </p:txBody>
      </p:sp>
      <p:sp>
        <p:nvSpPr>
          <p:cNvPr id="25" name="Slide Number Placeholder 0"/>
          <p:cNvSpPr>
            <a:spLocks noGrp="1"/>
          </p:cNvSpPr>
          <p:nvPr>
            <p:ph type="sldNum" sz="quarter" idx="4294967295"/>
          </p:nvPr>
        </p:nvSpPr>
        <p:spPr>
          <a:xfrm>
            <a:off x="114757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AAAAE"/>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384048"/>
            <a:ext cx="10789920" cy="274320"/>
          </a:xfrm>
          <a:prstGeom prst="rect">
            <a:avLst/>
          </a:prstGeom>
          <a:noFill/>
          <a:ln/>
        </p:spPr>
        <p:txBody>
          <a:bodyPr wrap="square" rtlCol="0"/>
          <a:lstStyle/>
          <a:p>
            <a:pPr indent="0" marL="0">
              <a:buNone/>
            </a:pPr>
            <a:r>
              <a:rPr lang="en-US" sz="1100" b="1" spc="200" kern="0" dirty="0">
                <a:solidFill>
                  <a:srgbClr val="1A6B7C"/>
                </a:solidFill>
              </a:rPr>
              <a:t>HOW WE CHECKED A MODEL WITH NO METERS</a:t>
            </a:r>
            <a:endParaRPr lang="en-US" sz="1100" dirty="0"/>
          </a:p>
        </p:txBody>
      </p:sp>
      <p:sp>
        <p:nvSpPr>
          <p:cNvPr id="3" name="Text 0"/>
          <p:cNvSpPr/>
          <p:nvPr>
            <p:ph idx="101" type="title" hasCustomPrompt="1"/>
          </p:nvPr>
        </p:nvSpPr>
        <p:spPr>
          <a:xfrm>
            <a:off x="685800" y="658368"/>
            <a:ext cx="10789920" cy="932688"/>
          </a:xfrm>
          <a:prstGeom prst="rect">
            <a:avLst/>
          </a:prstGeom>
          <a:noFill/>
          <a:ln/>
        </p:spPr>
        <p:txBody>
          <a:bodyPr wrap="square" rtlCol="0" anchor="t"/>
          <a:lstStyle/>
          <a:p>
            <a:pPr algn="l" indent="0" marL="0">
              <a:buNone/>
            </a:pPr>
            <a:r>
              <a:rPr lang="en-US" sz="3100" b="1" dirty="0">
                <a:solidFill>
                  <a:srgbClr val="0E2127"/>
                </a:solidFill>
              </a:rPr>
              <a:t>Fed real plant data, it predicts what real plants report</a:t>
            </a:r>
            <a:endParaRPr lang="en-US" sz="3100" dirty="0"/>
          </a:p>
        </p:txBody>
      </p:sp>
      <p:sp>
        <p:nvSpPr>
          <p:cNvPr id="4" name="Text 0"/>
          <p:cNvSpPr/>
          <p:nvPr>
            <p:ph idx="102" type="body" hasCustomPrompt="1"/>
          </p:nvPr>
        </p:nvSpPr>
        <p:spPr>
          <a:xfrm>
            <a:off x="685800" y="1664208"/>
            <a:ext cx="10332720" cy="548640"/>
          </a:xfrm>
          <a:prstGeom prst="rect">
            <a:avLst/>
          </a:prstGeom>
          <a:noFill/>
          <a:ln/>
        </p:spPr>
        <p:txBody>
          <a:bodyPr wrap="square" rtlCol="0" anchor="t"/>
          <a:lstStyle/>
          <a:p>
            <a:pPr algn="l" indent="0" marL="0">
              <a:buNone/>
            </a:pPr>
            <a:r>
              <a:rPr lang="en-US" sz="1450" dirty="0">
                <a:solidFill>
                  <a:srgbClr val="44555A"/>
                </a:solidFill>
              </a:rPr>
              <a:t>We have measured nothing, and we say so on every screen. But a model with no measurements can still be falsified — by asking whether its OUTPUTS land where real plants actually sit.</a:t>
            </a:r>
            <a:endParaRPr lang="en-US" sz="1450" dirty="0"/>
          </a:p>
        </p:txBody>
      </p:sp>
      <p:sp>
        <p:nvSpPr>
          <p:cNvPr id="5" name="card-v-a"/>
          <p:cNvSpPr/>
          <p:nvPr/>
        </p:nvSpPr>
        <p:spPr>
          <a:xfrm>
            <a:off x="685800" y="2249424"/>
            <a:ext cx="5230368" cy="1060704"/>
          </a:xfrm>
          <a:prstGeom prst="roundRect">
            <a:avLst>
              <a:gd name="adj" fmla="val 3448"/>
            </a:avLst>
          </a:prstGeom>
          <a:solidFill>
            <a:schemeClr val="bg2"/>
          </a:solidFill>
          <a:ln w="9525">
            <a:solidFill>
              <a:srgbClr val="DCE7E9"/>
            </a:solidFill>
            <a:prstDash val="solid"/>
          </a:ln>
        </p:spPr>
      </p:sp>
      <p:sp>
        <p:nvSpPr>
          <p:cNvPr id="6" name="v-ak"/>
          <p:cNvSpPr txBox="1"/>
          <p:nvPr/>
        </p:nvSpPr>
        <p:spPr>
          <a:xfrm>
            <a:off x="886968" y="2377440"/>
            <a:ext cx="4828032" cy="201168"/>
          </a:xfrm>
          <a:prstGeom prst="rect">
            <a:avLst/>
          </a:prstGeom>
          <a:noFill/>
          <a:ln/>
        </p:spPr>
        <p:txBody>
          <a:bodyPr wrap="square" lIns="0" tIns="0" rIns="0" bIns="0" rtlCol="0" anchor="ctr"/>
          <a:lstStyle/>
          <a:p>
            <a:pPr indent="0" marL="0">
              <a:buNone/>
            </a:pPr>
            <a:r>
              <a:rPr lang="en-US" sz="950" b="1" spc="140" kern="0" dirty="0">
                <a:solidFill>
                  <a:srgbClr val="14525F"/>
                </a:solidFill>
              </a:rPr>
              <a:t>FACT ONE · MEASURED BY CPCB</a:t>
            </a:r>
            <a:endParaRPr lang="en-US" sz="950" dirty="0"/>
          </a:p>
        </p:txBody>
      </p:sp>
      <p:sp>
        <p:nvSpPr>
          <p:cNvPr id="7" name="v-ab"/>
          <p:cNvSpPr txBox="1"/>
          <p:nvPr/>
        </p:nvSpPr>
        <p:spPr>
          <a:xfrm>
            <a:off x="886968" y="2606040"/>
            <a:ext cx="4828032" cy="621792"/>
          </a:xfrm>
          <a:prstGeom prst="rect">
            <a:avLst/>
          </a:prstGeom>
          <a:noFill/>
          <a:ln/>
        </p:spPr>
        <p:txBody>
          <a:bodyPr wrap="square" lIns="0" tIns="0" rIns="0" bIns="0" rtlCol="0" anchor="t"/>
          <a:lstStyle/>
          <a:p>
            <a:pPr indent="0" marL="0">
              <a:buNone/>
            </a:pPr>
            <a:r>
              <a:rPr lang="en-US" sz="1200" dirty="0">
                <a:solidFill>
                  <a:srgbClr val="33474C"/>
                </a:solidFill>
              </a:rPr>
              <a:t>18,340 mg/L of dissolved solids entering the evaporator at an assessed Tirupur dyeing unit.</a:t>
            </a:r>
            <a:endParaRPr lang="en-US" sz="1200" dirty="0"/>
          </a:p>
        </p:txBody>
      </p:sp>
      <p:sp>
        <p:nvSpPr>
          <p:cNvPr id="8" name="card-v-b"/>
          <p:cNvSpPr/>
          <p:nvPr/>
        </p:nvSpPr>
        <p:spPr>
          <a:xfrm>
            <a:off x="6245352" y="2249424"/>
            <a:ext cx="5230368" cy="1060704"/>
          </a:xfrm>
          <a:prstGeom prst="roundRect">
            <a:avLst>
              <a:gd name="adj" fmla="val 3448"/>
            </a:avLst>
          </a:prstGeom>
          <a:solidFill>
            <a:schemeClr val="bg2"/>
          </a:solidFill>
          <a:ln w="9525">
            <a:solidFill>
              <a:srgbClr val="DCE7E9"/>
            </a:solidFill>
            <a:prstDash val="solid"/>
          </a:ln>
        </p:spPr>
      </p:sp>
      <p:sp>
        <p:nvSpPr>
          <p:cNvPr id="9" name="v-bk"/>
          <p:cNvSpPr txBox="1"/>
          <p:nvPr/>
        </p:nvSpPr>
        <p:spPr>
          <a:xfrm>
            <a:off x="6446520" y="2377440"/>
            <a:ext cx="4828032" cy="201168"/>
          </a:xfrm>
          <a:prstGeom prst="rect">
            <a:avLst/>
          </a:prstGeom>
          <a:noFill/>
          <a:ln/>
        </p:spPr>
        <p:txBody>
          <a:bodyPr wrap="square" lIns="0" tIns="0" rIns="0" bIns="0" rtlCol="0" anchor="ctr"/>
          <a:lstStyle/>
          <a:p>
            <a:pPr indent="0" marL="0">
              <a:buNone/>
            </a:pPr>
            <a:r>
              <a:rPr lang="en-US" sz="950" b="1" spc="140" kern="0" dirty="0">
                <a:solidFill>
                  <a:srgbClr val="14525F"/>
                </a:solidFill>
              </a:rPr>
              <a:t>FACT TWO · REPORTED BY OPERATORS</a:t>
            </a:r>
            <a:endParaRPr lang="en-US" sz="950" dirty="0"/>
          </a:p>
        </p:txBody>
      </p:sp>
      <p:sp>
        <p:nvSpPr>
          <p:cNvPr id="10" name="v-bb"/>
          <p:cNvSpPr txBox="1"/>
          <p:nvPr/>
        </p:nvSpPr>
        <p:spPr>
          <a:xfrm>
            <a:off x="6446520" y="2606040"/>
            <a:ext cx="4828032" cy="621792"/>
          </a:xfrm>
          <a:prstGeom prst="rect">
            <a:avLst/>
          </a:prstGeom>
          <a:noFill/>
          <a:ln/>
        </p:spPr>
        <p:txBody>
          <a:bodyPr wrap="square" lIns="0" tIns="0" rIns="0" bIns="0" rtlCol="0" anchor="t"/>
          <a:lstStyle/>
          <a:p>
            <a:pPr indent="0" marL="0">
              <a:buNone/>
            </a:pPr>
            <a:r>
              <a:rPr lang="en-US" sz="1200" dirty="0">
                <a:solidFill>
                  <a:srgbClr val="33474C"/>
                </a:solidFill>
              </a:rPr>
              <a:t>RO reject runs at 20 to 30 percent of inlet volume across Indian textile ZLD plants.</a:t>
            </a:r>
            <a:endParaRPr lang="en-US" sz="1200" dirty="0"/>
          </a:p>
        </p:txBody>
      </p:sp>
      <p:sp>
        <p:nvSpPr>
          <p:cNvPr id="11" name="v-bridge"/>
          <p:cNvSpPr txBox="1"/>
          <p:nvPr/>
        </p:nvSpPr>
        <p:spPr>
          <a:xfrm>
            <a:off x="685800" y="3419856"/>
            <a:ext cx="10789920" cy="274320"/>
          </a:xfrm>
          <a:prstGeom prst="rect">
            <a:avLst/>
          </a:prstGeom>
          <a:noFill/>
          <a:ln/>
        </p:spPr>
        <p:txBody>
          <a:bodyPr wrap="square" lIns="0" tIns="0" rIns="0" bIns="0" rtlCol="0" anchor="ctr"/>
          <a:lstStyle/>
          <a:p>
            <a:pPr indent="0" marL="0">
              <a:buNone/>
            </a:pPr>
            <a:r>
              <a:rPr lang="en-US" sz="1250" b="1" dirty="0">
                <a:solidFill>
                  <a:srgbClr val="0E2127"/>
                </a:solidFill>
                <a:latin typeface="Cambria" pitchFamily="34" charset="0"/>
                <a:ea typeface="Cambria" pitchFamily="34" charset="-122"/>
                <a:cs typeface="Cambria" pitchFamily="34" charset="-120"/>
              </a:rPr>
              <a:t>Different sources. Neither one is an input to our engine. So we feed it the first and check whether it predicts the second.</a:t>
            </a:r>
            <a:endParaRPr lang="en-US" sz="1250" dirty="0"/>
          </a:p>
        </p:txBody>
      </p:sp>
      <p:graphicFrame>
        <p:nvGraphicFramePr>
          <p:cNvPr id="15" name="v-table"/>
          <p:cNvGraphicFramePr>
            <a:graphicFrameLocks noGrp="1"/>
          </p:cNvGraphicFramePr>
          <p:nvPr>
            <p:extLst>
              <p:ext uri="{D42A27DB-BD31-4B8C-83A1-F6EECF244321}">
                <p14:modId xmlns:p14="http://schemas.microsoft.com/office/powerpoint/2010/main" val="1579011935"/>
              </p:ext>
            </p:extLst>
          </p:nvPr>
        </p:nvGraphicFramePr>
        <p:xfrm>
          <a:off x="685800" y="3767328"/>
          <a:ext cx="10789920" cy="914400"/>
        </p:xfrm>
        <a:graphic>
          <a:graphicData uri="http://schemas.openxmlformats.org/drawingml/2006/table">
            <a:tbl>
              <a:tblPr/>
              <a:tblGrid>
                <a:gridCol w="1920240"/>
                <a:gridCol w="5029200"/>
                <a:gridCol w="1920240"/>
                <a:gridCol w="1920240"/>
              </a:tblGrid>
              <a:tr h="0">
                <a:tc>
                  <a:txBody>
                    <a:bodyPr/>
                    <a:lstStyle/>
                    <a:p>
                      <a:pPr algn="l" indent="0" marL="0">
                        <a:buNone/>
                      </a:pPr>
                      <a:r>
                        <a:rPr lang="en-US" sz="1000" b="1" spc="100" kern="0" dirty="0">
                          <a:solidFill>
                            <a:srgbClr val="6B8086"/>
                          </a:solidFill>
                          <a:latin typeface="Calibri" pitchFamily="34" charset="0"/>
                          <a:ea typeface="Calibri" pitchFamily="34" charset="-122"/>
                          <a:cs typeface="Calibri" pitchFamily="34" charset="-120"/>
                        </a:rPr>
                        <a:t>INLET TDS FED IN</a:t>
                      </a:r>
                      <a:endParaRPr lang="en-US" sz="1000" dirty="0">
                        <a:latin typeface="Calibri" charset="0"/>
                        <a:ea typeface="Calibri" charset="0"/>
                        <a:cs typeface="Calibri" charset="0"/>
                      </a:endParaRPr>
                    </a:p>
                  </a:txBody>
                  <a:tcPr marL="0" marR="76200" marT="76200" marB="762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2700" cap="flat" cmpd="sng" algn="ctr">
                      <a:solidFill>
                        <a:srgbClr val="C3D3D6"/>
                      </a:solidFill>
                      <a:prstDash val="solid"/>
                      <a:round/>
                      <a:headEnd type="none" w="med" len="med"/>
                      <a:tailEnd type="none" w="med" len="med"/>
                    </a:lnB>
                    <a:solidFill>
                      <a:srgbClr val="FFFFFF"/>
                    </a:solidFill>
                  </a:tcPr>
                </a:tc>
                <a:tc>
                  <a:txBody>
                    <a:bodyPr/>
                    <a:lstStyle/>
                    <a:p>
                      <a:pPr algn="l" indent="0" marL="0">
                        <a:buNone/>
                      </a:pPr>
                      <a:r>
                        <a:rPr lang="en-US" sz="1000" b="1" spc="100" kern="0" dirty="0">
                          <a:solidFill>
                            <a:srgbClr val="6B8086"/>
                          </a:solidFill>
                          <a:latin typeface="Calibri" pitchFamily="34" charset="0"/>
                          <a:ea typeface="Calibri" pitchFamily="34" charset="-122"/>
                          <a:cs typeface="Calibri" pitchFamily="34" charset="-120"/>
                        </a:rPr>
                        <a:t>WHAT THAT NUMBER IS</a:t>
                      </a:r>
                      <a:endParaRPr lang="en-US" sz="1000" dirty="0">
                        <a:latin typeface="Calibri" charset="0"/>
                        <a:ea typeface="Calibri" charset="0"/>
                        <a:cs typeface="Calibri" charset="0"/>
                      </a:endParaRPr>
                    </a:p>
                  </a:txBody>
                  <a:tcPr marL="0" marR="76200" marT="76200" marB="762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2700" cap="flat" cmpd="sng" algn="ctr">
                      <a:solidFill>
                        <a:srgbClr val="C3D3D6"/>
                      </a:solidFill>
                      <a:prstDash val="solid"/>
                      <a:round/>
                      <a:headEnd type="none" w="med" len="med"/>
                      <a:tailEnd type="none" w="med" len="med"/>
                    </a:lnB>
                    <a:solidFill>
                      <a:srgbClr val="FFFFFF"/>
                    </a:solidFill>
                  </a:tcPr>
                </a:tc>
                <a:tc>
                  <a:txBody>
                    <a:bodyPr/>
                    <a:lstStyle/>
                    <a:p>
                      <a:pPr algn="r" indent="0" marL="0">
                        <a:buNone/>
                      </a:pPr>
                      <a:r>
                        <a:rPr lang="en-US" sz="1000" b="1" spc="100" kern="0" dirty="0">
                          <a:solidFill>
                            <a:srgbClr val="6B8086"/>
                          </a:solidFill>
                          <a:latin typeface="Calibri" pitchFamily="34" charset="0"/>
                          <a:ea typeface="Calibri" pitchFamily="34" charset="-122"/>
                          <a:cs typeface="Calibri" pitchFamily="34" charset="-120"/>
                        </a:rPr>
                        <a:t>MODEL PREDICTS</a:t>
                      </a:r>
                      <a:endParaRPr lang="en-US" sz="1000" dirty="0">
                        <a:latin typeface="Calibri" charset="0"/>
                        <a:ea typeface="Calibri" charset="0"/>
                        <a:cs typeface="Calibri" charset="0"/>
                      </a:endParaRPr>
                    </a:p>
                  </a:txBody>
                  <a:tcPr marL="0" marR="76200" marT="76200" marB="762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2700" cap="flat" cmpd="sng" algn="ctr">
                      <a:solidFill>
                        <a:srgbClr val="C3D3D6"/>
                      </a:solidFill>
                      <a:prstDash val="solid"/>
                      <a:round/>
                      <a:headEnd type="none" w="med" len="med"/>
                      <a:tailEnd type="none" w="med" len="med"/>
                    </a:lnB>
                    <a:solidFill>
                      <a:srgbClr val="FFFFFF"/>
                    </a:solidFill>
                  </a:tcPr>
                </a:tc>
                <a:tc>
                  <a:txBody>
                    <a:bodyPr/>
                    <a:lstStyle/>
                    <a:p>
                      <a:pPr algn="r" indent="0" marL="0">
                        <a:buNone/>
                      </a:pPr>
                      <a:r>
                        <a:rPr lang="en-US" sz="1000" b="1" spc="100" kern="0" dirty="0">
                          <a:solidFill>
                            <a:srgbClr val="6B8086"/>
                          </a:solidFill>
                          <a:latin typeface="Calibri" pitchFamily="34" charset="0"/>
                          <a:ea typeface="Calibri" pitchFamily="34" charset="-122"/>
                          <a:cs typeface="Calibri" pitchFamily="34" charset="-120"/>
                        </a:rPr>
                        <a:t>VERDICT</a:t>
                      </a:r>
                      <a:endParaRPr lang="en-US" sz="1000" dirty="0">
                        <a:latin typeface="Calibri" charset="0"/>
                        <a:ea typeface="Calibri" charset="0"/>
                        <a:cs typeface="Calibri" charset="0"/>
                      </a:endParaRPr>
                    </a:p>
                  </a:txBody>
                  <a:tcPr marL="0" marR="76200" marT="76200" marB="762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2700" cap="flat" cmpd="sng" algn="ctr">
                      <a:solidFill>
                        <a:srgbClr val="C3D3D6"/>
                      </a:solidFill>
                      <a:prstDash val="solid"/>
                      <a:round/>
                      <a:headEnd type="none" w="med" len="med"/>
                      <a:tailEnd type="none" w="med" len="med"/>
                    </a:lnB>
                    <a:solidFill>
                      <a:srgbClr val="FFFFFF"/>
                    </a:solidFill>
                  </a:tcPr>
                </a:tc>
              </a:tr>
              <a:tr h="0">
                <a:tc>
                  <a:txBody>
                    <a:bodyPr/>
                    <a:lstStyle/>
                    <a:p>
                      <a:pPr algn="l" indent="0" marL="0">
                        <a:buNone/>
                      </a:pPr>
                      <a:r>
                        <a:rPr lang="en-US" sz="1200" b="1" dirty="0">
                          <a:solidFill>
                            <a:srgbClr val="0E2127"/>
                          </a:solidFill>
                          <a:latin typeface="Calibri" pitchFamily="34" charset="0"/>
                          <a:ea typeface="Calibri" pitchFamily="34" charset="-122"/>
                          <a:cs typeface="Calibri" pitchFamily="34" charset="-120"/>
                        </a:rPr>
                        <a:t>12,000 mg/L</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474C"/>
                          </a:solidFill>
                          <a:latin typeface="Calibri" pitchFamily="34" charset="0"/>
                          <a:ea typeface="Calibri" pitchFamily="34" charset="-122"/>
                          <a:cs typeface="Calibri" pitchFamily="34" charset="-120"/>
                        </a:rPr>
                        <a:t>Lower end of observed CETP inlet strength</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3474C"/>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3474C"/>
                          </a:solidFill>
                          <a:latin typeface="Calibri" pitchFamily="34" charset="0"/>
                          <a:ea typeface="Calibri" pitchFamily="34" charset="-122"/>
                          <a:cs typeface="Calibri" pitchFamily="34" charset="-120"/>
                        </a:rPr>
                        <a:t>inside 20–30%</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r>
              <a:tr h="0">
                <a:tc>
                  <a:txBody>
                    <a:bodyPr/>
                    <a:lstStyle/>
                    <a:p>
                      <a:pPr algn="l" indent="0" marL="0">
                        <a:buNone/>
                      </a:pPr>
                      <a:r>
                        <a:rPr lang="en-US" sz="1200" b="1" dirty="0">
                          <a:solidFill>
                            <a:srgbClr val="0E2127"/>
                          </a:solidFill>
                          <a:latin typeface="Calibri" pitchFamily="34" charset="0"/>
                          <a:ea typeface="Calibri" pitchFamily="34" charset="-122"/>
                          <a:cs typeface="Calibri" pitchFamily="34" charset="-120"/>
                        </a:rPr>
                        <a:t>15,000 mg/L</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474C"/>
                          </a:solidFill>
                          <a:latin typeface="Calibri" pitchFamily="34" charset="0"/>
                          <a:ea typeface="Calibri" pitchFamily="34" charset="-122"/>
                          <a:cs typeface="Calibri" pitchFamily="34" charset="-120"/>
                        </a:rPr>
                        <a:t>Midpoint of observed CETP inlet strength</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3474C"/>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3474C"/>
                          </a:solidFill>
                          <a:latin typeface="Calibri" pitchFamily="34" charset="0"/>
                          <a:ea typeface="Calibri" pitchFamily="34" charset="-122"/>
                          <a:cs typeface="Calibri" pitchFamily="34" charset="-120"/>
                        </a:rPr>
                        <a:t>inside 20–30%</a:t>
                      </a:r>
                      <a:endParaRPr lang="en-US" sz="12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0E2127"/>
                          </a:solidFill>
                          <a:latin typeface="Calibri" pitchFamily="34" charset="0"/>
                          <a:ea typeface="Calibri" pitchFamily="34" charset="-122"/>
                          <a:cs typeface="Calibri" pitchFamily="34" charset="-120"/>
                        </a:rPr>
                        <a:t>18,340 mg/L</a:t>
                      </a:r>
                      <a:endParaRPr lang="en-US" sz="13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2F7F3"/>
                    </a:solidFill>
                  </a:tcPr>
                </a:tc>
                <a:tc>
                  <a:txBody>
                    <a:bodyPr/>
                    <a:lstStyle/>
                    <a:p>
                      <a:pPr algn="l" indent="0" marL="0">
                        <a:buNone/>
                      </a:pPr>
                      <a:r>
                        <a:rPr lang="en-US" sz="1300" b="1" dirty="0">
                          <a:solidFill>
                            <a:srgbClr val="33474C"/>
                          </a:solidFill>
                          <a:latin typeface="Calibri" pitchFamily="34" charset="0"/>
                          <a:ea typeface="Calibri" pitchFamily="34" charset="-122"/>
                          <a:cs typeface="Calibri" pitchFamily="34" charset="-120"/>
                        </a:rPr>
                        <a:t>TDS measured by CPCB entering evaporation at an assessed Tirupur unit</a:t>
                      </a:r>
                      <a:endParaRPr lang="en-US" sz="13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2F7F3"/>
                    </a:solidFill>
                  </a:tcPr>
                </a:tc>
                <a:tc>
                  <a:txBody>
                    <a:bodyPr/>
                    <a:lstStyle/>
                    <a:p>
                      <a:pPr algn="r" indent="0" marL="0">
                        <a:buNone/>
                      </a:pPr>
                      <a:r>
                        <a:rPr lang="en-US" sz="1300" b="1" dirty="0">
                          <a:solidFill>
                            <a:srgbClr val="33474C"/>
                          </a:solidFill>
                          <a:latin typeface="Calibri" pitchFamily="34" charset="0"/>
                          <a:ea typeface="Calibri" pitchFamily="34" charset="-122"/>
                          <a:cs typeface="Calibri" pitchFamily="34" charset="-120"/>
                        </a:rPr>
                        <a:t>30.6%</a:t>
                      </a:r>
                      <a:endParaRPr lang="en-US" sz="13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2F7F3"/>
                    </a:solidFill>
                  </a:tcPr>
                </a:tc>
                <a:tc>
                  <a:txBody>
                    <a:bodyPr/>
                    <a:lstStyle/>
                    <a:p>
                      <a:pPr algn="r" indent="0" marL="0">
                        <a:buNone/>
                      </a:pPr>
                      <a:r>
                        <a:rPr lang="en-US" sz="1300" b="1" dirty="0">
                          <a:solidFill>
                            <a:srgbClr val="33474C"/>
                          </a:solidFill>
                          <a:latin typeface="Calibri" pitchFamily="34" charset="0"/>
                          <a:ea typeface="Calibri" pitchFamily="34" charset="-122"/>
                          <a:cs typeface="Calibri" pitchFamily="34" charset="-120"/>
                        </a:rPr>
                        <a:t>inside 20–30%</a:t>
                      </a:r>
                      <a:endParaRPr lang="en-US" sz="1300" dirty="0">
                        <a:latin typeface="Calibri" charset="0"/>
                        <a:ea typeface="Calibri" charset="0"/>
                        <a:cs typeface="Calibri" charset="0"/>
                      </a:endParaRPr>
                    </a:p>
                  </a:txBody>
                  <a:tcPr marL="0" marR="76200" marT="88900" marB="8890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6350" cap="flat" cmpd="sng" algn="ctr">
                      <a:solidFill>
                        <a:srgbClr val="E6EEEF"/>
                      </a:solidFill>
                      <a:prstDash val="solid"/>
                      <a:round/>
                      <a:headEnd type="none" w="med" len="med"/>
                      <a:tailEnd type="none" w="med" len="med"/>
                    </a:lnB>
                    <a:solidFill>
                      <a:srgbClr val="F2F7F3"/>
                    </a:solidFill>
                  </a:tcPr>
                </a:tc>
              </a:tr>
            </a:tbl>
          </a:graphicData>
        </a:graphic>
      </p:graphicFrame>
      <p:sp>
        <p:nvSpPr>
          <p:cNvPr id="13" name="rule-val"/>
          <p:cNvSpPr/>
          <p:nvPr/>
        </p:nvSpPr>
        <p:spPr>
          <a:xfrm>
            <a:off x="685800" y="5230368"/>
            <a:ext cx="10789920" cy="0"/>
          </a:xfrm>
          <a:prstGeom prst="line">
            <a:avLst/>
          </a:prstGeom>
          <a:noFill/>
          <a:ln w="12700">
            <a:solidFill>
              <a:srgbClr val="DCE7E9"/>
            </a:solidFill>
            <a:prstDash val="solid"/>
          </a:ln>
        </p:spPr>
      </p:sp>
      <p:sp>
        <p:nvSpPr>
          <p:cNvPr id="14" name="v-note"/>
          <p:cNvSpPr txBox="1"/>
          <p:nvPr/>
        </p:nvSpPr>
        <p:spPr>
          <a:xfrm>
            <a:off x="685800" y="5376672"/>
            <a:ext cx="6858000" cy="566928"/>
          </a:xfrm>
          <a:prstGeom prst="rect">
            <a:avLst/>
          </a:prstGeom>
          <a:noFill/>
          <a:ln/>
        </p:spPr>
        <p:txBody>
          <a:bodyPr wrap="square" lIns="0" tIns="0" rIns="0" bIns="0" rtlCol="0" anchor="t"/>
          <a:lstStyle/>
          <a:p>
            <a:pPr indent="0" marL="0">
              <a:buNone/>
            </a:pPr>
            <a:r>
              <a:rPr lang="en-US" sz="1200" b="1" dirty="0">
                <a:solidFill>
                  <a:srgbClr val="0E2127"/>
                </a:solidFill>
              </a:rPr>
              <a:t>Nothing is tuned to make this work. </a:t>
            </a:r>
            <a:pPr indent="0" marL="0">
              <a:buNone/>
            </a:pPr>
            <a:r>
              <a:rPr lang="en-US" sz="1200" dirty="0">
                <a:solidFill>
                  <a:srgbClr val="44555A"/>
                </a:solidFill>
              </a:rPr>
              <a:t>The only inputs are conservation of salt mass and the 60,000 mg/L concentration ceiling. The published band is reproduced from floor to ceiling, and a test fails the build if it stops being.</a:t>
            </a:r>
            <a:endParaRPr lang="en-US" sz="1200" dirty="0"/>
          </a:p>
        </p:txBody>
      </p:sp>
      <p:sp>
        <p:nvSpPr>
          <p:cNvPr id="15" name="stat-value-v-s1"/>
          <p:cNvSpPr txBox="1"/>
          <p:nvPr/>
        </p:nvSpPr>
        <p:spPr>
          <a:xfrm>
            <a:off x="8001000" y="4992624"/>
            <a:ext cx="1737360" cy="713232"/>
          </a:xfrm>
          <a:prstGeom prst="rect">
            <a:avLst/>
          </a:prstGeom>
          <a:noFill/>
          <a:ln/>
        </p:spPr>
        <p:txBody>
          <a:bodyPr wrap="square" lIns="0" tIns="0" rIns="0" bIns="0" rtlCol="0" anchor="b"/>
          <a:lstStyle/>
          <a:p>
            <a:pPr algn="l" indent="0" marL="0">
              <a:buNone/>
            </a:pPr>
            <a:r>
              <a:rPr lang="en-US" sz="2900" b="1" dirty="0">
                <a:solidFill>
                  <a:schemeClr val="accent1"/>
                </a:solidFill>
                <a:latin typeface="Cambria" pitchFamily="34" charset="0"/>
                <a:ea typeface="Cambria" pitchFamily="34" charset="-122"/>
                <a:cs typeface="Cambria" pitchFamily="34" charset="-120"/>
              </a:rPr>
              <a:t>21/25</a:t>
            </a:r>
            <a:endParaRPr lang="en-US" sz="2900" dirty="0"/>
          </a:p>
        </p:txBody>
      </p:sp>
      <p:sp>
        <p:nvSpPr>
          <p:cNvPr id="16" name="stat-label-v-s1"/>
          <p:cNvSpPr txBox="1"/>
          <p:nvPr/>
        </p:nvSpPr>
        <p:spPr>
          <a:xfrm>
            <a:off x="8001000" y="5724144"/>
            <a:ext cx="1737360" cy="274320"/>
          </a:xfrm>
          <a:prstGeom prst="rect">
            <a:avLst/>
          </a:prstGeom>
          <a:noFill/>
          <a:ln/>
        </p:spPr>
        <p:txBody>
          <a:bodyPr wrap="square" lIns="0" tIns="0" rIns="0" bIns="0" rtlCol="0" anchor="ctr"/>
          <a:lstStyle/>
          <a:p>
            <a:pPr indent="0" marL="0">
              <a:buNone/>
            </a:pPr>
            <a:r>
              <a:rPr lang="en-US" sz="1000" b="1" spc="140" kern="0" dirty="0">
                <a:solidFill>
                  <a:srgbClr val="6B8086"/>
                </a:solidFill>
              </a:rPr>
              <a:t>COEFFICIENTS SOURCED</a:t>
            </a:r>
            <a:endParaRPr lang="en-US" sz="1000" dirty="0"/>
          </a:p>
        </p:txBody>
      </p:sp>
      <p:sp>
        <p:nvSpPr>
          <p:cNvPr id="17" name="stat-note-v-s1"/>
          <p:cNvSpPr txBox="1"/>
          <p:nvPr/>
        </p:nvSpPr>
        <p:spPr>
          <a:xfrm>
            <a:off x="8001000" y="5998464"/>
            <a:ext cx="1737360" cy="566928"/>
          </a:xfrm>
          <a:prstGeom prst="rect">
            <a:avLst/>
          </a:prstGeom>
          <a:noFill/>
          <a:ln/>
        </p:spPr>
        <p:txBody>
          <a:bodyPr wrap="square" lIns="0" tIns="0" rIns="0" bIns="0" rtlCol="0" anchor="t"/>
          <a:lstStyle/>
          <a:p>
            <a:pPr indent="0" marL="0">
              <a:buNone/>
            </a:pPr>
            <a:r>
              <a:rPr lang="en-US" sz="1100" dirty="0">
                <a:solidFill>
                  <a:srgbClr val="55676C"/>
                </a:solidFill>
              </a:rPr>
              <a:t>CPCB, CEA, TNERC,</a:t>
            </a:r>
            <a:endParaRPr lang="en-US" sz="1100" dirty="0"/>
          </a:p>
          <a:p>
            <a:pPr indent="0" marL="0">
              <a:buNone/>
            </a:pPr>
            <a:r>
              <a:rPr lang="en-US" sz="1100" dirty="0">
                <a:solidFill>
                  <a:srgbClr val="55676C"/>
                </a:solidFill>
              </a:rPr>
              <a:t>pollution board, EU BAT</a:t>
            </a:r>
            <a:endParaRPr lang="en-US" sz="1100" dirty="0"/>
          </a:p>
        </p:txBody>
      </p:sp>
      <p:sp>
        <p:nvSpPr>
          <p:cNvPr id="18" name="stat-value-v-s2"/>
          <p:cNvSpPr txBox="1"/>
          <p:nvPr/>
        </p:nvSpPr>
        <p:spPr>
          <a:xfrm>
            <a:off x="9784080" y="4992624"/>
            <a:ext cx="1737360" cy="713232"/>
          </a:xfrm>
          <a:prstGeom prst="rect">
            <a:avLst/>
          </a:prstGeom>
          <a:noFill/>
          <a:ln/>
        </p:spPr>
        <p:txBody>
          <a:bodyPr wrap="square" lIns="0" tIns="0" rIns="0" bIns="0" rtlCol="0" anchor="b"/>
          <a:lstStyle/>
          <a:p>
            <a:pPr algn="l" indent="0" marL="0">
              <a:buNone/>
            </a:pPr>
            <a:r>
              <a:rPr lang="en-US" sz="2900" b="1" dirty="0">
                <a:solidFill>
                  <a:srgbClr val="B98A2E"/>
                </a:solidFill>
                <a:latin typeface="Cambria" pitchFamily="34" charset="0"/>
                <a:ea typeface="Cambria" pitchFamily="34" charset="-122"/>
                <a:cs typeface="Cambria" pitchFamily="34" charset="-120"/>
              </a:rPr>
              <a:t>0</a:t>
            </a:r>
            <a:endParaRPr lang="en-US" sz="2900" dirty="0"/>
          </a:p>
        </p:txBody>
      </p:sp>
      <p:sp>
        <p:nvSpPr>
          <p:cNvPr id="19" name="stat-label-v-s2"/>
          <p:cNvSpPr txBox="1"/>
          <p:nvPr/>
        </p:nvSpPr>
        <p:spPr>
          <a:xfrm>
            <a:off x="9784080" y="5724144"/>
            <a:ext cx="1737360" cy="274320"/>
          </a:xfrm>
          <a:prstGeom prst="rect">
            <a:avLst/>
          </a:prstGeom>
          <a:noFill/>
          <a:ln/>
        </p:spPr>
        <p:txBody>
          <a:bodyPr wrap="square" lIns="0" tIns="0" rIns="0" bIns="0" rtlCol="0" anchor="ctr"/>
          <a:lstStyle/>
          <a:p>
            <a:pPr indent="0" marL="0">
              <a:buNone/>
            </a:pPr>
            <a:r>
              <a:rPr lang="en-US" sz="1000" b="1" spc="140" kern="0" dirty="0">
                <a:solidFill>
                  <a:srgbClr val="6B8086"/>
                </a:solidFill>
              </a:rPr>
              <a:t>MEASURED</a:t>
            </a:r>
            <a:endParaRPr lang="en-US" sz="1000" dirty="0"/>
          </a:p>
        </p:txBody>
      </p:sp>
      <p:sp>
        <p:nvSpPr>
          <p:cNvPr id="20" name="stat-note-v-s2"/>
          <p:cNvSpPr txBox="1"/>
          <p:nvPr/>
        </p:nvSpPr>
        <p:spPr>
          <a:xfrm>
            <a:off x="9784080" y="5998464"/>
            <a:ext cx="1737360" cy="566928"/>
          </a:xfrm>
          <a:prstGeom prst="rect">
            <a:avLst/>
          </a:prstGeom>
          <a:noFill/>
          <a:ln/>
        </p:spPr>
        <p:txBody>
          <a:bodyPr wrap="square" lIns="0" tIns="0" rIns="0" bIns="0" rtlCol="0" anchor="t"/>
          <a:lstStyle/>
          <a:p>
            <a:pPr indent="0" marL="0">
              <a:buNone/>
            </a:pPr>
            <a:r>
              <a:rPr lang="en-US" sz="1100" dirty="0">
                <a:solidFill>
                  <a:srgbClr val="55676C"/>
                </a:solidFill>
              </a:rPr>
              <a:t>and we will not pretend</a:t>
            </a:r>
            <a:endParaRPr lang="en-US" sz="1100" dirty="0"/>
          </a:p>
          <a:p>
            <a:pPr indent="0" marL="0">
              <a:buNone/>
            </a:pPr>
            <a:r>
              <a:rPr lang="en-US" sz="1100" dirty="0">
                <a:solidFill>
                  <a:srgbClr val="55676C"/>
                </a:solidFill>
              </a:rPr>
              <a:t>otherwise to win a prize</a:t>
            </a:r>
            <a:endParaRPr lang="en-US" sz="1100" dirty="0"/>
          </a:p>
        </p:txBody>
      </p:sp>
      <p:sp>
        <p:nvSpPr>
          <p:cNvPr id="21" name="v-foot"/>
          <p:cNvSpPr txBox="1"/>
          <p:nvPr/>
        </p:nvSpPr>
        <p:spPr>
          <a:xfrm>
            <a:off x="685800" y="6035040"/>
            <a:ext cx="6858000" cy="274320"/>
          </a:xfrm>
          <a:prstGeom prst="rect">
            <a:avLst/>
          </a:prstGeom>
          <a:noFill/>
          <a:ln/>
        </p:spPr>
        <p:txBody>
          <a:bodyPr wrap="square" lIns="0" tIns="0" rIns="0" bIns="0" rtlCol="0" anchor="ctr"/>
          <a:lstStyle/>
          <a:p>
            <a:pPr indent="0" marL="0">
              <a:buNone/>
            </a:pPr>
            <a:r>
              <a:rPr lang="en-US" sz="1100" i="1" dirty="0">
                <a:solidFill>
                  <a:srgbClr val="7B8E93"/>
                </a:solidFill>
              </a:rPr>
              <a:t>This is cross-validation against published operating data. It is not measurement, and we never call it that.</a:t>
            </a:r>
            <a:endParaRPr lang="en-US" sz="1100" dirty="0"/>
          </a:p>
        </p:txBody>
      </p:sp>
      <p:sp>
        <p:nvSpPr>
          <p:cNvPr id="23" name="Text 1"/>
          <p:cNvSpPr/>
          <p:nvPr>
            <p:ph idx="104" type="chart" hasCustomPrompt="1"/>
          </p:nvPr>
        </p:nvSpPr>
        <p:spPr>
          <a:xfrm>
            <a:off x="685800" y="2240280"/>
            <a:ext cx="10789920" cy="3931920"/>
          </a:xfrm>
          <a:prstGeom prst="rect">
            <a:avLst/>
          </a:prstGeom>
          <a:noFill/>
          <a:ln/>
        </p:spPr>
        <p:txBody>
          <a:bodyPr wrap="square" rtlCol="0"/>
          <a:lstStyle/>
          <a:p>
            <a:pPr indent="0" marL="0">
              <a:buNone/>
            </a:pPr>
            <a:endParaRPr lang="en-US" dirty="0"/>
          </a:p>
        </p:txBody>
      </p:sp>
      <p:sp>
        <p:nvSpPr>
          <p:cNvPr id="25" name="Slide Number Placeholder 0"/>
          <p:cNvSpPr>
            <a:spLocks noGrp="1"/>
          </p:cNvSpPr>
          <p:nvPr>
            <p:ph type="sldNum" sz="quarter" idx="4294967295"/>
          </p:nvPr>
        </p:nvSpPr>
        <p:spPr>
          <a:xfrm>
            <a:off x="114757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AAAAE"/>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384048"/>
            <a:ext cx="10789920" cy="274320"/>
          </a:xfrm>
          <a:prstGeom prst="rect">
            <a:avLst/>
          </a:prstGeom>
          <a:noFill/>
          <a:ln/>
        </p:spPr>
        <p:txBody>
          <a:bodyPr wrap="square" rtlCol="0"/>
          <a:lstStyle/>
          <a:p>
            <a:pPr indent="0" marL="0">
              <a:buNone/>
            </a:pPr>
            <a:r>
              <a:rPr lang="en-US" sz="1100" b="1" spc="200" kern="0" dirty="0">
                <a:solidFill>
                  <a:srgbClr val="B98A2E"/>
                </a:solidFill>
              </a:rPr>
              <a:t>THE TEAM</a:t>
            </a:r>
            <a:endParaRPr lang="en-US" sz="1100" dirty="0"/>
          </a:p>
        </p:txBody>
      </p:sp>
      <p:sp>
        <p:nvSpPr>
          <p:cNvPr id="3" name="Text 0"/>
          <p:cNvSpPr/>
          <p:nvPr>
            <p:ph idx="101" type="title" hasCustomPrompt="1"/>
          </p:nvPr>
        </p:nvSpPr>
        <p:spPr>
          <a:xfrm>
            <a:off x="685800" y="658368"/>
            <a:ext cx="10789920" cy="932688"/>
          </a:xfrm>
          <a:prstGeom prst="rect">
            <a:avLst/>
          </a:prstGeom>
          <a:noFill/>
          <a:ln/>
        </p:spPr>
        <p:txBody>
          <a:bodyPr wrap="square" rtlCol="0" anchor="t"/>
          <a:lstStyle/>
          <a:p>
            <a:pPr algn="l" indent="0" marL="0">
              <a:buNone/>
            </a:pPr>
            <a:r>
              <a:rPr lang="en-US" sz="3100" b="1" dirty="0">
                <a:solidFill>
                  <a:srgbClr val="FFFFFF"/>
                </a:solidFill>
              </a:rPr>
              <a:t>Built, tested and adversarially reviewed</a:t>
            </a:r>
            <a:endParaRPr lang="en-US" sz="3100" dirty="0"/>
          </a:p>
        </p:txBody>
      </p:sp>
      <p:sp>
        <p:nvSpPr>
          <p:cNvPr id="4" name="tm-0"/>
          <p:cNvSpPr txBox="1"/>
          <p:nvPr/>
        </p:nvSpPr>
        <p:spPr>
          <a:xfrm>
            <a:off x="685800" y="1965960"/>
            <a:ext cx="5120640" cy="384048"/>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Shorya Ashish Mittal</a:t>
            </a:r>
            <a:endParaRPr lang="en-US" sz="1900" dirty="0"/>
          </a:p>
        </p:txBody>
      </p:sp>
      <p:sp>
        <p:nvSpPr>
          <p:cNvPr id="5" name="tr-0"/>
          <p:cNvSpPr txBox="1"/>
          <p:nvPr/>
        </p:nvSpPr>
        <p:spPr>
          <a:xfrm>
            <a:off x="685800" y="2377440"/>
            <a:ext cx="5120640" cy="274320"/>
          </a:xfrm>
          <a:prstGeom prst="rect">
            <a:avLst/>
          </a:prstGeom>
          <a:noFill/>
          <a:ln/>
        </p:spPr>
        <p:txBody>
          <a:bodyPr wrap="square" lIns="0" tIns="0" rIns="0" bIns="0" rtlCol="0" anchor="ctr"/>
          <a:lstStyle/>
          <a:p>
            <a:pPr indent="0" marL="0">
              <a:buNone/>
            </a:pPr>
            <a:r>
              <a:rPr lang="en-US" sz="1000" b="1" spc="140" kern="0" dirty="0">
                <a:solidFill>
                  <a:srgbClr val="B98A2E"/>
                </a:solidFill>
              </a:rPr>
              <a:t>TEAM LEADER</a:t>
            </a:r>
            <a:endParaRPr lang="en-US" sz="1000" dirty="0"/>
          </a:p>
        </p:txBody>
      </p:sp>
      <p:sp>
        <p:nvSpPr>
          <p:cNvPr id="6" name="td-0"/>
          <p:cNvSpPr txBox="1"/>
          <p:nvPr/>
        </p:nvSpPr>
        <p:spPr>
          <a:xfrm>
            <a:off x="685800" y="2688336"/>
            <a:ext cx="5120640" cy="640080"/>
          </a:xfrm>
          <a:prstGeom prst="rect">
            <a:avLst/>
          </a:prstGeom>
          <a:noFill/>
          <a:ln/>
        </p:spPr>
        <p:txBody>
          <a:bodyPr wrap="square" lIns="0" tIns="0" rIns="0" bIns="0" rtlCol="0" anchor="t"/>
          <a:lstStyle/>
          <a:p>
            <a:pPr indent="0" marL="0">
              <a:buNone/>
            </a:pPr>
            <a:r>
              <a:rPr lang="en-US" sz="1200" dirty="0">
                <a:solidFill>
                  <a:srgbClr val="B7CBD0"/>
                </a:solidFill>
              </a:rPr>
              <a:t>Engine, water accounting and interface</a:t>
            </a:r>
            <a:endParaRPr lang="en-US" sz="1200" dirty="0"/>
          </a:p>
        </p:txBody>
      </p:sp>
      <p:sp>
        <p:nvSpPr>
          <p:cNvPr id="7" name="rule12"/>
          <p:cNvSpPr/>
          <p:nvPr/>
        </p:nvSpPr>
        <p:spPr>
          <a:xfrm>
            <a:off x="685800" y="3438144"/>
            <a:ext cx="10789920" cy="0"/>
          </a:xfrm>
          <a:prstGeom prst="line">
            <a:avLst/>
          </a:prstGeom>
          <a:noFill/>
          <a:ln w="12700">
            <a:solidFill>
              <a:srgbClr val="2A5460"/>
            </a:solidFill>
            <a:prstDash val="solid"/>
          </a:ln>
        </p:spPr>
      </p:sp>
      <p:sp>
        <p:nvSpPr>
          <p:cNvPr id="8" name="built-h"/>
          <p:cNvSpPr txBox="1"/>
          <p:nvPr/>
        </p:nvSpPr>
        <p:spPr>
          <a:xfrm>
            <a:off x="685800" y="3621024"/>
            <a:ext cx="5120640" cy="310896"/>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What exists today</a:t>
            </a:r>
            <a:endParaRPr lang="en-US" sz="1400" dirty="0"/>
          </a:p>
        </p:txBody>
      </p:sp>
      <p:sp>
        <p:nvSpPr>
          <p:cNvPr id="9" name="built-b"/>
          <p:cNvSpPr txBox="1"/>
          <p:nvPr/>
        </p:nvSpPr>
        <p:spPr>
          <a:xfrm>
            <a:off x="685800" y="3968496"/>
            <a:ext cx="5120640" cy="1600200"/>
          </a:xfrm>
          <a:prstGeom prst="rect">
            <a:avLst/>
          </a:prstGeom>
          <a:noFill/>
          <a:ln/>
        </p:spPr>
        <p:txBody>
          <a:bodyPr wrap="square" lIns="0" tIns="0" rIns="0" bIns="0" rtlCol="0" anchor="t"/>
          <a:lstStyle/>
          <a:p>
            <a:pPr indent="0" marL="0">
              <a:buNone/>
            </a:pPr>
            <a:r>
              <a:rPr lang="en-US" sz="1250" dirty="0">
                <a:solidFill>
                  <a:srgbClr val="B7CBD0"/>
                </a:solidFill>
              </a:rPr>
              <a:t>A working engine and interface, dependency-free. </a:t>
            </a:r>
            <a:pPr indent="0" marL="0">
              <a:buNone/>
            </a:pPr>
            <a:r>
              <a:rPr lang="en-US" sz="1250" b="1" dirty="0">
                <a:solidFill>
                  <a:srgbClr val="4ECF9E"/>
                </a:solidFill>
              </a:rPr>
              <a:t>190 automated tests</a:t>
            </a:r>
            <a:pPr indent="0" marL="0">
              <a:buNone/>
            </a:pPr>
            <a:r>
              <a:rPr lang="en-US" sz="1250" dirty="0">
                <a:solidFill>
                  <a:srgbClr val="B7CBD0"/>
                </a:solidFill>
              </a:rPr>
              <a:t> across 7 suites: the engine, cross-validation against published plant data, registry concurrency, safety interlocks over five fault modes, a determinism check, and a tamper test that breaks the ledger chain on purpose to prove it detects it.
</a:t>
            </a:r>
            <a:pPr indent="0" marL="0">
              <a:buNone/>
            </a:pPr>
            <a:r>
              <a:rPr lang="en-US" sz="1250" b="1" dirty="0">
                <a:solidFill>
                  <a:srgbClr val="B7CBD0"/>
                </a:solidFill>
              </a:rPr>
              <a:t>Evidence discipline: </a:t>
            </a:r>
            <a:pPr indent="0" marL="0">
              <a:buNone/>
            </a:pPr>
            <a:r>
              <a:rPr lang="en-US" sz="1250" dirty="0">
                <a:solidFill>
                  <a:srgbClr val="B7CBD0"/>
                </a:solidFill>
              </a:rPr>
              <a:t>17 published, 4 derived, 4 assumed and </a:t>
            </a:r>
            <a:pPr indent="0" marL="0">
              <a:buNone/>
            </a:pPr>
            <a:r>
              <a:rPr lang="en-US" sz="1250" b="1" dirty="0">
                <a:solidFill>
                  <a:srgbClr val="E0B45A"/>
                </a:solidFill>
              </a:rPr>
              <a:t>zero measured</a:t>
            </a:r>
            <a:pPr indent="0" marL="0">
              <a:buNone/>
            </a:pPr>
            <a:r>
              <a:rPr lang="en-US" sz="1250" dirty="0">
                <a:solidFill>
                  <a:srgbClr val="B7CBD0"/>
                </a:solidFill>
              </a:rPr>
              <a:t> coefficients — enforced by a test.</a:t>
            </a:r>
            <a:endParaRPr lang="en-US" sz="1250" dirty="0"/>
          </a:p>
        </p:txBody>
      </p:sp>
      <p:sp>
        <p:nvSpPr>
          <p:cNvPr id="10" name="weak-h"/>
          <p:cNvSpPr txBox="1"/>
          <p:nvPr/>
        </p:nvSpPr>
        <p:spPr>
          <a:xfrm>
            <a:off x="6355080" y="3621024"/>
            <a:ext cx="5120640" cy="310896"/>
          </a:xfrm>
          <a:prstGeom prst="rect">
            <a:avLst/>
          </a:prstGeom>
          <a:noFill/>
          <a:ln/>
        </p:spPr>
        <p:txBody>
          <a:bodyPr wrap="square" lIns="0" tIns="0" rIns="0" bIns="0" rtlCol="0" anchor="ctr"/>
          <a:lstStyle/>
          <a:p>
            <a:pPr indent="0" marL="0">
              <a:buNone/>
            </a:pPr>
            <a:r>
              <a:rPr lang="en-US" sz="1400" b="1" dirty="0">
                <a:solidFill>
                  <a:srgbClr val="E0B45A"/>
                </a:solidFill>
                <a:latin typeface="Cambria" pitchFamily="34" charset="0"/>
                <a:ea typeface="Cambria" pitchFamily="34" charset="-122"/>
                <a:cs typeface="Cambria" pitchFamily="34" charset="-120"/>
              </a:rPr>
              <a:t>Our biggest weakness, stated first</a:t>
            </a:r>
            <a:endParaRPr lang="en-US" sz="1400" dirty="0"/>
          </a:p>
        </p:txBody>
      </p:sp>
      <p:sp>
        <p:nvSpPr>
          <p:cNvPr id="11" name="weak-b"/>
          <p:cNvSpPr txBox="1"/>
          <p:nvPr/>
        </p:nvSpPr>
        <p:spPr>
          <a:xfrm>
            <a:off x="6355080" y="3968496"/>
            <a:ext cx="5120640" cy="1463040"/>
          </a:xfrm>
          <a:prstGeom prst="rect">
            <a:avLst/>
          </a:prstGeom>
          <a:noFill/>
          <a:ln/>
        </p:spPr>
        <p:txBody>
          <a:bodyPr wrap="square" lIns="0" tIns="0" rIns="0" bIns="0" rtlCol="0" anchor="t"/>
          <a:lstStyle/>
          <a:p>
            <a:pPr indent="0" marL="0">
              <a:buNone/>
            </a:pPr>
            <a:r>
              <a:rPr lang="en-US" sz="1250" dirty="0">
                <a:solidFill>
                  <a:srgbClr val="B7CBD0"/>
                </a:solidFill>
              </a:rPr>
              <a:t>We have not yet spoken to a dyehouse. Everything is modelled from public information, the basin weighting is a disclosed placeholder, and the optimiser handles one machine rather than a mill. Phase 1 of the pilot exists to replace our assumptions with their measurements — and some of our conclusions will change when it does.</a:t>
            </a:r>
            <a:endParaRPr lang="en-US" sz="1250" dirty="0"/>
          </a:p>
        </p:txBody>
      </p:sp>
      <p:sp>
        <p:nvSpPr>
          <p:cNvPr id="12" name="ask"/>
          <p:cNvSpPr txBox="1"/>
          <p:nvPr/>
        </p:nvSpPr>
        <p:spPr>
          <a:xfrm>
            <a:off x="685800" y="5559552"/>
            <a:ext cx="10789920" cy="457200"/>
          </a:xfrm>
          <a:prstGeom prst="rect">
            <a:avLst/>
          </a:prstGeom>
          <a:noFill/>
          <a:ln/>
        </p:spPr>
        <p:txBody>
          <a:bodyPr wrap="square" lIns="0" tIns="0" rIns="0" bIns="0" rtlCol="0" anchor="t"/>
          <a:lstStyle/>
          <a:p>
            <a:pPr indent="0" marL="0">
              <a:buNone/>
            </a:pPr>
            <a:r>
              <a:rPr lang="en-US" sz="1200" b="1" dirty="0">
                <a:solidFill>
                  <a:srgbClr val="E0B45A"/>
                </a:solidFill>
              </a:rPr>
              <a:t>What we are asking for:  </a:t>
            </a:r>
            <a:pPr indent="0" marL="0">
              <a:buNone/>
            </a:pPr>
            <a:r>
              <a:rPr lang="en-US" sz="1200" dirty="0">
                <a:solidFill>
                  <a:srgbClr val="B7CBD0"/>
                </a:solidFill>
              </a:rPr>
              <a:t>one Tirupur dyeing unit or CETP willing to share two instrument readings: steam flow to the evaporator, and reject conductivity. Everything else is already sourced from CPCB, the CEA, TNERC and pollution-board data — those two are all that separate a validated model from a measured one.</a:t>
            </a:r>
            <a:endParaRPr lang="en-US" sz="1200" dirty="0"/>
          </a:p>
        </p:txBody>
      </p:sp>
      <p:sp>
        <p:nvSpPr>
          <p:cNvPr id="13" name="hook"/>
          <p:cNvSpPr txBox="1"/>
          <p:nvPr/>
        </p:nvSpPr>
        <p:spPr>
          <a:xfrm>
            <a:off x="685800" y="6053328"/>
            <a:ext cx="10789920" cy="475488"/>
          </a:xfrm>
          <a:prstGeom prst="rect">
            <a:avLst/>
          </a:prstGeom>
          <a:noFill/>
          <a:ln/>
        </p:spPr>
        <p:txBody>
          <a:bodyPr wrap="square" lIns="0" tIns="0" rIns="0" bIns="0" rtlCol="0" anchor="t"/>
          <a:lstStyle/>
          <a:p>
            <a:pPr indent="0" marL="0">
              <a:buNone/>
            </a:pPr>
            <a:r>
              <a:rPr lang="en-US" sz="1500" b="1" i="1" dirty="0">
                <a:solidFill>
                  <a:srgbClr val="FFFFFF"/>
                </a:solidFill>
              </a:rPr>
              <a:t>Zero Liquid Discharge gave India back its water. Nobody costed the fuel it takes to keep it — and that cost is decided by a scheduling choice nobody connects to it.</a:t>
            </a:r>
            <a:endParaRPr lang="en-US" sz="1500" dirty="0"/>
          </a:p>
        </p:txBody>
      </p:sp>
      <p:sp>
        <p:nvSpPr>
          <p:cNvPr id="15" name="Text 0"/>
          <p:cNvSpPr/>
          <p:nvPr>
            <p:ph idx="102" type="body" hasCustomPrompt="1"/>
          </p:nvPr>
        </p:nvSpPr>
        <p:spPr>
          <a:xfrm>
            <a:off x="685800" y="1664208"/>
            <a:ext cx="10332720" cy="548640"/>
          </a:xfrm>
          <a:prstGeom prst="rect">
            <a:avLst/>
          </a:prstGeom>
          <a:noFill/>
          <a:ln/>
        </p:spPr>
        <p:txBody>
          <a:bodyPr wrap="square" rtlCol="0" anchor="t"/>
          <a:lstStyle/>
          <a:p>
            <a:pPr algn="l" indent="0" marL="0">
              <a:buNone/>
            </a:pPr>
            <a:endParaRPr lang="en-US" sz="1450" dirty="0"/>
          </a:p>
        </p:txBody>
      </p:sp>
      <p:sp>
        <p:nvSpPr>
          <p:cNvPr id="25" name="Slide Number Placeholder 0"/>
          <p:cNvSpPr>
            <a:spLocks noGrp="1"/>
          </p:cNvSpPr>
          <p:nvPr>
            <p:ph type="sldNum" sz="quarter" idx="4294967295"/>
          </p:nvPr>
        </p:nvSpPr>
        <p:spPr>
          <a:xfrm>
            <a:off x="114757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E858B"/>
                </a:solidFil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ChangeLoop Water">
  <a:themeElements>
    <a:clrScheme name="ChangeLoop Water">
      <a:dk1>
        <a:srgbClr val="0E2127"/>
      </a:dk1>
      <a:lt1>
        <a:srgbClr val="FFFFFF"/>
      </a:lt1>
      <a:dk2>
        <a:srgbClr val="14525F"/>
      </a:dk2>
      <a:lt2>
        <a:srgbClr val="EDF4F5"/>
      </a:lt2>
      <a:accent1>
        <a:srgbClr val="1A6B7C"/>
      </a:accent1>
      <a:accent2>
        <a:srgbClr val="0D7A57"/>
      </a:accent2>
      <a:accent3>
        <a:srgbClr val="B98A2E"/>
      </a:accent3>
      <a:accent4>
        <a:srgbClr val="C2410C"/>
      </a:accent4>
      <a:accent5>
        <a:srgbClr val="5B5470"/>
      </a:accent5>
      <a:accent6>
        <a:srgbClr val="B23A2B"/>
      </a:accent6>
      <a:hlink>
        <a:srgbClr val="1A6B7C"/>
      </a:hlink>
      <a:folHlink>
        <a:srgbClr val="14525F"/>
      </a:folHlink>
    </a:clrScheme>
    <a:fontScheme name="ChangeLoop Wat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ChangeLoop - Resource Decision Intelligence</dc:title>
  <dc:subject>SANKALP 2026 Students Track</dc:subject>
  <dc:creator>Shorya Ashish Mittal</dc:creator>
  <cp:lastModifiedBy>Shorya Ashish Mittal</cp:lastModifiedBy>
  <cp:revision>1</cp:revision>
  <dcterms:created xsi:type="dcterms:W3CDTF">2026-10-20T09:01:18Z</dcterms:created>
  <dcterms:modified xsi:type="dcterms:W3CDTF">2026-10-20T09:01:18Z</dcterms:modified>
</cp:coreProperties>
</file>